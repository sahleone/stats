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students! Today we cover Section 11.4 — One-Way Analysis of Variance, also called ANOVA. This is a powerful technique used to compare the means of three or more groups at once. Unlike running multiple t-tests (which inflates error), ANOVA uses a single F-test. By the end of class, students should be able to: (1) identify when ANOVA is appropriate, (2) check requirements, (3) state hypotheses, (4) interpret technology output including P-value, and (5) apply the Bonferroni post-hoc test to identify which means differ.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POINTS TO EMPHASIZE:
1. ANOVA = Analysis of Variance — despite the name, we are testing means, not variances. The method works by comparing variance BETWEEN groups to variance WITHIN groups.
2. 'One-Way' means we have exactly ONE factor (independent variable) dividing our groups. Example: blood lead level (Low / Medium / High) is ONE factor.
3. Why not just run three t-tests? If α = 0.05 per test, with 3 tests the actual error rate climbs to ~14%. ANOVA keeps it at 5%.
ASK STUDENTS: Can you think of a research question that has 3 or more groups to compare?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REQUIREMENTS CHECKLIST — always verify these before running ANOVA.
Requirement 1 (Normality): Use normal quantile plots. Moderate deviations are OK with larger samples (Central Limit Theorem helps).
Requirement 2 (Equal Variances): A common rule of thumb — if the largest sample SD is no more than twice the smallest, the assumption is reasonable.
Requirement 3 (Random Samples): Important for generalizing conclusions.
Requirement 4 (Independence): If samples are matched/paired, different tests apply (e.g., repeated-measures ANOVA).
Requirement 5 (One Factor): Two factors would require two-way ANOVA (not covered here).
PRACTICE: In the blood lead level example — n=78 (Low), n=22 (Medium), n=21 (High). SDs: 16.8, 15.5, 11.4. All approximately normal. Requirements met!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HYPOTHESES:
- H₀ states ALL means are equal (null = nothing interesting happening)
- H₁ is always 'at least one mean differs' — we never specify WHICH one differs
- k = number of groups (populations)
IMPORTANT CAUTION: If we reject H₀, we CAN conclude at least one mean differs, but we CANNOT identify WHICH specific mean is different from just the ANOVA result. That requires post-hoc tests (covered later — Bonferroni).
TECHNOLOGY NOTE: ANOVA calculations by hand are extremely complex. We use technology and focus on interpreting output. Students should be able to use Excel (Data Analysis ToolPak), StatCrunch, or similar.
Ask: What does it mean to 'fail to reject' H₀? Does it prove all means are equal?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EXAMPLE:
Step 1 — Requirements: Normal distributions ✓, SDs similar (16.8, 15.5, 11.4) ✓, random samples ✓, independent ✓, one factor (lead level) ✓
Step 2 — Hypotheses: H₀: μ_Low = μ_Medium = μ_High ; H₁: at least one mean differs
Step 3 — Technology: Enter all data into Excel/StatCrunch → One-Way ANOVA
Step 4 — Read the output: P-value = 0.020
Step 5 — Decision: P-value 0.020 &lt; α 0.05 → REJECT H₀
Conclusion: There is sufficient evidence that the three groups have different mean IQ scores. Notice: Low lead group has x̄ = 102.7, while Medium and High both around 94 — this pattern suggests higher lead → lower IQ, but we cannot formally conclude that from ANOVA alone.
IMPORTANT: We cannot say WHICH specific group(s) differ — that requires post-hoc tests!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 STATISTIC INTUITION:
Think of F as a signal-to-noise ratio:
- Numerator (Between) = SIGNAL: How different are the group means from each other?
- Denominator (Within) = NOISE: How much natural variability exists within each group?
If F is LARGE → the differences between groups are large relative to within-group variability → strong evidence that at least one group mean differs → small P-value → reject H₀.
If F is SMALL (close to 1) → group means are similar to each other relative to within-group variability → no evidence of differences → large P-value → fail to reject H₀.
EXAMPLE CALCULATION CHECK:
- MS(Between) = SS(Between)/df(Between) = 2022.73/2 = 1011.36
- MS(Within) = SS(Within)/df(Within) = 29314.05/118 = 248.42
- F = 1011.36/248.42 = 4.071
- P-value = 0.020
ANOVA is ALWAYS right-tailed (F cannot be negative, and we reject only when F is large).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BONFERRONI TEST DETAILS:
Purpose: After ANOVA tells us 'at least one mean differs,' Bonferroni identifies WHICH specific pairs differ.
The adjustment: We multiply P-values by the number of pairings because we're running multiple tests and need to control the family-wise error rate.
With k groups, number of pairs = k(k-1)/2:
• k=3: 3(2)/2 = 3 pairs
• k=4: 4(3)/2 = 6 pairs
• k=5: 5(4)/2 = 10 pairs
Alternatively: Divide α by number of pairs to get adjusted critical α.
EXAMPLE RESULT (Blood Lead/IQ):
Pairs tested: (Low vs Medium), (Low vs High), (Medium vs High)
- Low vs Medium: t=2.252, unadjusted P=0.026, adjusted P=0.026×3=0.079 &gt; 0.05 → NOT significant
- Low vs High: adjusted P≈0.090 &gt; 0.05 → NOT significant  
- Medium vs High: adjusted P≈1.000 → NOT significant
Conclusion: Even though ANOVA rejected H₀, the Bonferroni test cannot pinpoint WHICH specific pair(s) differ at α=0.05. This can happen — ANOVA is more sensitive than individual pairwise comparisons.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WRAP-UP SUMMARY:
Key points to reinforce at the end of class:
1. ANOVA is appropriate when comparing 3+ group means with one categorical factor
2. Always verify requirements before running the test
3. The F-statistic compares between-group variance to within-group variance
4. A small P-value (≤ α) leads to rejecting H₀ — but only tells us 'at least one mean differs'
5. For post-hoc identification of which pairs differ, use Bonferroni (or other multiple comparison tests)
6. ANOVA is always right-tailed
PREVIEW: Next class we may explore two-way ANOVA (two factors) or other post-hoc tests (Tukey, Scheffé).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PRACTICE QUESTION ANSWERS:
1. One-Way ANOVA — because there are 3 groups (diets) and we are comparing means of a quantitative variable (cholesterol). Using multiple t-tests would inflate error rate.
2. H₀: μ₁ = μ₂ = μ₃ = μ₄ (all four teaching method means are equal)
   H₁: At least one teaching method produces a different mean exam score.
3. df(Between) = k − 1 = 4 − 1 = 3
   df(Within) = N − k = 60 − 4 = 56
4. Since P = 0.003 &lt; α = 0.05, we reject H₀. Conclusion: There is sufficient evidence that at least one teaching method produces a different mean score. HOWEVER — we cannot conclude WHICH groups differ from the ANOVA result alone; a post-hoc test (e.g., Bonferroni) is needed.
5. With 3 groups and α = 0.05 per test, the probability of at least one false rejection = 1 − (0.95)³ ≈ 0.143 (14.3% instead of 5%). ANOVA maintains the overall α at 5%.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answer key slide — display after students have had time to attempt the practice questions. Walk through each answer emphasizing the reasoning behind each step, not just the final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2A3A8C">
              <a:alpha val="70000"/>
            </a:srgbClr>
          </a:solidFill>
          <a:ln w="12700">
            <a:solidFill>
              <a:srgbClr val="2A3A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11 | Section 11.4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6858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One-Way Analysis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Variance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(ANOVA)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41148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equality of three or more population means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137160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ANOVA?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82880" y="32918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Analysis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Variance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108960" y="457200"/>
            <a:ext cx="576072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108960" y="457200"/>
            <a:ext cx="5760720" cy="365760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46120" y="8686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method of testing whether three or more population means are ALL equal by analyzing sample variances.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108960" y="2011680"/>
            <a:ext cx="64008" cy="6858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2011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Factor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91840" y="22860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categorized using ONE characteristic (treatment) that distinguishes populations.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08960" y="2926080"/>
            <a:ext cx="64008" cy="6858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2926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Three+ Groups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32004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when comparing 3 or more groups (use t-tests for exactly 2).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108960" y="3840480"/>
            <a:ext cx="64008" cy="6858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3840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Multiple t-Tests?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91840" y="41148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t-tests inflate the Type I error rate. ANOVA keeps α controlled.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Requirements for One-Way ANOVA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15568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207008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20700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50976" y="1207008"/>
            <a:ext cx="3419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Approximately Normal Distributions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1554480"/>
            <a:ext cx="39867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population should be approximately normally distributed. Check with normal quantile plots or histograms.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115568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64608" y="1207008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20700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31536" y="1207008"/>
            <a:ext cx="3419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Variances (Homogeneity)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64608" y="1554480"/>
            <a:ext cx="39867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populations share the same variance σ². Check if sample standard deviations are not dramatically different from each other.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414016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4048" y="2505456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5054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50976" y="2505456"/>
            <a:ext cx="3419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Random Samples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4048" y="2852928"/>
            <a:ext cx="39867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sample must be a simple random sample of quantitative data.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414016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64608" y="2505456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25054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31536" y="2505456"/>
            <a:ext cx="3419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Samples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64608" y="2852928"/>
            <a:ext cx="39867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must be independent of one another — not matched or paired.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14400" y="3712464"/>
            <a:ext cx="73152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24128" y="3803904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4128" y="380390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591056" y="3803904"/>
            <a:ext cx="6528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Factor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24128" y="4151376"/>
            <a:ext cx="70957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different samples come from populations categorized in ONLY one way (one factor/treatment).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Hypotheses &amp; Testing Procedure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1828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972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Hypotheses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μ₁ = μ₂ = μ₃ = … = μₖ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(All population means are equal)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H₁: At least one mean is different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3017520"/>
            <a:ext cx="402336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3017520"/>
            <a:ext cx="4023360" cy="365760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Rule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429000"/>
            <a:ext cx="3657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≤ α  →  </a:t>
            </a:r>
            <a:pPr indent="0" marL="0">
              <a:buNone/>
            </a:pPr>
            <a:r>
              <a:rPr lang="en-US" sz="14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H₀
</a:t>
            </a:r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mean is different
</a:t>
            </a:r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&gt; α  →  </a:t>
            </a:r>
            <a:pPr indent="0" marL="0">
              <a:buNone/>
            </a:pPr>
            <a:r>
              <a:rPr lang="en-US" sz="1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to Reject H₀
</a:t>
            </a:r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evidence means differ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42062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097280"/>
            <a:ext cx="4206240" cy="41148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Procedure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0" y="1645920"/>
            <a:ext cx="347472" cy="34747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6459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66360" y="1600200"/>
            <a:ext cx="3520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H₀ and H₁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2304288"/>
            <a:ext cx="347472" cy="34747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3042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66360" y="2258568"/>
            <a:ext cx="3520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all 5 requirements are met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2962656"/>
            <a:ext cx="347472" cy="34747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9626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66360" y="2916936"/>
            <a:ext cx="3520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technology (Excel, StatCrunch, SPSS, etc.) to run One-Way ANOVA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3621024"/>
            <a:ext cx="347472" cy="34747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36210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166360" y="3575304"/>
            <a:ext cx="3520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P-value from the output table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4279392"/>
            <a:ext cx="347472" cy="34747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42793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66360" y="4233672"/>
            <a:ext cx="3520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P-value to α and state conclusion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Worked Example: Blood Lead &amp; IQ Scores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8595360" cy="640080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Question: Do children with different blood lead levels (Low, Medium, High) have different performance IQ scores?  |  α = 0.05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74320" y="18745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Statistics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194560"/>
          <a:ext cx="54864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3716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Low Lead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Medium Lead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High Lead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78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21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x̄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102.7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94.1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94.2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16.8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15.5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11.4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Distribution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Approx. Normal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Approx. Normal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Approx. Normal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943600" y="1737360"/>
            <a:ext cx="292608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943600" y="1737360"/>
            <a:ext cx="2926080" cy="320040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035040" y="210312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μ₁ = μ₂ = μ₃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(All IQ means equal)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H₁: At least one mean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different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74320" y="3657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Output (Excel/Technology)</a:t>
            </a:r>
            <a:endParaRPr lang="en-US" sz="13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977640"/>
          <a:ext cx="8595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371600"/>
                <a:gridCol w="731520"/>
                <a:gridCol w="1371600"/>
                <a:gridCol w="1371600"/>
                <a:gridCol w="1737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Source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df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P-value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Between Groups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2022.73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1011.36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4.071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63946"/>
                          </a:solidFill>
                        </a:rPr>
                        <a:t>0.020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Within Groups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29314.05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118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248.42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Total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31336.78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120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 Test Statistic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0" y="1188720"/>
            <a:ext cx="4572000" cy="1463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0" y="13258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 =  Variance Between Samples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468880" y="1828800"/>
            <a:ext cx="420624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0" y="1883664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Within Samples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74320" y="283464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834640"/>
            <a:ext cx="4206240" cy="320040"/>
          </a:xfrm>
          <a:prstGeom prst="rect">
            <a:avLst/>
          </a:prstGeom>
          <a:solidFill>
            <a:srgbClr val="1E2761">
              <a:alpha val="15000"/>
            </a:srgbClr>
          </a:solidFill>
          <a:ln w="12700">
            <a:solidFill>
              <a:srgbClr val="1E2761">
                <a:alpha val="1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8346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BETWEEN Groups (MS Treatment)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65760" y="3172968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how much the group means vary from the overall mean. Also called MS(Factor). Large when groups differ.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88620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886200"/>
            <a:ext cx="4206240" cy="320040"/>
          </a:xfrm>
          <a:prstGeom prst="rect">
            <a:avLst/>
          </a:prstGeom>
          <a:solidFill>
            <a:srgbClr val="1E2761">
              <a:alpha val="15000"/>
            </a:srgbClr>
          </a:solidFill>
          <a:ln w="12700">
            <a:solidFill>
              <a:srgbClr val="1E2761">
                <a:alpha val="1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8862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Degrees of Freedom (Between)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65760" y="4224528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 = k − 1, where k = number of groups. In our example: df = 3 − 1 = 2.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83464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834640"/>
            <a:ext cx="4206240" cy="320040"/>
          </a:xfrm>
          <a:prstGeom prst="rect">
            <a:avLst/>
          </a:prstGeom>
          <a:solidFill>
            <a:srgbClr val="1E2761">
              <a:alpha val="15000"/>
            </a:srgbClr>
          </a:solidFill>
          <a:ln w="12700">
            <a:solidFill>
              <a:srgbClr val="1E2761">
                <a:alpha val="1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8346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WITHIN Groups (MS Error)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46320" y="3172968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variability inside each group. Also called MS(Error) or MS(Within). Based on the sample variances.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388620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3886200"/>
            <a:ext cx="4206240" cy="320040"/>
          </a:xfrm>
          <a:prstGeom prst="rect">
            <a:avLst/>
          </a:prstGeom>
          <a:solidFill>
            <a:srgbClr val="1E2761">
              <a:alpha val="15000"/>
            </a:srgbClr>
          </a:solidFill>
          <a:ln w="12700">
            <a:solidFill>
              <a:srgbClr val="1E2761">
                <a:alpha val="1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38862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Degrees of Freedom (Within)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46320" y="4224528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 = N − k, where N = total sample size. In our example: df = 121 − 3 = 118.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4663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Large F → Small P-value → Reject H₀ (ANOVA is right-tailed)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Bonferroni Multiple Comparison Test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8595360" cy="548640"/>
          </a:xfrm>
          <a:prstGeom prst="rect">
            <a:avLst/>
          </a:prstGeom>
          <a:solidFill>
            <a:srgbClr val="F4A261">
              <a:alpha val="40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AFTER ANOVA rejects H₀ to identify WHICH pairs of means are significantly different.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783080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783080"/>
            <a:ext cx="1280160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783080"/>
            <a:ext cx="1280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645920" y="1828800"/>
            <a:ext cx="7040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separate t-test for each pair of group means.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2587752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587752"/>
            <a:ext cx="1280160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587752"/>
            <a:ext cx="1280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45920" y="2633472"/>
            <a:ext cx="7040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MS(error) from the ANOVA table as the pooled variance estimate in each t-test: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t = (x̄₁ − x̄₂) / √[ MS(error) × (1/n₁ + 1/n₂) ]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3392424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392424"/>
            <a:ext cx="1280160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392424"/>
            <a:ext cx="1280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Adjust P-value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45920" y="3438144"/>
            <a:ext cx="7040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two-tailed P-value with df = N − k.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MULTIPLY by the number of pairs: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 groups → 3 pairs → multiply by 3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 groups → 6 pairs → multiply by 6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74320" y="4197096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4197096"/>
            <a:ext cx="1280160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197096"/>
            <a:ext cx="1280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Decision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45920" y="4242816"/>
            <a:ext cx="7040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adjusted P-value ≤ α → that pair of means is significantly different.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adjusted P-value &gt; α → fail to reject; those means are not significantly different.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685800"/>
          </a:xfrm>
          <a:prstGeom prst="rect">
            <a:avLst/>
          </a:prstGeom>
          <a:solidFill>
            <a:srgbClr val="2A3A8C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43000"/>
            <a:ext cx="27432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tests means, not variances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49047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its name, ANOVA compares group means using variance ratios.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8229600" cy="685800"/>
          </a:xfrm>
          <a:prstGeom prst="rect">
            <a:avLst/>
          </a:prstGeom>
          <a:solidFill>
            <a:srgbClr val="2A3A8C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20240"/>
            <a:ext cx="27432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965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Requirements must be met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226771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distributions, equal variances, random/independent samples, one factor.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8229600" cy="685800"/>
          </a:xfrm>
          <a:prstGeom prst="rect">
            <a:avLst/>
          </a:prstGeom>
          <a:solidFill>
            <a:srgbClr val="2A3A8C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697480"/>
            <a:ext cx="27432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743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F-statistic = Between ÷ Within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304495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F → small P-value → evidence of different means.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8229600" cy="685800"/>
          </a:xfrm>
          <a:prstGeom prst="rect">
            <a:avLst/>
          </a:prstGeom>
          <a:solidFill>
            <a:srgbClr val="2A3A8C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474720"/>
            <a:ext cx="27432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520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Rejecting H₀ ≠ knowing WHICH mean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382219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only says 'at least one differs.' Use Bonferroni for pairs.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4251960"/>
            <a:ext cx="8229600" cy="685800"/>
          </a:xfrm>
          <a:prstGeom prst="rect">
            <a:avLst/>
          </a:prstGeom>
          <a:solidFill>
            <a:srgbClr val="2A3A8C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251960"/>
            <a:ext cx="27432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297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run multiple t-tests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8680" y="45994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inflates Type I error. ANOVA keeps α controlled.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Practice Questions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85953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123444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1170432"/>
            <a:ext cx="7818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researcher measures cholesterol levels in patients following three different diets (low-fat, Mediterranean, ketogenic). Which statistical test should be used to determine if mean cholesterol differs across diets? Why?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892808"/>
            <a:ext cx="85953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" y="2029968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2029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96112" y="1965960"/>
            <a:ext cx="7818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null and alternative hypotheses for an ANOVA comparing exam scores across four teaching methods.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688336"/>
            <a:ext cx="85953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" y="2825496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8254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96112" y="2761488"/>
            <a:ext cx="7818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 ANOVA with k = 4 groups and N = 60 total observations, what are the degrees of freedom for (a) between groups and (b) within groups?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483864"/>
            <a:ext cx="85953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7472" y="3621024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3621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96112" y="3557016"/>
            <a:ext cx="7818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one-way ANOVA yields F = 5.82 and P = 0.003 at α = 0.05. What is your conclusion? Can you state which groups differ?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4279392"/>
            <a:ext cx="85953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7472" y="4416552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4416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96112" y="4352544"/>
            <a:ext cx="7818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it inappropriate to run three separate t-tests instead of one ANOVA when comparing three group means?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 Key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731520"/>
          </a:xfrm>
          <a:prstGeom prst="rect">
            <a:avLst/>
          </a:prstGeom>
          <a:solidFill>
            <a:srgbClr val="2A3A8C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777240" cy="7315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777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14300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One-Way ANOVA. Three groups (diets) with one quantitative outcome; ANOVA controls Type I error better than multiple t-tests.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47088"/>
            <a:ext cx="8229600" cy="731520"/>
          </a:xfrm>
          <a:prstGeom prst="rect">
            <a:avLst/>
          </a:prstGeom>
          <a:solidFill>
            <a:srgbClr val="2A3A8C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47088"/>
            <a:ext cx="777240" cy="7315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47088"/>
            <a:ext cx="777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1938528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μ₁ = μ₂ = μ₃ = μ₄   H₁: At least one mean is different from the others.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642616"/>
            <a:ext cx="8229600" cy="731520"/>
          </a:xfrm>
          <a:prstGeom prst="rect">
            <a:avLst/>
          </a:prstGeom>
          <a:solidFill>
            <a:srgbClr val="2A3A8C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642616"/>
            <a:ext cx="777240" cy="7315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642616"/>
            <a:ext cx="777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2734056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df(Between) = k − 1 = 3;   df(Within) = N − k = 56;   df(Total) = 59.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438144"/>
            <a:ext cx="8229600" cy="731520"/>
          </a:xfrm>
          <a:prstGeom prst="rect">
            <a:avLst/>
          </a:prstGeom>
          <a:solidFill>
            <a:srgbClr val="2A3A8C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438144"/>
            <a:ext cx="777240" cy="7315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438144"/>
            <a:ext cx="777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3529584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0.003 &lt; 0.05 → Reject H₀. At least one group mean differs. Cannot identify WHICH group — need post-hoc test.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233672"/>
            <a:ext cx="8229600" cy="731520"/>
          </a:xfrm>
          <a:prstGeom prst="rect">
            <a:avLst/>
          </a:prstGeom>
          <a:solidFill>
            <a:srgbClr val="2A3A8C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233672"/>
            <a:ext cx="777240" cy="7315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233672"/>
            <a:ext cx="777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25880" y="4325112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separate t-tests would inflate Type I error from 5% to ~14.3%. ANOVA keeps the overall α at 0.05.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One-Way Analysis of Variance (ANOVA)</dc:title>
  <dc:subject>PptxGenJS Presentation</dc:subject>
  <dc:creator>PptxGenJS</dc:creator>
  <cp:lastModifiedBy>PptxGenJS</cp:lastModifiedBy>
  <cp:revision>1</cp:revision>
  <dcterms:created xsi:type="dcterms:W3CDTF">2026-03-01T18:39:37Z</dcterms:created>
  <dcterms:modified xsi:type="dcterms:W3CDTF">2026-03-01T18:39:37Z</dcterms:modified>
</cp:coreProperties>
</file>