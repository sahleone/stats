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A"/>
        </a:solidFill>
      </p:bgPr>
    </p:bg>
    <p:spTree>
      <p:nvGrpSpPr>
        <p:cNvPr id="1" name=""/>
        <p:cNvGrpSpPr/>
        <p:nvPr/>
      </p:nvGrpSpPr>
      <p:grpSpPr>
        <a:xfrm>
          <a:off x="0" y="0"/>
          <a:ext cx="0" cy="0"/>
          <a:chOff x="0" y="0"/>
          <a:chExt cx="0" cy="0"/>
        </a:xfrm>
      </p:grpSpPr>
      <p:sp>
        <p:nvSpPr>
          <p:cNvPr id="2" name="Shape 0"/>
          <p:cNvSpPr/>
          <p:nvPr/>
        </p:nvSpPr>
        <p:spPr>
          <a:xfrm>
            <a:off x="5943600" y="-1371600"/>
            <a:ext cx="5029200" cy="5029200"/>
          </a:xfrm>
          <a:prstGeom prst="ellipse">
            <a:avLst/>
          </a:prstGeom>
          <a:solidFill>
            <a:srgbClr val="065A82">
              <a:alpha val="60000"/>
            </a:srgbClr>
          </a:solidFill>
          <a:ln/>
        </p:spPr>
      </p:sp>
      <p:sp>
        <p:nvSpPr>
          <p:cNvPr id="3" name="Shape 1"/>
          <p:cNvSpPr/>
          <p:nvPr/>
        </p:nvSpPr>
        <p:spPr>
          <a:xfrm>
            <a:off x="6858000" y="1828800"/>
            <a:ext cx="3657600" cy="3657600"/>
          </a:xfrm>
          <a:prstGeom prst="ellipse">
            <a:avLst/>
          </a:prstGeom>
          <a:solidFill>
            <a:srgbClr val="1C7293">
              <a:alpha val="50000"/>
            </a:srgbClr>
          </a:solidFill>
          <a:ln/>
        </p:spPr>
      </p:sp>
      <p:sp>
        <p:nvSpPr>
          <p:cNvPr id="4" name="Shape 2"/>
          <p:cNvSpPr/>
          <p:nvPr/>
        </p:nvSpPr>
        <p:spPr>
          <a:xfrm>
            <a:off x="731520" y="1645920"/>
            <a:ext cx="73152" cy="1463040"/>
          </a:xfrm>
          <a:prstGeom prst="rect">
            <a:avLst/>
          </a:prstGeom>
          <a:solidFill>
            <a:srgbClr val="14B8A6"/>
          </a:solidFill>
          <a:ln/>
        </p:spPr>
      </p:sp>
      <p:sp>
        <p:nvSpPr>
          <p:cNvPr id="5" name="Text 3"/>
          <p:cNvSpPr/>
          <p:nvPr/>
        </p:nvSpPr>
        <p:spPr>
          <a:xfrm>
            <a:off x="1005840" y="1371600"/>
            <a:ext cx="5029200" cy="2011680"/>
          </a:xfrm>
          <a:prstGeom prst="rect">
            <a:avLst/>
          </a:prstGeom>
          <a:noFill/>
          <a:ln/>
        </p:spPr>
        <p:txBody>
          <a:bodyPr wrap="square" lIns="0" tIns="0" rIns="0" bIns="0" rtlCol="0" anchor="ctr"/>
          <a:lstStyle/>
          <a:p>
            <a:pPr indent="0" marL="0">
              <a:lnSpc>
                <a:spcPct val="110000"/>
              </a:lnSpc>
              <a:buNone/>
            </a:pPr>
            <a:r>
              <a:rPr lang="en-US" sz="4200" b="1" dirty="0">
                <a:solidFill>
                  <a:srgbClr val="FFFFFF"/>
                </a:solidFill>
                <a:latin typeface="Georgia" pitchFamily="34" charset="0"/>
                <a:ea typeface="Georgia" pitchFamily="34" charset="-122"/>
                <a:cs typeface="Georgia" pitchFamily="34" charset="-120"/>
              </a:rPr>
              <a:t>Hypothesis Testing</a:t>
            </a:r>
            <a:endParaRPr lang="en-US" sz="4200" dirty="0"/>
          </a:p>
          <a:p>
            <a:pPr indent="0" marL="0">
              <a:lnSpc>
                <a:spcPct val="110000"/>
              </a:lnSpc>
              <a:buNone/>
            </a:pPr>
            <a:r>
              <a:rPr lang="en-US" sz="4200" b="1" dirty="0">
                <a:solidFill>
                  <a:srgbClr val="FFFFFF"/>
                </a:solidFill>
                <a:latin typeface="Georgia" pitchFamily="34" charset="0"/>
                <a:ea typeface="Georgia" pitchFamily="34" charset="-122"/>
                <a:cs typeface="Georgia" pitchFamily="34" charset="-120"/>
              </a:rPr>
              <a:t>Q &amp; A</a:t>
            </a:r>
            <a:endParaRPr lang="en-US" sz="4200" dirty="0"/>
          </a:p>
        </p:txBody>
      </p:sp>
      <p:sp>
        <p:nvSpPr>
          <p:cNvPr id="6" name="Text 4"/>
          <p:cNvSpPr/>
          <p:nvPr/>
        </p:nvSpPr>
        <p:spPr>
          <a:xfrm>
            <a:off x="1005840" y="3383280"/>
            <a:ext cx="4572000" cy="457200"/>
          </a:xfrm>
          <a:prstGeom prst="rect">
            <a:avLst/>
          </a:prstGeom>
          <a:noFill/>
          <a:ln/>
        </p:spPr>
        <p:txBody>
          <a:bodyPr wrap="square" lIns="0" tIns="0" rIns="0" bIns="0" rtlCol="0" anchor="ctr"/>
          <a:lstStyle/>
          <a:p>
            <a:pPr indent="0" marL="0">
              <a:buNone/>
            </a:pPr>
            <a:r>
              <a:rPr lang="en-US" sz="1800" dirty="0">
                <a:solidFill>
                  <a:srgbClr val="14B8A6"/>
                </a:solidFill>
                <a:latin typeface="Calibri" pitchFamily="34" charset="0"/>
                <a:ea typeface="Calibri" pitchFamily="34" charset="-122"/>
                <a:cs typeface="Calibri" pitchFamily="34" charset="-120"/>
              </a:rPr>
              <a:t>Class Review  •  MA235</a:t>
            </a:r>
            <a:endParaRPr lang="en-US" sz="1800" dirty="0"/>
          </a:p>
        </p:txBody>
      </p:sp>
      <p:sp>
        <p:nvSpPr>
          <p:cNvPr id="7" name="Text 5"/>
          <p:cNvSpPr/>
          <p:nvPr/>
        </p:nvSpPr>
        <p:spPr>
          <a:xfrm>
            <a:off x="1005840" y="3931920"/>
            <a:ext cx="457200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Each question is followed by the answer — no peeking!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FF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B8A6"/>
          </a:solidFill>
          <a:ln/>
        </p:spPr>
      </p:sp>
      <p:sp>
        <p:nvSpPr>
          <p:cNvPr id="3" name="Shape 1"/>
          <p:cNvSpPr/>
          <p:nvPr/>
        </p:nvSpPr>
        <p:spPr>
          <a:xfrm>
            <a:off x="548640" y="320040"/>
            <a:ext cx="640080" cy="64008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667512" y="429768"/>
            <a:ext cx="402336" cy="402336"/>
          </a:xfrm>
          <a:prstGeom prst="rect">
            <a:avLst/>
          </a:prstGeom>
        </p:spPr>
      </p:pic>
      <p:sp>
        <p:nvSpPr>
          <p:cNvPr id="5" name="Text 2"/>
          <p:cNvSpPr/>
          <p:nvPr/>
        </p:nvSpPr>
        <p:spPr>
          <a:xfrm>
            <a:off x="1371600" y="320040"/>
            <a:ext cx="2743200" cy="64008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Question 1</a:t>
            </a:r>
            <a:endParaRPr lang="en-US" sz="1400" dirty="0"/>
          </a:p>
        </p:txBody>
      </p:sp>
      <p:sp>
        <p:nvSpPr>
          <p:cNvPr id="6" name="Shape 3"/>
          <p:cNvSpPr/>
          <p:nvPr/>
        </p:nvSpPr>
        <p:spPr>
          <a:xfrm>
            <a:off x="548640" y="1188720"/>
            <a:ext cx="8046720" cy="1097280"/>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7" name="Shape 4"/>
          <p:cNvSpPr/>
          <p:nvPr/>
        </p:nvSpPr>
        <p:spPr>
          <a:xfrm>
            <a:off x="548640" y="1188720"/>
            <a:ext cx="64008" cy="1097280"/>
          </a:xfrm>
          <a:prstGeom prst="rect">
            <a:avLst/>
          </a:prstGeom>
          <a:solidFill>
            <a:srgbClr val="D97706"/>
          </a:solidFill>
          <a:ln/>
        </p:spPr>
      </p:sp>
      <p:sp>
        <p:nvSpPr>
          <p:cNvPr id="8" name="Text 5"/>
          <p:cNvSpPr/>
          <p:nvPr/>
        </p:nvSpPr>
        <p:spPr>
          <a:xfrm>
            <a:off x="868680" y="1188720"/>
            <a:ext cx="7498080" cy="1097280"/>
          </a:xfrm>
          <a:prstGeom prst="rect">
            <a:avLst/>
          </a:prstGeom>
          <a:noFill/>
          <a:ln/>
        </p:spPr>
        <p:txBody>
          <a:bodyPr wrap="square" lIns="0" tIns="0" rIns="0" bIns="0" rtlCol="0" anchor="ctr"/>
          <a:lstStyle/>
          <a:p>
            <a:pPr indent="0" marL="0">
              <a:buNone/>
            </a:pPr>
            <a:r>
              <a:rPr lang="en-US" sz="2000" b="1" dirty="0">
                <a:solidFill>
                  <a:srgbClr val="0F172A"/>
                </a:solidFill>
                <a:latin typeface="Georgia" pitchFamily="34" charset="0"/>
                <a:ea typeface="Georgia" pitchFamily="34" charset="-122"/>
                <a:cs typeface="Georgia" pitchFamily="34" charset="-120"/>
              </a:rPr>
              <a:t>What does the null hypothesis (H₀) typically state?</a:t>
            </a:r>
            <a:endParaRPr lang="en-US" sz="2000" dirty="0"/>
          </a:p>
        </p:txBody>
      </p:sp>
      <p:sp>
        <p:nvSpPr>
          <p:cNvPr id="9" name="Shape 6"/>
          <p:cNvSpPr/>
          <p:nvPr/>
        </p:nvSpPr>
        <p:spPr>
          <a:xfrm>
            <a:off x="548640" y="260604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731520" y="2670048"/>
            <a:ext cx="365760" cy="365760"/>
          </a:xfrm>
          <a:prstGeom prst="ellipse">
            <a:avLst/>
          </a:prstGeom>
          <a:solidFill>
            <a:srgbClr val="065A82"/>
          </a:solidFill>
          <a:ln/>
        </p:spPr>
      </p:sp>
      <p:sp>
        <p:nvSpPr>
          <p:cNvPr id="11" name="Text 8"/>
          <p:cNvSpPr/>
          <p:nvPr/>
        </p:nvSpPr>
        <p:spPr>
          <a:xfrm>
            <a:off x="731520" y="26700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2" name="Text 9"/>
          <p:cNvSpPr/>
          <p:nvPr/>
        </p:nvSpPr>
        <p:spPr>
          <a:xfrm>
            <a:off x="1280160" y="260604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There is a significant difference between the groups</a:t>
            </a:r>
            <a:endParaRPr lang="en-US" sz="1500" dirty="0"/>
          </a:p>
        </p:txBody>
      </p:sp>
      <p:sp>
        <p:nvSpPr>
          <p:cNvPr id="13" name="Shape 10"/>
          <p:cNvSpPr/>
          <p:nvPr/>
        </p:nvSpPr>
        <p:spPr>
          <a:xfrm>
            <a:off x="548640" y="320040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1"/>
          <p:cNvSpPr/>
          <p:nvPr/>
        </p:nvSpPr>
        <p:spPr>
          <a:xfrm>
            <a:off x="731520" y="3264408"/>
            <a:ext cx="365760" cy="365760"/>
          </a:xfrm>
          <a:prstGeom prst="ellipse">
            <a:avLst/>
          </a:prstGeom>
          <a:solidFill>
            <a:srgbClr val="1C7293"/>
          </a:solidFill>
          <a:ln/>
        </p:spPr>
      </p:sp>
      <p:sp>
        <p:nvSpPr>
          <p:cNvPr id="15" name="Text 12"/>
          <p:cNvSpPr/>
          <p:nvPr/>
        </p:nvSpPr>
        <p:spPr>
          <a:xfrm>
            <a:off x="731520" y="32644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6" name="Text 13"/>
          <p:cNvSpPr/>
          <p:nvPr/>
        </p:nvSpPr>
        <p:spPr>
          <a:xfrm>
            <a:off x="1280160" y="320040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There is no significant difference between the groups</a:t>
            </a:r>
            <a:endParaRPr lang="en-US" sz="1500" dirty="0"/>
          </a:p>
        </p:txBody>
      </p:sp>
      <p:sp>
        <p:nvSpPr>
          <p:cNvPr id="17" name="Shape 14"/>
          <p:cNvSpPr/>
          <p:nvPr/>
        </p:nvSpPr>
        <p:spPr>
          <a:xfrm>
            <a:off x="548640" y="379476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5"/>
          <p:cNvSpPr/>
          <p:nvPr/>
        </p:nvSpPr>
        <p:spPr>
          <a:xfrm>
            <a:off x="731520" y="3858768"/>
            <a:ext cx="365760" cy="365760"/>
          </a:xfrm>
          <a:prstGeom prst="ellipse">
            <a:avLst/>
          </a:prstGeom>
          <a:solidFill>
            <a:srgbClr val="14B8A6"/>
          </a:solidFill>
          <a:ln/>
        </p:spPr>
      </p:sp>
      <p:sp>
        <p:nvSpPr>
          <p:cNvPr id="19" name="Text 16"/>
          <p:cNvSpPr/>
          <p:nvPr/>
        </p:nvSpPr>
        <p:spPr>
          <a:xfrm>
            <a:off x="731520" y="38587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0" name="Text 17"/>
          <p:cNvSpPr/>
          <p:nvPr/>
        </p:nvSpPr>
        <p:spPr>
          <a:xfrm>
            <a:off x="1280160" y="379476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The sample mean equals zero</a:t>
            </a:r>
            <a:endParaRPr lang="en-US" sz="1500" dirty="0"/>
          </a:p>
        </p:txBody>
      </p:sp>
      <p:sp>
        <p:nvSpPr>
          <p:cNvPr id="21" name="Shape 18"/>
          <p:cNvSpPr/>
          <p:nvPr/>
        </p:nvSpPr>
        <p:spPr>
          <a:xfrm>
            <a:off x="548640" y="438912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2" name="Shape 19"/>
          <p:cNvSpPr/>
          <p:nvPr/>
        </p:nvSpPr>
        <p:spPr>
          <a:xfrm>
            <a:off x="731520" y="4453128"/>
            <a:ext cx="365760" cy="365760"/>
          </a:xfrm>
          <a:prstGeom prst="ellipse">
            <a:avLst/>
          </a:prstGeom>
          <a:solidFill>
            <a:srgbClr val="D97706"/>
          </a:solidFill>
          <a:ln/>
        </p:spPr>
      </p:sp>
      <p:sp>
        <p:nvSpPr>
          <p:cNvPr id="23" name="Text 20"/>
          <p:cNvSpPr/>
          <p:nvPr/>
        </p:nvSpPr>
        <p:spPr>
          <a:xfrm>
            <a:off x="731520" y="44531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4" name="Text 21"/>
          <p:cNvSpPr/>
          <p:nvPr/>
        </p:nvSpPr>
        <p:spPr>
          <a:xfrm>
            <a:off x="1280160" y="438912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The sample size is too small to draw conclusions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FF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548640" y="274320"/>
            <a:ext cx="640080" cy="640080"/>
          </a:xfrm>
          <a:prstGeom prst="ellipse">
            <a:avLst/>
          </a:prstGeom>
          <a:solidFill>
            <a:srgbClr val="059669"/>
          </a:solidFill>
          <a:ln/>
        </p:spPr>
      </p:sp>
      <p:pic>
        <p:nvPicPr>
          <p:cNvPr id="4" name="Image 0" descr="preencoded.png">    </p:cNvPr>
          <p:cNvPicPr>
            <a:picLocks noChangeAspect="1"/>
          </p:cNvPicPr>
          <p:nvPr/>
        </p:nvPicPr>
        <p:blipFill>
          <a:blip r:embed="rId1"/>
          <a:stretch>
            <a:fillRect/>
          </a:stretch>
        </p:blipFill>
        <p:spPr>
          <a:xfrm>
            <a:off x="667512" y="384048"/>
            <a:ext cx="402336" cy="402336"/>
          </a:xfrm>
          <a:prstGeom prst="rect">
            <a:avLst/>
          </a:prstGeom>
        </p:spPr>
      </p:pic>
      <p:sp>
        <p:nvSpPr>
          <p:cNvPr id="5" name="Text 2"/>
          <p:cNvSpPr/>
          <p:nvPr/>
        </p:nvSpPr>
        <p:spPr>
          <a:xfrm>
            <a:off x="1371600" y="274320"/>
            <a:ext cx="2743200" cy="64008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Answer 1</a:t>
            </a:r>
            <a:endParaRPr lang="en-US" sz="1400" dirty="0"/>
          </a:p>
        </p:txBody>
      </p:sp>
      <p:sp>
        <p:nvSpPr>
          <p:cNvPr id="6" name="Text 3"/>
          <p:cNvSpPr/>
          <p:nvPr/>
        </p:nvSpPr>
        <p:spPr>
          <a:xfrm>
            <a:off x="548640" y="1051560"/>
            <a:ext cx="8046720" cy="50292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What does the null hypothesis (H₀) typically state?</a:t>
            </a:r>
            <a:endParaRPr lang="en-US" sz="1400" dirty="0"/>
          </a:p>
        </p:txBody>
      </p:sp>
      <p:sp>
        <p:nvSpPr>
          <p:cNvPr id="7" name="Shape 4"/>
          <p:cNvSpPr/>
          <p:nvPr/>
        </p:nvSpPr>
        <p:spPr>
          <a:xfrm>
            <a:off x="548640" y="1691640"/>
            <a:ext cx="8046720" cy="1005840"/>
          </a:xfrm>
          <a:prstGeom prst="rect">
            <a:avLst/>
          </a:prstGeom>
          <a:solidFill>
            <a:srgbClr val="059669"/>
          </a:solidFill>
          <a:ln/>
          <a:effectLst>
            <a:outerShdw sx="100000" sy="100000" kx="0" ky="0" algn="bl" rotWithShape="0" blurRad="101600" dist="38100" dir="8100000">
              <a:srgbClr val="000000">
                <a:alpha val="15000"/>
              </a:srgbClr>
            </a:outerShdw>
          </a:effectLst>
        </p:spPr>
      </p:sp>
      <p:sp>
        <p:nvSpPr>
          <p:cNvPr id="8" name="Text 5"/>
          <p:cNvSpPr/>
          <p:nvPr/>
        </p:nvSpPr>
        <p:spPr>
          <a:xfrm>
            <a:off x="777240" y="1783080"/>
            <a:ext cx="640080" cy="82296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B</a:t>
            </a:r>
            <a:endParaRPr lang="en-US" sz="4000" dirty="0"/>
          </a:p>
        </p:txBody>
      </p:sp>
      <p:sp>
        <p:nvSpPr>
          <p:cNvPr id="9" name="Text 6"/>
          <p:cNvSpPr/>
          <p:nvPr/>
        </p:nvSpPr>
        <p:spPr>
          <a:xfrm>
            <a:off x="1463040" y="1691640"/>
            <a:ext cx="6858000" cy="10058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The null hypothesis assumes there is no significant difference between the two groups being compared.</a:t>
            </a:r>
            <a:endParaRPr lang="en-US" sz="1600" dirty="0"/>
          </a:p>
        </p:txBody>
      </p:sp>
      <p:sp>
        <p:nvSpPr>
          <p:cNvPr id="10" name="Shape 7"/>
          <p:cNvSpPr/>
          <p:nvPr/>
        </p:nvSpPr>
        <p:spPr>
          <a:xfrm>
            <a:off x="548640" y="3017520"/>
            <a:ext cx="804672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8"/>
          <p:cNvSpPr/>
          <p:nvPr/>
        </p:nvSpPr>
        <p:spPr>
          <a:xfrm>
            <a:off x="777240" y="3200400"/>
            <a:ext cx="502920" cy="502920"/>
          </a:xfrm>
          <a:prstGeom prst="ellipse">
            <a:avLst/>
          </a:prstGeom>
          <a:solidFill>
            <a:srgbClr val="14B8A6"/>
          </a:solidFill>
          <a:ln/>
        </p:spPr>
      </p:sp>
      <p:pic>
        <p:nvPicPr>
          <p:cNvPr id="12" name="Image 1" descr="preencoded.png">    </p:cNvPr>
          <p:cNvPicPr>
            <a:picLocks noChangeAspect="1"/>
          </p:cNvPicPr>
          <p:nvPr/>
        </p:nvPicPr>
        <p:blipFill>
          <a:blip r:embed="rId2"/>
          <a:stretch>
            <a:fillRect/>
          </a:stretch>
        </p:blipFill>
        <p:spPr>
          <a:xfrm>
            <a:off x="877824" y="3291840"/>
            <a:ext cx="320040" cy="320040"/>
          </a:xfrm>
          <a:prstGeom prst="rect">
            <a:avLst/>
          </a:prstGeom>
        </p:spPr>
      </p:pic>
      <p:sp>
        <p:nvSpPr>
          <p:cNvPr id="13" name="Text 9"/>
          <p:cNvSpPr/>
          <p:nvPr/>
        </p:nvSpPr>
        <p:spPr>
          <a:xfrm>
            <a:off x="1463040" y="3154680"/>
            <a:ext cx="6400800" cy="365760"/>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Why it matters for your project</a:t>
            </a:r>
            <a:endParaRPr lang="en-US" sz="1400" dirty="0"/>
          </a:p>
        </p:txBody>
      </p:sp>
      <p:sp>
        <p:nvSpPr>
          <p:cNvPr id="14" name="Text 10"/>
          <p:cNvSpPr/>
          <p:nvPr/>
        </p:nvSpPr>
        <p:spPr>
          <a:xfrm>
            <a:off x="1463040" y="3520440"/>
            <a:ext cx="6858000" cy="8229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In your project, H₀ states that the mean response for Group 1 equals the mean response for Group 2. For example: H₀: μ₁ = μ₂. You must clearly state this before running your test.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FF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B8A6"/>
          </a:solidFill>
          <a:ln/>
        </p:spPr>
      </p:sp>
      <p:sp>
        <p:nvSpPr>
          <p:cNvPr id="3" name="Shape 1"/>
          <p:cNvSpPr/>
          <p:nvPr/>
        </p:nvSpPr>
        <p:spPr>
          <a:xfrm>
            <a:off x="548640" y="320040"/>
            <a:ext cx="640080" cy="64008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667512" y="429768"/>
            <a:ext cx="402336" cy="402336"/>
          </a:xfrm>
          <a:prstGeom prst="rect">
            <a:avLst/>
          </a:prstGeom>
        </p:spPr>
      </p:pic>
      <p:sp>
        <p:nvSpPr>
          <p:cNvPr id="5" name="Text 2"/>
          <p:cNvSpPr/>
          <p:nvPr/>
        </p:nvSpPr>
        <p:spPr>
          <a:xfrm>
            <a:off x="1371600" y="320040"/>
            <a:ext cx="2743200" cy="64008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Question 2</a:t>
            </a:r>
            <a:endParaRPr lang="en-US" sz="1400" dirty="0"/>
          </a:p>
        </p:txBody>
      </p:sp>
      <p:sp>
        <p:nvSpPr>
          <p:cNvPr id="6" name="Shape 3"/>
          <p:cNvSpPr/>
          <p:nvPr/>
        </p:nvSpPr>
        <p:spPr>
          <a:xfrm>
            <a:off x="548640" y="1188720"/>
            <a:ext cx="8046720" cy="1097280"/>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7" name="Shape 4"/>
          <p:cNvSpPr/>
          <p:nvPr/>
        </p:nvSpPr>
        <p:spPr>
          <a:xfrm>
            <a:off x="548640" y="1188720"/>
            <a:ext cx="64008" cy="1097280"/>
          </a:xfrm>
          <a:prstGeom prst="rect">
            <a:avLst/>
          </a:prstGeom>
          <a:solidFill>
            <a:srgbClr val="D97706"/>
          </a:solidFill>
          <a:ln/>
        </p:spPr>
      </p:sp>
      <p:sp>
        <p:nvSpPr>
          <p:cNvPr id="8" name="Text 5"/>
          <p:cNvSpPr/>
          <p:nvPr/>
        </p:nvSpPr>
        <p:spPr>
          <a:xfrm>
            <a:off x="868680" y="1188720"/>
            <a:ext cx="7498080" cy="1097280"/>
          </a:xfrm>
          <a:prstGeom prst="rect">
            <a:avLst/>
          </a:prstGeom>
          <a:noFill/>
          <a:ln/>
        </p:spPr>
        <p:txBody>
          <a:bodyPr wrap="square" lIns="0" tIns="0" rIns="0" bIns="0" rtlCol="0" anchor="ctr"/>
          <a:lstStyle/>
          <a:p>
            <a:pPr indent="0" marL="0">
              <a:buNone/>
            </a:pPr>
            <a:r>
              <a:rPr lang="en-US" sz="2000" b="1" dirty="0">
                <a:solidFill>
                  <a:srgbClr val="0F172A"/>
                </a:solidFill>
                <a:latin typeface="Georgia" pitchFamily="34" charset="0"/>
                <a:ea typeface="Georgia" pitchFamily="34" charset="-122"/>
                <a:cs typeface="Georgia" pitchFamily="34" charset="-120"/>
              </a:rPr>
              <a:t>What significance level (α) is required for your MA235 project?</a:t>
            </a:r>
            <a:endParaRPr lang="en-US" sz="2000" dirty="0"/>
          </a:p>
        </p:txBody>
      </p:sp>
      <p:sp>
        <p:nvSpPr>
          <p:cNvPr id="9" name="Shape 6"/>
          <p:cNvSpPr/>
          <p:nvPr/>
        </p:nvSpPr>
        <p:spPr>
          <a:xfrm>
            <a:off x="548640" y="260604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731520" y="2670048"/>
            <a:ext cx="365760" cy="365760"/>
          </a:xfrm>
          <a:prstGeom prst="ellipse">
            <a:avLst/>
          </a:prstGeom>
          <a:solidFill>
            <a:srgbClr val="065A82"/>
          </a:solidFill>
          <a:ln/>
        </p:spPr>
      </p:sp>
      <p:sp>
        <p:nvSpPr>
          <p:cNvPr id="11" name="Text 8"/>
          <p:cNvSpPr/>
          <p:nvPr/>
        </p:nvSpPr>
        <p:spPr>
          <a:xfrm>
            <a:off x="731520" y="26700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2" name="Text 9"/>
          <p:cNvSpPr/>
          <p:nvPr/>
        </p:nvSpPr>
        <p:spPr>
          <a:xfrm>
            <a:off x="1280160" y="260604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α = 0.01</a:t>
            </a:r>
            <a:endParaRPr lang="en-US" sz="1500" dirty="0"/>
          </a:p>
        </p:txBody>
      </p:sp>
      <p:sp>
        <p:nvSpPr>
          <p:cNvPr id="13" name="Shape 10"/>
          <p:cNvSpPr/>
          <p:nvPr/>
        </p:nvSpPr>
        <p:spPr>
          <a:xfrm>
            <a:off x="548640" y="320040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1"/>
          <p:cNvSpPr/>
          <p:nvPr/>
        </p:nvSpPr>
        <p:spPr>
          <a:xfrm>
            <a:off x="731520" y="3264408"/>
            <a:ext cx="365760" cy="365760"/>
          </a:xfrm>
          <a:prstGeom prst="ellipse">
            <a:avLst/>
          </a:prstGeom>
          <a:solidFill>
            <a:srgbClr val="1C7293"/>
          </a:solidFill>
          <a:ln/>
        </p:spPr>
      </p:sp>
      <p:sp>
        <p:nvSpPr>
          <p:cNvPr id="15" name="Text 12"/>
          <p:cNvSpPr/>
          <p:nvPr/>
        </p:nvSpPr>
        <p:spPr>
          <a:xfrm>
            <a:off x="731520" y="32644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6" name="Text 13"/>
          <p:cNvSpPr/>
          <p:nvPr/>
        </p:nvSpPr>
        <p:spPr>
          <a:xfrm>
            <a:off x="1280160" y="320040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α = 0.10</a:t>
            </a:r>
            <a:endParaRPr lang="en-US" sz="1500" dirty="0"/>
          </a:p>
        </p:txBody>
      </p:sp>
      <p:sp>
        <p:nvSpPr>
          <p:cNvPr id="17" name="Shape 14"/>
          <p:cNvSpPr/>
          <p:nvPr/>
        </p:nvSpPr>
        <p:spPr>
          <a:xfrm>
            <a:off x="548640" y="379476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5"/>
          <p:cNvSpPr/>
          <p:nvPr/>
        </p:nvSpPr>
        <p:spPr>
          <a:xfrm>
            <a:off x="731520" y="3858768"/>
            <a:ext cx="365760" cy="365760"/>
          </a:xfrm>
          <a:prstGeom prst="ellipse">
            <a:avLst/>
          </a:prstGeom>
          <a:solidFill>
            <a:srgbClr val="14B8A6"/>
          </a:solidFill>
          <a:ln/>
        </p:spPr>
      </p:sp>
      <p:sp>
        <p:nvSpPr>
          <p:cNvPr id="19" name="Text 16"/>
          <p:cNvSpPr/>
          <p:nvPr/>
        </p:nvSpPr>
        <p:spPr>
          <a:xfrm>
            <a:off x="731520" y="38587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0" name="Text 17"/>
          <p:cNvSpPr/>
          <p:nvPr/>
        </p:nvSpPr>
        <p:spPr>
          <a:xfrm>
            <a:off x="1280160" y="379476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α = 0.05</a:t>
            </a:r>
            <a:endParaRPr lang="en-US" sz="1500" dirty="0"/>
          </a:p>
        </p:txBody>
      </p:sp>
      <p:sp>
        <p:nvSpPr>
          <p:cNvPr id="21" name="Shape 18"/>
          <p:cNvSpPr/>
          <p:nvPr/>
        </p:nvSpPr>
        <p:spPr>
          <a:xfrm>
            <a:off x="548640" y="438912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2" name="Shape 19"/>
          <p:cNvSpPr/>
          <p:nvPr/>
        </p:nvSpPr>
        <p:spPr>
          <a:xfrm>
            <a:off x="731520" y="4453128"/>
            <a:ext cx="365760" cy="365760"/>
          </a:xfrm>
          <a:prstGeom prst="ellipse">
            <a:avLst/>
          </a:prstGeom>
          <a:solidFill>
            <a:srgbClr val="D97706"/>
          </a:solidFill>
          <a:ln/>
        </p:spPr>
      </p:sp>
      <p:sp>
        <p:nvSpPr>
          <p:cNvPr id="23" name="Text 20"/>
          <p:cNvSpPr/>
          <p:nvPr/>
        </p:nvSpPr>
        <p:spPr>
          <a:xfrm>
            <a:off x="731520" y="44531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4" name="Text 21"/>
          <p:cNvSpPr/>
          <p:nvPr/>
        </p:nvSpPr>
        <p:spPr>
          <a:xfrm>
            <a:off x="1280160" y="438912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α = 0.50</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FF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548640" y="274320"/>
            <a:ext cx="640080" cy="640080"/>
          </a:xfrm>
          <a:prstGeom prst="ellipse">
            <a:avLst/>
          </a:prstGeom>
          <a:solidFill>
            <a:srgbClr val="059669"/>
          </a:solidFill>
          <a:ln/>
        </p:spPr>
      </p:sp>
      <p:pic>
        <p:nvPicPr>
          <p:cNvPr id="4" name="Image 0" descr="preencoded.png">    </p:cNvPr>
          <p:cNvPicPr>
            <a:picLocks noChangeAspect="1"/>
          </p:cNvPicPr>
          <p:nvPr/>
        </p:nvPicPr>
        <p:blipFill>
          <a:blip r:embed="rId1"/>
          <a:stretch>
            <a:fillRect/>
          </a:stretch>
        </p:blipFill>
        <p:spPr>
          <a:xfrm>
            <a:off x="667512" y="384048"/>
            <a:ext cx="402336" cy="402336"/>
          </a:xfrm>
          <a:prstGeom prst="rect">
            <a:avLst/>
          </a:prstGeom>
        </p:spPr>
      </p:pic>
      <p:sp>
        <p:nvSpPr>
          <p:cNvPr id="5" name="Text 2"/>
          <p:cNvSpPr/>
          <p:nvPr/>
        </p:nvSpPr>
        <p:spPr>
          <a:xfrm>
            <a:off x="1371600" y="274320"/>
            <a:ext cx="2743200" cy="64008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Answer 2</a:t>
            </a:r>
            <a:endParaRPr lang="en-US" sz="1400" dirty="0"/>
          </a:p>
        </p:txBody>
      </p:sp>
      <p:sp>
        <p:nvSpPr>
          <p:cNvPr id="6" name="Text 3"/>
          <p:cNvSpPr/>
          <p:nvPr/>
        </p:nvSpPr>
        <p:spPr>
          <a:xfrm>
            <a:off x="548640" y="1051560"/>
            <a:ext cx="8046720" cy="50292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What significance level (α) is required for your MA235 project?</a:t>
            </a:r>
            <a:endParaRPr lang="en-US" sz="1400" dirty="0"/>
          </a:p>
        </p:txBody>
      </p:sp>
      <p:sp>
        <p:nvSpPr>
          <p:cNvPr id="7" name="Shape 4"/>
          <p:cNvSpPr/>
          <p:nvPr/>
        </p:nvSpPr>
        <p:spPr>
          <a:xfrm>
            <a:off x="548640" y="1691640"/>
            <a:ext cx="8046720" cy="1005840"/>
          </a:xfrm>
          <a:prstGeom prst="rect">
            <a:avLst/>
          </a:prstGeom>
          <a:solidFill>
            <a:srgbClr val="059669"/>
          </a:solidFill>
          <a:ln/>
          <a:effectLst>
            <a:outerShdw sx="100000" sy="100000" kx="0" ky="0" algn="bl" rotWithShape="0" blurRad="101600" dist="38100" dir="8100000">
              <a:srgbClr val="000000">
                <a:alpha val="15000"/>
              </a:srgbClr>
            </a:outerShdw>
          </a:effectLst>
        </p:spPr>
      </p:sp>
      <p:sp>
        <p:nvSpPr>
          <p:cNvPr id="8" name="Text 5"/>
          <p:cNvSpPr/>
          <p:nvPr/>
        </p:nvSpPr>
        <p:spPr>
          <a:xfrm>
            <a:off x="777240" y="1783080"/>
            <a:ext cx="640080" cy="82296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a:t>
            </a:r>
            <a:endParaRPr lang="en-US" sz="4000" dirty="0"/>
          </a:p>
        </p:txBody>
      </p:sp>
      <p:sp>
        <p:nvSpPr>
          <p:cNvPr id="9" name="Text 6"/>
          <p:cNvSpPr/>
          <p:nvPr/>
        </p:nvSpPr>
        <p:spPr>
          <a:xfrm>
            <a:off x="1463040" y="1691640"/>
            <a:ext cx="6858000" cy="10058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The project specifies α = 0.05, meaning you accept a 5% risk of incorrectly rejecting a true null hypothesis.</a:t>
            </a:r>
            <a:endParaRPr lang="en-US" sz="1600" dirty="0"/>
          </a:p>
        </p:txBody>
      </p:sp>
      <p:sp>
        <p:nvSpPr>
          <p:cNvPr id="10" name="Shape 7"/>
          <p:cNvSpPr/>
          <p:nvPr/>
        </p:nvSpPr>
        <p:spPr>
          <a:xfrm>
            <a:off x="548640" y="3017520"/>
            <a:ext cx="804672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8"/>
          <p:cNvSpPr/>
          <p:nvPr/>
        </p:nvSpPr>
        <p:spPr>
          <a:xfrm>
            <a:off x="777240" y="3200400"/>
            <a:ext cx="502920" cy="502920"/>
          </a:xfrm>
          <a:prstGeom prst="ellipse">
            <a:avLst/>
          </a:prstGeom>
          <a:solidFill>
            <a:srgbClr val="14B8A6"/>
          </a:solidFill>
          <a:ln/>
        </p:spPr>
      </p:sp>
      <p:pic>
        <p:nvPicPr>
          <p:cNvPr id="12" name="Image 1" descr="preencoded.png">    </p:cNvPr>
          <p:cNvPicPr>
            <a:picLocks noChangeAspect="1"/>
          </p:cNvPicPr>
          <p:nvPr/>
        </p:nvPicPr>
        <p:blipFill>
          <a:blip r:embed="rId2"/>
          <a:stretch>
            <a:fillRect/>
          </a:stretch>
        </p:blipFill>
        <p:spPr>
          <a:xfrm>
            <a:off x="877824" y="3291840"/>
            <a:ext cx="320040" cy="320040"/>
          </a:xfrm>
          <a:prstGeom prst="rect">
            <a:avLst/>
          </a:prstGeom>
        </p:spPr>
      </p:pic>
      <p:sp>
        <p:nvSpPr>
          <p:cNvPr id="13" name="Text 9"/>
          <p:cNvSpPr/>
          <p:nvPr/>
        </p:nvSpPr>
        <p:spPr>
          <a:xfrm>
            <a:off x="1463040" y="3154680"/>
            <a:ext cx="6400800" cy="365760"/>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Why it matters for your project</a:t>
            </a:r>
            <a:endParaRPr lang="en-US" sz="1400" dirty="0"/>
          </a:p>
        </p:txBody>
      </p:sp>
      <p:sp>
        <p:nvSpPr>
          <p:cNvPr id="14" name="Text 10"/>
          <p:cNvSpPr/>
          <p:nvPr/>
        </p:nvSpPr>
        <p:spPr>
          <a:xfrm>
            <a:off x="1463040" y="3520440"/>
            <a:ext cx="6858000" cy="8229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This is the most commonly used significance level in statistics. It sets your threshold — if the probability of your result occurring by chance is less than 5%, you reject H₀.</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FF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B8A6"/>
          </a:solidFill>
          <a:ln/>
        </p:spPr>
      </p:sp>
      <p:sp>
        <p:nvSpPr>
          <p:cNvPr id="3" name="Shape 1"/>
          <p:cNvSpPr/>
          <p:nvPr/>
        </p:nvSpPr>
        <p:spPr>
          <a:xfrm>
            <a:off x="548640" y="320040"/>
            <a:ext cx="640080" cy="64008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667512" y="429768"/>
            <a:ext cx="402336" cy="402336"/>
          </a:xfrm>
          <a:prstGeom prst="rect">
            <a:avLst/>
          </a:prstGeom>
        </p:spPr>
      </p:pic>
      <p:sp>
        <p:nvSpPr>
          <p:cNvPr id="5" name="Text 2"/>
          <p:cNvSpPr/>
          <p:nvPr/>
        </p:nvSpPr>
        <p:spPr>
          <a:xfrm>
            <a:off x="1371600" y="320040"/>
            <a:ext cx="2743200" cy="64008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Question 3</a:t>
            </a:r>
            <a:endParaRPr lang="en-US" sz="1400" dirty="0"/>
          </a:p>
        </p:txBody>
      </p:sp>
      <p:sp>
        <p:nvSpPr>
          <p:cNvPr id="6" name="Shape 3"/>
          <p:cNvSpPr/>
          <p:nvPr/>
        </p:nvSpPr>
        <p:spPr>
          <a:xfrm>
            <a:off x="548640" y="1188720"/>
            <a:ext cx="8046720" cy="1097280"/>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7" name="Shape 4"/>
          <p:cNvSpPr/>
          <p:nvPr/>
        </p:nvSpPr>
        <p:spPr>
          <a:xfrm>
            <a:off x="548640" y="1188720"/>
            <a:ext cx="64008" cy="1097280"/>
          </a:xfrm>
          <a:prstGeom prst="rect">
            <a:avLst/>
          </a:prstGeom>
          <a:solidFill>
            <a:srgbClr val="D97706"/>
          </a:solidFill>
          <a:ln/>
        </p:spPr>
      </p:sp>
      <p:sp>
        <p:nvSpPr>
          <p:cNvPr id="8" name="Text 5"/>
          <p:cNvSpPr/>
          <p:nvPr/>
        </p:nvSpPr>
        <p:spPr>
          <a:xfrm>
            <a:off x="868680" y="1188720"/>
            <a:ext cx="7498080" cy="1097280"/>
          </a:xfrm>
          <a:prstGeom prst="rect">
            <a:avLst/>
          </a:prstGeom>
          <a:noFill/>
          <a:ln/>
        </p:spPr>
        <p:txBody>
          <a:bodyPr wrap="square" lIns="0" tIns="0" rIns="0" bIns="0" rtlCol="0" anchor="ctr"/>
          <a:lstStyle/>
          <a:p>
            <a:pPr indent="0" marL="0">
              <a:buNone/>
            </a:pPr>
            <a:r>
              <a:rPr lang="en-US" sz="2000" b="1" dirty="0">
                <a:solidFill>
                  <a:srgbClr val="0F172A"/>
                </a:solidFill>
                <a:latin typeface="Georgia" pitchFamily="34" charset="0"/>
                <a:ea typeface="Georgia" pitchFamily="34" charset="-122"/>
                <a:cs typeface="Georgia" pitchFamily="34" charset="-120"/>
              </a:rPr>
              <a:t>What type of error occurs when you reject H₀ but it is actually true?</a:t>
            </a:r>
            <a:endParaRPr lang="en-US" sz="2000" dirty="0"/>
          </a:p>
        </p:txBody>
      </p:sp>
      <p:sp>
        <p:nvSpPr>
          <p:cNvPr id="9" name="Shape 6"/>
          <p:cNvSpPr/>
          <p:nvPr/>
        </p:nvSpPr>
        <p:spPr>
          <a:xfrm>
            <a:off x="548640" y="260604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731520" y="2670048"/>
            <a:ext cx="365760" cy="365760"/>
          </a:xfrm>
          <a:prstGeom prst="ellipse">
            <a:avLst/>
          </a:prstGeom>
          <a:solidFill>
            <a:srgbClr val="065A82"/>
          </a:solidFill>
          <a:ln/>
        </p:spPr>
      </p:sp>
      <p:sp>
        <p:nvSpPr>
          <p:cNvPr id="11" name="Text 8"/>
          <p:cNvSpPr/>
          <p:nvPr/>
        </p:nvSpPr>
        <p:spPr>
          <a:xfrm>
            <a:off x="731520" y="26700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2" name="Text 9"/>
          <p:cNvSpPr/>
          <p:nvPr/>
        </p:nvSpPr>
        <p:spPr>
          <a:xfrm>
            <a:off x="1280160" y="260604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Type II Error</a:t>
            </a:r>
            <a:endParaRPr lang="en-US" sz="1500" dirty="0"/>
          </a:p>
        </p:txBody>
      </p:sp>
      <p:sp>
        <p:nvSpPr>
          <p:cNvPr id="13" name="Shape 10"/>
          <p:cNvSpPr/>
          <p:nvPr/>
        </p:nvSpPr>
        <p:spPr>
          <a:xfrm>
            <a:off x="548640" y="320040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1"/>
          <p:cNvSpPr/>
          <p:nvPr/>
        </p:nvSpPr>
        <p:spPr>
          <a:xfrm>
            <a:off x="731520" y="3264408"/>
            <a:ext cx="365760" cy="365760"/>
          </a:xfrm>
          <a:prstGeom prst="ellipse">
            <a:avLst/>
          </a:prstGeom>
          <a:solidFill>
            <a:srgbClr val="1C7293"/>
          </a:solidFill>
          <a:ln/>
        </p:spPr>
      </p:sp>
      <p:sp>
        <p:nvSpPr>
          <p:cNvPr id="15" name="Text 12"/>
          <p:cNvSpPr/>
          <p:nvPr/>
        </p:nvSpPr>
        <p:spPr>
          <a:xfrm>
            <a:off x="731520" y="32644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6" name="Text 13"/>
          <p:cNvSpPr/>
          <p:nvPr/>
        </p:nvSpPr>
        <p:spPr>
          <a:xfrm>
            <a:off x="1280160" y="320040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Sampling Error</a:t>
            </a:r>
            <a:endParaRPr lang="en-US" sz="1500" dirty="0"/>
          </a:p>
        </p:txBody>
      </p:sp>
      <p:sp>
        <p:nvSpPr>
          <p:cNvPr id="17" name="Shape 14"/>
          <p:cNvSpPr/>
          <p:nvPr/>
        </p:nvSpPr>
        <p:spPr>
          <a:xfrm>
            <a:off x="548640" y="379476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5"/>
          <p:cNvSpPr/>
          <p:nvPr/>
        </p:nvSpPr>
        <p:spPr>
          <a:xfrm>
            <a:off x="731520" y="3858768"/>
            <a:ext cx="365760" cy="365760"/>
          </a:xfrm>
          <a:prstGeom prst="ellipse">
            <a:avLst/>
          </a:prstGeom>
          <a:solidFill>
            <a:srgbClr val="14B8A6"/>
          </a:solidFill>
          <a:ln/>
        </p:spPr>
      </p:sp>
      <p:sp>
        <p:nvSpPr>
          <p:cNvPr id="19" name="Text 16"/>
          <p:cNvSpPr/>
          <p:nvPr/>
        </p:nvSpPr>
        <p:spPr>
          <a:xfrm>
            <a:off x="731520" y="38587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0" name="Text 17"/>
          <p:cNvSpPr/>
          <p:nvPr/>
        </p:nvSpPr>
        <p:spPr>
          <a:xfrm>
            <a:off x="1280160" y="379476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Standard Error</a:t>
            </a:r>
            <a:endParaRPr lang="en-US" sz="1500" dirty="0"/>
          </a:p>
        </p:txBody>
      </p:sp>
      <p:sp>
        <p:nvSpPr>
          <p:cNvPr id="21" name="Shape 18"/>
          <p:cNvSpPr/>
          <p:nvPr/>
        </p:nvSpPr>
        <p:spPr>
          <a:xfrm>
            <a:off x="548640" y="438912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2" name="Shape 19"/>
          <p:cNvSpPr/>
          <p:nvPr/>
        </p:nvSpPr>
        <p:spPr>
          <a:xfrm>
            <a:off x="731520" y="4453128"/>
            <a:ext cx="365760" cy="365760"/>
          </a:xfrm>
          <a:prstGeom prst="ellipse">
            <a:avLst/>
          </a:prstGeom>
          <a:solidFill>
            <a:srgbClr val="D97706"/>
          </a:solidFill>
          <a:ln/>
        </p:spPr>
      </p:sp>
      <p:sp>
        <p:nvSpPr>
          <p:cNvPr id="23" name="Text 20"/>
          <p:cNvSpPr/>
          <p:nvPr/>
        </p:nvSpPr>
        <p:spPr>
          <a:xfrm>
            <a:off x="731520" y="44531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4" name="Text 21"/>
          <p:cNvSpPr/>
          <p:nvPr/>
        </p:nvSpPr>
        <p:spPr>
          <a:xfrm>
            <a:off x="1280160" y="438912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Type I Error</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FF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548640" y="274320"/>
            <a:ext cx="640080" cy="640080"/>
          </a:xfrm>
          <a:prstGeom prst="ellipse">
            <a:avLst/>
          </a:prstGeom>
          <a:solidFill>
            <a:srgbClr val="059669"/>
          </a:solidFill>
          <a:ln/>
        </p:spPr>
      </p:sp>
      <p:pic>
        <p:nvPicPr>
          <p:cNvPr id="4" name="Image 0" descr="preencoded.png">    </p:cNvPr>
          <p:cNvPicPr>
            <a:picLocks noChangeAspect="1"/>
          </p:cNvPicPr>
          <p:nvPr/>
        </p:nvPicPr>
        <p:blipFill>
          <a:blip r:embed="rId1"/>
          <a:stretch>
            <a:fillRect/>
          </a:stretch>
        </p:blipFill>
        <p:spPr>
          <a:xfrm>
            <a:off x="667512" y="384048"/>
            <a:ext cx="402336" cy="402336"/>
          </a:xfrm>
          <a:prstGeom prst="rect">
            <a:avLst/>
          </a:prstGeom>
        </p:spPr>
      </p:pic>
      <p:sp>
        <p:nvSpPr>
          <p:cNvPr id="5" name="Text 2"/>
          <p:cNvSpPr/>
          <p:nvPr/>
        </p:nvSpPr>
        <p:spPr>
          <a:xfrm>
            <a:off x="1371600" y="274320"/>
            <a:ext cx="2743200" cy="64008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Answer 3</a:t>
            </a:r>
            <a:endParaRPr lang="en-US" sz="1400" dirty="0"/>
          </a:p>
        </p:txBody>
      </p:sp>
      <p:sp>
        <p:nvSpPr>
          <p:cNvPr id="6" name="Text 3"/>
          <p:cNvSpPr/>
          <p:nvPr/>
        </p:nvSpPr>
        <p:spPr>
          <a:xfrm>
            <a:off x="548640" y="1051560"/>
            <a:ext cx="8046720" cy="50292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What type of error occurs when you reject H₀ but it is actually true?</a:t>
            </a:r>
            <a:endParaRPr lang="en-US" sz="1400" dirty="0"/>
          </a:p>
        </p:txBody>
      </p:sp>
      <p:sp>
        <p:nvSpPr>
          <p:cNvPr id="7" name="Shape 4"/>
          <p:cNvSpPr/>
          <p:nvPr/>
        </p:nvSpPr>
        <p:spPr>
          <a:xfrm>
            <a:off x="548640" y="1691640"/>
            <a:ext cx="8046720" cy="1005840"/>
          </a:xfrm>
          <a:prstGeom prst="rect">
            <a:avLst/>
          </a:prstGeom>
          <a:solidFill>
            <a:srgbClr val="059669"/>
          </a:solidFill>
          <a:ln/>
          <a:effectLst>
            <a:outerShdw sx="100000" sy="100000" kx="0" ky="0" algn="bl" rotWithShape="0" blurRad="101600" dist="38100" dir="8100000">
              <a:srgbClr val="000000">
                <a:alpha val="15000"/>
              </a:srgbClr>
            </a:outerShdw>
          </a:effectLst>
        </p:spPr>
      </p:sp>
      <p:sp>
        <p:nvSpPr>
          <p:cNvPr id="8" name="Text 5"/>
          <p:cNvSpPr/>
          <p:nvPr/>
        </p:nvSpPr>
        <p:spPr>
          <a:xfrm>
            <a:off x="777240" y="1783080"/>
            <a:ext cx="640080" cy="82296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D</a:t>
            </a:r>
            <a:endParaRPr lang="en-US" sz="4000" dirty="0"/>
          </a:p>
        </p:txBody>
      </p:sp>
      <p:sp>
        <p:nvSpPr>
          <p:cNvPr id="9" name="Text 6"/>
          <p:cNvSpPr/>
          <p:nvPr/>
        </p:nvSpPr>
        <p:spPr>
          <a:xfrm>
            <a:off x="1463040" y="1691640"/>
            <a:ext cx="6858000" cy="10058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 Type I Error (false positive) means you concluded there was a difference when there actually wasn't one.</a:t>
            </a:r>
            <a:endParaRPr lang="en-US" sz="1600" dirty="0"/>
          </a:p>
        </p:txBody>
      </p:sp>
      <p:sp>
        <p:nvSpPr>
          <p:cNvPr id="10" name="Shape 7"/>
          <p:cNvSpPr/>
          <p:nvPr/>
        </p:nvSpPr>
        <p:spPr>
          <a:xfrm>
            <a:off x="548640" y="3017520"/>
            <a:ext cx="804672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8"/>
          <p:cNvSpPr/>
          <p:nvPr/>
        </p:nvSpPr>
        <p:spPr>
          <a:xfrm>
            <a:off x="777240" y="3200400"/>
            <a:ext cx="502920" cy="502920"/>
          </a:xfrm>
          <a:prstGeom prst="ellipse">
            <a:avLst/>
          </a:prstGeom>
          <a:solidFill>
            <a:srgbClr val="14B8A6"/>
          </a:solidFill>
          <a:ln/>
        </p:spPr>
      </p:sp>
      <p:pic>
        <p:nvPicPr>
          <p:cNvPr id="12" name="Image 1" descr="preencoded.png">    </p:cNvPr>
          <p:cNvPicPr>
            <a:picLocks noChangeAspect="1"/>
          </p:cNvPicPr>
          <p:nvPr/>
        </p:nvPicPr>
        <p:blipFill>
          <a:blip r:embed="rId2"/>
          <a:stretch>
            <a:fillRect/>
          </a:stretch>
        </p:blipFill>
        <p:spPr>
          <a:xfrm>
            <a:off x="877824" y="3291840"/>
            <a:ext cx="320040" cy="320040"/>
          </a:xfrm>
          <a:prstGeom prst="rect">
            <a:avLst/>
          </a:prstGeom>
        </p:spPr>
      </p:pic>
      <p:sp>
        <p:nvSpPr>
          <p:cNvPr id="13" name="Text 9"/>
          <p:cNvSpPr/>
          <p:nvPr/>
        </p:nvSpPr>
        <p:spPr>
          <a:xfrm>
            <a:off x="1463040" y="3154680"/>
            <a:ext cx="6400800" cy="365760"/>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Why it matters for your project</a:t>
            </a:r>
            <a:endParaRPr lang="en-US" sz="1400" dirty="0"/>
          </a:p>
        </p:txBody>
      </p:sp>
      <p:sp>
        <p:nvSpPr>
          <p:cNvPr id="14" name="Text 10"/>
          <p:cNvSpPr/>
          <p:nvPr/>
        </p:nvSpPr>
        <p:spPr>
          <a:xfrm>
            <a:off x="1463040" y="3520440"/>
            <a:ext cx="6858000" cy="8229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The significance level α = 0.05 directly controls the probability of a Type I Error. A Type II Error is the opposite — failing to reject H₀ when it is false (a false negative).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FF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B8A6"/>
          </a:solidFill>
          <a:ln/>
        </p:spPr>
      </p:sp>
      <p:sp>
        <p:nvSpPr>
          <p:cNvPr id="3" name="Shape 1"/>
          <p:cNvSpPr/>
          <p:nvPr/>
        </p:nvSpPr>
        <p:spPr>
          <a:xfrm>
            <a:off x="548640" y="320040"/>
            <a:ext cx="640080" cy="64008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667512" y="429768"/>
            <a:ext cx="402336" cy="402336"/>
          </a:xfrm>
          <a:prstGeom prst="rect">
            <a:avLst/>
          </a:prstGeom>
        </p:spPr>
      </p:pic>
      <p:sp>
        <p:nvSpPr>
          <p:cNvPr id="5" name="Text 2"/>
          <p:cNvSpPr/>
          <p:nvPr/>
        </p:nvSpPr>
        <p:spPr>
          <a:xfrm>
            <a:off x="1371600" y="320040"/>
            <a:ext cx="2743200" cy="64008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Question 4</a:t>
            </a:r>
            <a:endParaRPr lang="en-US" sz="1400" dirty="0"/>
          </a:p>
        </p:txBody>
      </p:sp>
      <p:sp>
        <p:nvSpPr>
          <p:cNvPr id="6" name="Shape 3"/>
          <p:cNvSpPr/>
          <p:nvPr/>
        </p:nvSpPr>
        <p:spPr>
          <a:xfrm>
            <a:off x="548640" y="1188720"/>
            <a:ext cx="8046720" cy="1097280"/>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7" name="Shape 4"/>
          <p:cNvSpPr/>
          <p:nvPr/>
        </p:nvSpPr>
        <p:spPr>
          <a:xfrm>
            <a:off x="548640" y="1188720"/>
            <a:ext cx="64008" cy="1097280"/>
          </a:xfrm>
          <a:prstGeom prst="rect">
            <a:avLst/>
          </a:prstGeom>
          <a:solidFill>
            <a:srgbClr val="D97706"/>
          </a:solidFill>
          <a:ln/>
        </p:spPr>
      </p:sp>
      <p:sp>
        <p:nvSpPr>
          <p:cNvPr id="8" name="Text 5"/>
          <p:cNvSpPr/>
          <p:nvPr/>
        </p:nvSpPr>
        <p:spPr>
          <a:xfrm>
            <a:off x="868680" y="1188720"/>
            <a:ext cx="7498080" cy="1097280"/>
          </a:xfrm>
          <a:prstGeom prst="rect">
            <a:avLst/>
          </a:prstGeom>
          <a:noFill/>
          <a:ln/>
        </p:spPr>
        <p:txBody>
          <a:bodyPr wrap="square" lIns="0" tIns="0" rIns="0" bIns="0" rtlCol="0" anchor="ctr"/>
          <a:lstStyle/>
          <a:p>
            <a:pPr indent="0" marL="0">
              <a:buNone/>
            </a:pPr>
            <a:r>
              <a:rPr lang="en-US" sz="2000" b="1" dirty="0">
                <a:solidFill>
                  <a:srgbClr val="0F172A"/>
                </a:solidFill>
                <a:latin typeface="Georgia" pitchFamily="34" charset="0"/>
                <a:ea typeface="Georgia" pitchFamily="34" charset="-122"/>
                <a:cs typeface="Georgia" pitchFamily="34" charset="-120"/>
              </a:rPr>
              <a:t>With n₁ = 15 and n₂ = 15, what are the degrees of freedom (df) for a two-sample t-test?</a:t>
            </a:r>
            <a:endParaRPr lang="en-US" sz="2000" dirty="0"/>
          </a:p>
        </p:txBody>
      </p:sp>
      <p:sp>
        <p:nvSpPr>
          <p:cNvPr id="9" name="Shape 6"/>
          <p:cNvSpPr/>
          <p:nvPr/>
        </p:nvSpPr>
        <p:spPr>
          <a:xfrm>
            <a:off x="548640" y="260604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731520" y="2670048"/>
            <a:ext cx="365760" cy="365760"/>
          </a:xfrm>
          <a:prstGeom prst="ellipse">
            <a:avLst/>
          </a:prstGeom>
          <a:solidFill>
            <a:srgbClr val="065A82"/>
          </a:solidFill>
          <a:ln/>
        </p:spPr>
      </p:sp>
      <p:sp>
        <p:nvSpPr>
          <p:cNvPr id="11" name="Text 8"/>
          <p:cNvSpPr/>
          <p:nvPr/>
        </p:nvSpPr>
        <p:spPr>
          <a:xfrm>
            <a:off x="731520" y="26700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2" name="Text 9"/>
          <p:cNvSpPr/>
          <p:nvPr/>
        </p:nvSpPr>
        <p:spPr>
          <a:xfrm>
            <a:off x="1280160" y="260604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df = 30</a:t>
            </a:r>
            <a:endParaRPr lang="en-US" sz="1500" dirty="0"/>
          </a:p>
        </p:txBody>
      </p:sp>
      <p:sp>
        <p:nvSpPr>
          <p:cNvPr id="13" name="Shape 10"/>
          <p:cNvSpPr/>
          <p:nvPr/>
        </p:nvSpPr>
        <p:spPr>
          <a:xfrm>
            <a:off x="548640" y="320040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1"/>
          <p:cNvSpPr/>
          <p:nvPr/>
        </p:nvSpPr>
        <p:spPr>
          <a:xfrm>
            <a:off x="731520" y="3264408"/>
            <a:ext cx="365760" cy="365760"/>
          </a:xfrm>
          <a:prstGeom prst="ellipse">
            <a:avLst/>
          </a:prstGeom>
          <a:solidFill>
            <a:srgbClr val="1C7293"/>
          </a:solidFill>
          <a:ln/>
        </p:spPr>
      </p:sp>
      <p:sp>
        <p:nvSpPr>
          <p:cNvPr id="15" name="Text 12"/>
          <p:cNvSpPr/>
          <p:nvPr/>
        </p:nvSpPr>
        <p:spPr>
          <a:xfrm>
            <a:off x="731520" y="32644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6" name="Text 13"/>
          <p:cNvSpPr/>
          <p:nvPr/>
        </p:nvSpPr>
        <p:spPr>
          <a:xfrm>
            <a:off x="1280160" y="320040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df = 15</a:t>
            </a:r>
            <a:endParaRPr lang="en-US" sz="1500" dirty="0"/>
          </a:p>
        </p:txBody>
      </p:sp>
      <p:sp>
        <p:nvSpPr>
          <p:cNvPr id="17" name="Shape 14"/>
          <p:cNvSpPr/>
          <p:nvPr/>
        </p:nvSpPr>
        <p:spPr>
          <a:xfrm>
            <a:off x="548640" y="379476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5"/>
          <p:cNvSpPr/>
          <p:nvPr/>
        </p:nvSpPr>
        <p:spPr>
          <a:xfrm>
            <a:off x="731520" y="3858768"/>
            <a:ext cx="365760" cy="365760"/>
          </a:xfrm>
          <a:prstGeom prst="ellipse">
            <a:avLst/>
          </a:prstGeom>
          <a:solidFill>
            <a:srgbClr val="14B8A6"/>
          </a:solidFill>
          <a:ln/>
        </p:spPr>
      </p:sp>
      <p:sp>
        <p:nvSpPr>
          <p:cNvPr id="19" name="Text 16"/>
          <p:cNvSpPr/>
          <p:nvPr/>
        </p:nvSpPr>
        <p:spPr>
          <a:xfrm>
            <a:off x="731520" y="38587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0" name="Text 17"/>
          <p:cNvSpPr/>
          <p:nvPr/>
        </p:nvSpPr>
        <p:spPr>
          <a:xfrm>
            <a:off x="1280160" y="379476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df = 28</a:t>
            </a:r>
            <a:endParaRPr lang="en-US" sz="1500" dirty="0"/>
          </a:p>
        </p:txBody>
      </p:sp>
      <p:sp>
        <p:nvSpPr>
          <p:cNvPr id="21" name="Shape 18"/>
          <p:cNvSpPr/>
          <p:nvPr/>
        </p:nvSpPr>
        <p:spPr>
          <a:xfrm>
            <a:off x="548640" y="438912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2" name="Shape 19"/>
          <p:cNvSpPr/>
          <p:nvPr/>
        </p:nvSpPr>
        <p:spPr>
          <a:xfrm>
            <a:off x="731520" y="4453128"/>
            <a:ext cx="365760" cy="365760"/>
          </a:xfrm>
          <a:prstGeom prst="ellipse">
            <a:avLst/>
          </a:prstGeom>
          <a:solidFill>
            <a:srgbClr val="D97706"/>
          </a:solidFill>
          <a:ln/>
        </p:spPr>
      </p:sp>
      <p:sp>
        <p:nvSpPr>
          <p:cNvPr id="23" name="Text 20"/>
          <p:cNvSpPr/>
          <p:nvPr/>
        </p:nvSpPr>
        <p:spPr>
          <a:xfrm>
            <a:off x="731520" y="44531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4" name="Text 21"/>
          <p:cNvSpPr/>
          <p:nvPr/>
        </p:nvSpPr>
        <p:spPr>
          <a:xfrm>
            <a:off x="1280160" y="438912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df = 29</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FF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548640" y="274320"/>
            <a:ext cx="640080" cy="640080"/>
          </a:xfrm>
          <a:prstGeom prst="ellipse">
            <a:avLst/>
          </a:prstGeom>
          <a:solidFill>
            <a:srgbClr val="059669"/>
          </a:solidFill>
          <a:ln/>
        </p:spPr>
      </p:sp>
      <p:pic>
        <p:nvPicPr>
          <p:cNvPr id="4" name="Image 0" descr="preencoded.png">    </p:cNvPr>
          <p:cNvPicPr>
            <a:picLocks noChangeAspect="1"/>
          </p:cNvPicPr>
          <p:nvPr/>
        </p:nvPicPr>
        <p:blipFill>
          <a:blip r:embed="rId1"/>
          <a:stretch>
            <a:fillRect/>
          </a:stretch>
        </p:blipFill>
        <p:spPr>
          <a:xfrm>
            <a:off x="667512" y="384048"/>
            <a:ext cx="402336" cy="402336"/>
          </a:xfrm>
          <a:prstGeom prst="rect">
            <a:avLst/>
          </a:prstGeom>
        </p:spPr>
      </p:pic>
      <p:sp>
        <p:nvSpPr>
          <p:cNvPr id="5" name="Text 2"/>
          <p:cNvSpPr/>
          <p:nvPr/>
        </p:nvSpPr>
        <p:spPr>
          <a:xfrm>
            <a:off x="1371600" y="274320"/>
            <a:ext cx="2743200" cy="64008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Answer 4</a:t>
            </a:r>
            <a:endParaRPr lang="en-US" sz="1400" dirty="0"/>
          </a:p>
        </p:txBody>
      </p:sp>
      <p:sp>
        <p:nvSpPr>
          <p:cNvPr id="6" name="Text 3"/>
          <p:cNvSpPr/>
          <p:nvPr/>
        </p:nvSpPr>
        <p:spPr>
          <a:xfrm>
            <a:off x="548640" y="1051560"/>
            <a:ext cx="8046720" cy="50292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With n₁ = 15 and n₂ = 15, what are the degrees of freedom?</a:t>
            </a:r>
            <a:endParaRPr lang="en-US" sz="1400" dirty="0"/>
          </a:p>
        </p:txBody>
      </p:sp>
      <p:sp>
        <p:nvSpPr>
          <p:cNvPr id="7" name="Shape 4"/>
          <p:cNvSpPr/>
          <p:nvPr/>
        </p:nvSpPr>
        <p:spPr>
          <a:xfrm>
            <a:off x="548640" y="1691640"/>
            <a:ext cx="8046720" cy="1005840"/>
          </a:xfrm>
          <a:prstGeom prst="rect">
            <a:avLst/>
          </a:prstGeom>
          <a:solidFill>
            <a:srgbClr val="059669"/>
          </a:solidFill>
          <a:ln/>
          <a:effectLst>
            <a:outerShdw sx="100000" sy="100000" kx="0" ky="0" algn="bl" rotWithShape="0" blurRad="101600" dist="38100" dir="8100000">
              <a:srgbClr val="000000">
                <a:alpha val="15000"/>
              </a:srgbClr>
            </a:outerShdw>
          </a:effectLst>
        </p:spPr>
      </p:sp>
      <p:sp>
        <p:nvSpPr>
          <p:cNvPr id="8" name="Text 5"/>
          <p:cNvSpPr/>
          <p:nvPr/>
        </p:nvSpPr>
        <p:spPr>
          <a:xfrm>
            <a:off x="777240" y="1783080"/>
            <a:ext cx="640080" cy="82296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a:t>
            </a:r>
            <a:endParaRPr lang="en-US" sz="4000" dirty="0"/>
          </a:p>
        </p:txBody>
      </p:sp>
      <p:sp>
        <p:nvSpPr>
          <p:cNvPr id="9" name="Text 6"/>
          <p:cNvSpPr/>
          <p:nvPr/>
        </p:nvSpPr>
        <p:spPr>
          <a:xfrm>
            <a:off x="1463040" y="1691640"/>
            <a:ext cx="6858000" cy="10058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df = n₁ + n₂ − 2 = 15 + 15 − 2 = 28. You need this value to look up the critical t-value.</a:t>
            </a:r>
            <a:endParaRPr lang="en-US" sz="1600" dirty="0"/>
          </a:p>
        </p:txBody>
      </p:sp>
      <p:sp>
        <p:nvSpPr>
          <p:cNvPr id="10" name="Shape 7"/>
          <p:cNvSpPr/>
          <p:nvPr/>
        </p:nvSpPr>
        <p:spPr>
          <a:xfrm>
            <a:off x="548640" y="3017520"/>
            <a:ext cx="804672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8"/>
          <p:cNvSpPr/>
          <p:nvPr/>
        </p:nvSpPr>
        <p:spPr>
          <a:xfrm>
            <a:off x="777240" y="3200400"/>
            <a:ext cx="502920" cy="502920"/>
          </a:xfrm>
          <a:prstGeom prst="ellipse">
            <a:avLst/>
          </a:prstGeom>
          <a:solidFill>
            <a:srgbClr val="14B8A6"/>
          </a:solidFill>
          <a:ln/>
        </p:spPr>
      </p:sp>
      <p:pic>
        <p:nvPicPr>
          <p:cNvPr id="12" name="Image 1" descr="preencoded.png">    </p:cNvPr>
          <p:cNvPicPr>
            <a:picLocks noChangeAspect="1"/>
          </p:cNvPicPr>
          <p:nvPr/>
        </p:nvPicPr>
        <p:blipFill>
          <a:blip r:embed="rId2"/>
          <a:stretch>
            <a:fillRect/>
          </a:stretch>
        </p:blipFill>
        <p:spPr>
          <a:xfrm>
            <a:off x="877824" y="3291840"/>
            <a:ext cx="320040" cy="320040"/>
          </a:xfrm>
          <a:prstGeom prst="rect">
            <a:avLst/>
          </a:prstGeom>
        </p:spPr>
      </p:pic>
      <p:sp>
        <p:nvSpPr>
          <p:cNvPr id="13" name="Text 9"/>
          <p:cNvSpPr/>
          <p:nvPr/>
        </p:nvSpPr>
        <p:spPr>
          <a:xfrm>
            <a:off x="1463040" y="3154680"/>
            <a:ext cx="6400800" cy="365760"/>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Why it matters for your project</a:t>
            </a:r>
            <a:endParaRPr lang="en-US" sz="1400" dirty="0"/>
          </a:p>
        </p:txBody>
      </p:sp>
      <p:sp>
        <p:nvSpPr>
          <p:cNvPr id="14" name="Text 10"/>
          <p:cNvSpPr/>
          <p:nvPr/>
        </p:nvSpPr>
        <p:spPr>
          <a:xfrm>
            <a:off x="1463040" y="3520440"/>
            <a:ext cx="6858000" cy="8229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With df = 28 and α = 0.05 for a two-tailed test, the critical value is approximately t* = ±2.048. Make sure to use the correct row and column in the t-table.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FF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B8A6"/>
          </a:solidFill>
          <a:ln/>
        </p:spPr>
      </p:sp>
      <p:sp>
        <p:nvSpPr>
          <p:cNvPr id="3" name="Shape 1"/>
          <p:cNvSpPr/>
          <p:nvPr/>
        </p:nvSpPr>
        <p:spPr>
          <a:xfrm>
            <a:off x="548640" y="320040"/>
            <a:ext cx="640080" cy="64008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667512" y="429768"/>
            <a:ext cx="402336" cy="402336"/>
          </a:xfrm>
          <a:prstGeom prst="rect">
            <a:avLst/>
          </a:prstGeom>
        </p:spPr>
      </p:pic>
      <p:sp>
        <p:nvSpPr>
          <p:cNvPr id="5" name="Text 2"/>
          <p:cNvSpPr/>
          <p:nvPr/>
        </p:nvSpPr>
        <p:spPr>
          <a:xfrm>
            <a:off x="1371600" y="320040"/>
            <a:ext cx="2743200" cy="64008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Question 5</a:t>
            </a:r>
            <a:endParaRPr lang="en-US" sz="1400" dirty="0"/>
          </a:p>
        </p:txBody>
      </p:sp>
      <p:sp>
        <p:nvSpPr>
          <p:cNvPr id="6" name="Shape 3"/>
          <p:cNvSpPr/>
          <p:nvPr/>
        </p:nvSpPr>
        <p:spPr>
          <a:xfrm>
            <a:off x="548640" y="1188720"/>
            <a:ext cx="8046720" cy="1097280"/>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7" name="Shape 4"/>
          <p:cNvSpPr/>
          <p:nvPr/>
        </p:nvSpPr>
        <p:spPr>
          <a:xfrm>
            <a:off x="548640" y="1188720"/>
            <a:ext cx="64008" cy="1097280"/>
          </a:xfrm>
          <a:prstGeom prst="rect">
            <a:avLst/>
          </a:prstGeom>
          <a:solidFill>
            <a:srgbClr val="D97706"/>
          </a:solidFill>
          <a:ln/>
        </p:spPr>
      </p:sp>
      <p:sp>
        <p:nvSpPr>
          <p:cNvPr id="8" name="Text 5"/>
          <p:cNvSpPr/>
          <p:nvPr/>
        </p:nvSpPr>
        <p:spPr>
          <a:xfrm>
            <a:off x="868680" y="1188720"/>
            <a:ext cx="7498080" cy="1097280"/>
          </a:xfrm>
          <a:prstGeom prst="rect">
            <a:avLst/>
          </a:prstGeom>
          <a:noFill/>
          <a:ln/>
        </p:spPr>
        <p:txBody>
          <a:bodyPr wrap="square" lIns="0" tIns="0" rIns="0" bIns="0" rtlCol="0" anchor="ctr"/>
          <a:lstStyle/>
          <a:p>
            <a:pPr indent="0" marL="0">
              <a:buNone/>
            </a:pPr>
            <a:r>
              <a:rPr lang="en-US" sz="2000" b="1" dirty="0">
                <a:solidFill>
                  <a:srgbClr val="0F172A"/>
                </a:solidFill>
                <a:latin typeface="Georgia" pitchFamily="34" charset="0"/>
                <a:ea typeface="Georgia" pitchFamily="34" charset="-122"/>
                <a:cs typeface="Georgia" pitchFamily="34" charset="-120"/>
              </a:rPr>
              <a:t>You calculate a test statistic of t = 2.85. The critical value is t* = ±2.048. What do you conclude?</a:t>
            </a:r>
            <a:endParaRPr lang="en-US" sz="2000" dirty="0"/>
          </a:p>
        </p:txBody>
      </p:sp>
      <p:sp>
        <p:nvSpPr>
          <p:cNvPr id="9" name="Shape 6"/>
          <p:cNvSpPr/>
          <p:nvPr/>
        </p:nvSpPr>
        <p:spPr>
          <a:xfrm>
            <a:off x="548640" y="260604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731520" y="2670048"/>
            <a:ext cx="365760" cy="365760"/>
          </a:xfrm>
          <a:prstGeom prst="ellipse">
            <a:avLst/>
          </a:prstGeom>
          <a:solidFill>
            <a:srgbClr val="065A82"/>
          </a:solidFill>
          <a:ln/>
        </p:spPr>
      </p:sp>
      <p:sp>
        <p:nvSpPr>
          <p:cNvPr id="11" name="Text 8"/>
          <p:cNvSpPr/>
          <p:nvPr/>
        </p:nvSpPr>
        <p:spPr>
          <a:xfrm>
            <a:off x="731520" y="26700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2" name="Text 9"/>
          <p:cNvSpPr/>
          <p:nvPr/>
        </p:nvSpPr>
        <p:spPr>
          <a:xfrm>
            <a:off x="1280160" y="260604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Fail to reject H₀ — no significant difference</a:t>
            </a:r>
            <a:endParaRPr lang="en-US" sz="1500" dirty="0"/>
          </a:p>
        </p:txBody>
      </p:sp>
      <p:sp>
        <p:nvSpPr>
          <p:cNvPr id="13" name="Shape 10"/>
          <p:cNvSpPr/>
          <p:nvPr/>
        </p:nvSpPr>
        <p:spPr>
          <a:xfrm>
            <a:off x="548640" y="320040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1"/>
          <p:cNvSpPr/>
          <p:nvPr/>
        </p:nvSpPr>
        <p:spPr>
          <a:xfrm>
            <a:off x="731520" y="3264408"/>
            <a:ext cx="365760" cy="365760"/>
          </a:xfrm>
          <a:prstGeom prst="ellipse">
            <a:avLst/>
          </a:prstGeom>
          <a:solidFill>
            <a:srgbClr val="1C7293"/>
          </a:solidFill>
          <a:ln/>
        </p:spPr>
      </p:sp>
      <p:sp>
        <p:nvSpPr>
          <p:cNvPr id="15" name="Text 12"/>
          <p:cNvSpPr/>
          <p:nvPr/>
        </p:nvSpPr>
        <p:spPr>
          <a:xfrm>
            <a:off x="731520" y="32644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6" name="Text 13"/>
          <p:cNvSpPr/>
          <p:nvPr/>
        </p:nvSpPr>
        <p:spPr>
          <a:xfrm>
            <a:off x="1280160" y="320040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Reject H₀ — there is a significant difference</a:t>
            </a:r>
            <a:endParaRPr lang="en-US" sz="1500" dirty="0"/>
          </a:p>
        </p:txBody>
      </p:sp>
      <p:sp>
        <p:nvSpPr>
          <p:cNvPr id="17" name="Shape 14"/>
          <p:cNvSpPr/>
          <p:nvPr/>
        </p:nvSpPr>
        <p:spPr>
          <a:xfrm>
            <a:off x="548640" y="379476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5"/>
          <p:cNvSpPr/>
          <p:nvPr/>
        </p:nvSpPr>
        <p:spPr>
          <a:xfrm>
            <a:off x="731520" y="3858768"/>
            <a:ext cx="365760" cy="365760"/>
          </a:xfrm>
          <a:prstGeom prst="ellipse">
            <a:avLst/>
          </a:prstGeom>
          <a:solidFill>
            <a:srgbClr val="14B8A6"/>
          </a:solidFill>
          <a:ln/>
        </p:spPr>
      </p:sp>
      <p:sp>
        <p:nvSpPr>
          <p:cNvPr id="19" name="Text 16"/>
          <p:cNvSpPr/>
          <p:nvPr/>
        </p:nvSpPr>
        <p:spPr>
          <a:xfrm>
            <a:off x="731520" y="38587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0" name="Text 17"/>
          <p:cNvSpPr/>
          <p:nvPr/>
        </p:nvSpPr>
        <p:spPr>
          <a:xfrm>
            <a:off x="1280160" y="379476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Accept H₀ — the groups are identical</a:t>
            </a:r>
            <a:endParaRPr lang="en-US" sz="1500" dirty="0"/>
          </a:p>
        </p:txBody>
      </p:sp>
      <p:sp>
        <p:nvSpPr>
          <p:cNvPr id="21" name="Shape 18"/>
          <p:cNvSpPr/>
          <p:nvPr/>
        </p:nvSpPr>
        <p:spPr>
          <a:xfrm>
            <a:off x="548640" y="438912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2" name="Shape 19"/>
          <p:cNvSpPr/>
          <p:nvPr/>
        </p:nvSpPr>
        <p:spPr>
          <a:xfrm>
            <a:off x="731520" y="4453128"/>
            <a:ext cx="365760" cy="365760"/>
          </a:xfrm>
          <a:prstGeom prst="ellipse">
            <a:avLst/>
          </a:prstGeom>
          <a:solidFill>
            <a:srgbClr val="D97706"/>
          </a:solidFill>
          <a:ln/>
        </p:spPr>
      </p:sp>
      <p:sp>
        <p:nvSpPr>
          <p:cNvPr id="23" name="Text 20"/>
          <p:cNvSpPr/>
          <p:nvPr/>
        </p:nvSpPr>
        <p:spPr>
          <a:xfrm>
            <a:off x="731520" y="44531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4" name="Text 21"/>
          <p:cNvSpPr/>
          <p:nvPr/>
        </p:nvSpPr>
        <p:spPr>
          <a:xfrm>
            <a:off x="1280160" y="438912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The test is inconclusive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FF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548640" y="274320"/>
            <a:ext cx="640080" cy="640080"/>
          </a:xfrm>
          <a:prstGeom prst="ellipse">
            <a:avLst/>
          </a:prstGeom>
          <a:solidFill>
            <a:srgbClr val="059669"/>
          </a:solidFill>
          <a:ln/>
        </p:spPr>
      </p:sp>
      <p:pic>
        <p:nvPicPr>
          <p:cNvPr id="4" name="Image 0" descr="preencoded.png">    </p:cNvPr>
          <p:cNvPicPr>
            <a:picLocks noChangeAspect="1"/>
          </p:cNvPicPr>
          <p:nvPr/>
        </p:nvPicPr>
        <p:blipFill>
          <a:blip r:embed="rId1"/>
          <a:stretch>
            <a:fillRect/>
          </a:stretch>
        </p:blipFill>
        <p:spPr>
          <a:xfrm>
            <a:off x="667512" y="384048"/>
            <a:ext cx="402336" cy="402336"/>
          </a:xfrm>
          <a:prstGeom prst="rect">
            <a:avLst/>
          </a:prstGeom>
        </p:spPr>
      </p:pic>
      <p:sp>
        <p:nvSpPr>
          <p:cNvPr id="5" name="Text 2"/>
          <p:cNvSpPr/>
          <p:nvPr/>
        </p:nvSpPr>
        <p:spPr>
          <a:xfrm>
            <a:off x="1371600" y="274320"/>
            <a:ext cx="2743200" cy="64008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Answer 5</a:t>
            </a:r>
            <a:endParaRPr lang="en-US" sz="1400" dirty="0"/>
          </a:p>
        </p:txBody>
      </p:sp>
      <p:sp>
        <p:nvSpPr>
          <p:cNvPr id="6" name="Text 3"/>
          <p:cNvSpPr/>
          <p:nvPr/>
        </p:nvSpPr>
        <p:spPr>
          <a:xfrm>
            <a:off x="548640" y="1051560"/>
            <a:ext cx="8046720" cy="50292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 = 2.85 vs. t* = ±2.048 — what is your conclusion?</a:t>
            </a:r>
            <a:endParaRPr lang="en-US" sz="1400" dirty="0"/>
          </a:p>
        </p:txBody>
      </p:sp>
      <p:sp>
        <p:nvSpPr>
          <p:cNvPr id="7" name="Shape 4"/>
          <p:cNvSpPr/>
          <p:nvPr/>
        </p:nvSpPr>
        <p:spPr>
          <a:xfrm>
            <a:off x="548640" y="1691640"/>
            <a:ext cx="8046720" cy="1005840"/>
          </a:xfrm>
          <a:prstGeom prst="rect">
            <a:avLst/>
          </a:prstGeom>
          <a:solidFill>
            <a:srgbClr val="059669"/>
          </a:solidFill>
          <a:ln/>
          <a:effectLst>
            <a:outerShdw sx="100000" sy="100000" kx="0" ky="0" algn="bl" rotWithShape="0" blurRad="101600" dist="38100" dir="8100000">
              <a:srgbClr val="000000">
                <a:alpha val="15000"/>
              </a:srgbClr>
            </a:outerShdw>
          </a:effectLst>
        </p:spPr>
      </p:sp>
      <p:sp>
        <p:nvSpPr>
          <p:cNvPr id="8" name="Text 5"/>
          <p:cNvSpPr/>
          <p:nvPr/>
        </p:nvSpPr>
        <p:spPr>
          <a:xfrm>
            <a:off x="777240" y="1783080"/>
            <a:ext cx="640080" cy="82296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B</a:t>
            </a:r>
            <a:endParaRPr lang="en-US" sz="4000" dirty="0"/>
          </a:p>
        </p:txBody>
      </p:sp>
      <p:sp>
        <p:nvSpPr>
          <p:cNvPr id="9" name="Text 6"/>
          <p:cNvSpPr/>
          <p:nvPr/>
        </p:nvSpPr>
        <p:spPr>
          <a:xfrm>
            <a:off x="1463040" y="1691640"/>
            <a:ext cx="6858000" cy="10058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Since |2.85| &gt; 2.048, the test statistic falls in the rejection region. You reject H₀ and conclude a significant difference exists.</a:t>
            </a:r>
            <a:endParaRPr lang="en-US" sz="1600" dirty="0"/>
          </a:p>
        </p:txBody>
      </p:sp>
      <p:sp>
        <p:nvSpPr>
          <p:cNvPr id="10" name="Shape 7"/>
          <p:cNvSpPr/>
          <p:nvPr/>
        </p:nvSpPr>
        <p:spPr>
          <a:xfrm>
            <a:off x="548640" y="3017520"/>
            <a:ext cx="804672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8"/>
          <p:cNvSpPr/>
          <p:nvPr/>
        </p:nvSpPr>
        <p:spPr>
          <a:xfrm>
            <a:off x="777240" y="3200400"/>
            <a:ext cx="502920" cy="502920"/>
          </a:xfrm>
          <a:prstGeom prst="ellipse">
            <a:avLst/>
          </a:prstGeom>
          <a:solidFill>
            <a:srgbClr val="14B8A6"/>
          </a:solidFill>
          <a:ln/>
        </p:spPr>
      </p:sp>
      <p:pic>
        <p:nvPicPr>
          <p:cNvPr id="12" name="Image 1" descr="preencoded.png">    </p:cNvPr>
          <p:cNvPicPr>
            <a:picLocks noChangeAspect="1"/>
          </p:cNvPicPr>
          <p:nvPr/>
        </p:nvPicPr>
        <p:blipFill>
          <a:blip r:embed="rId2"/>
          <a:stretch>
            <a:fillRect/>
          </a:stretch>
        </p:blipFill>
        <p:spPr>
          <a:xfrm>
            <a:off x="877824" y="3291840"/>
            <a:ext cx="320040" cy="320040"/>
          </a:xfrm>
          <a:prstGeom prst="rect">
            <a:avLst/>
          </a:prstGeom>
        </p:spPr>
      </p:pic>
      <p:sp>
        <p:nvSpPr>
          <p:cNvPr id="13" name="Text 9"/>
          <p:cNvSpPr/>
          <p:nvPr/>
        </p:nvSpPr>
        <p:spPr>
          <a:xfrm>
            <a:off x="1463040" y="3154680"/>
            <a:ext cx="6400800" cy="365760"/>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Why it matters for your project</a:t>
            </a:r>
            <a:endParaRPr lang="en-US" sz="1400" dirty="0"/>
          </a:p>
        </p:txBody>
      </p:sp>
      <p:sp>
        <p:nvSpPr>
          <p:cNvPr id="14" name="Text 10"/>
          <p:cNvSpPr/>
          <p:nvPr/>
        </p:nvSpPr>
        <p:spPr>
          <a:xfrm>
            <a:off x="1463040" y="3520440"/>
            <a:ext cx="6858000" cy="8229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Always compare the absolute value of your t-statistic to the critical value. Write your conclusion in context: "At the 0.05 significance level, there is sufficient evidence to conclude that the two groups have significantly different responses."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FF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B8A6"/>
          </a:solidFill>
          <a:ln/>
        </p:spPr>
      </p:sp>
      <p:sp>
        <p:nvSpPr>
          <p:cNvPr id="3" name="Shape 1"/>
          <p:cNvSpPr/>
          <p:nvPr/>
        </p:nvSpPr>
        <p:spPr>
          <a:xfrm>
            <a:off x="548640" y="320040"/>
            <a:ext cx="640080" cy="64008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667512" y="429768"/>
            <a:ext cx="402336" cy="402336"/>
          </a:xfrm>
          <a:prstGeom prst="rect">
            <a:avLst/>
          </a:prstGeom>
        </p:spPr>
      </p:pic>
      <p:sp>
        <p:nvSpPr>
          <p:cNvPr id="5" name="Text 2"/>
          <p:cNvSpPr/>
          <p:nvPr/>
        </p:nvSpPr>
        <p:spPr>
          <a:xfrm>
            <a:off x="1371600" y="320040"/>
            <a:ext cx="2743200" cy="64008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Question 6</a:t>
            </a:r>
            <a:endParaRPr lang="en-US" sz="1400" dirty="0"/>
          </a:p>
        </p:txBody>
      </p:sp>
      <p:sp>
        <p:nvSpPr>
          <p:cNvPr id="6" name="Shape 3"/>
          <p:cNvSpPr/>
          <p:nvPr/>
        </p:nvSpPr>
        <p:spPr>
          <a:xfrm>
            <a:off x="548640" y="1188720"/>
            <a:ext cx="8046720" cy="1097280"/>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7" name="Shape 4"/>
          <p:cNvSpPr/>
          <p:nvPr/>
        </p:nvSpPr>
        <p:spPr>
          <a:xfrm>
            <a:off x="548640" y="1188720"/>
            <a:ext cx="64008" cy="1097280"/>
          </a:xfrm>
          <a:prstGeom prst="rect">
            <a:avLst/>
          </a:prstGeom>
          <a:solidFill>
            <a:srgbClr val="D97706"/>
          </a:solidFill>
          <a:ln/>
        </p:spPr>
      </p:sp>
      <p:sp>
        <p:nvSpPr>
          <p:cNvPr id="8" name="Text 5"/>
          <p:cNvSpPr/>
          <p:nvPr/>
        </p:nvSpPr>
        <p:spPr>
          <a:xfrm>
            <a:off x="868680" y="1188720"/>
            <a:ext cx="7498080" cy="1097280"/>
          </a:xfrm>
          <a:prstGeom prst="rect">
            <a:avLst/>
          </a:prstGeom>
          <a:noFill/>
          <a:ln/>
        </p:spPr>
        <p:txBody>
          <a:bodyPr wrap="square" lIns="0" tIns="0" rIns="0" bIns="0" rtlCol="0" anchor="ctr"/>
          <a:lstStyle/>
          <a:p>
            <a:pPr indent="0" marL="0">
              <a:buNone/>
            </a:pPr>
            <a:r>
              <a:rPr lang="en-US" sz="2000" b="1" dirty="0">
                <a:solidFill>
                  <a:srgbClr val="0F172A"/>
                </a:solidFill>
                <a:latin typeface="Georgia" pitchFamily="34" charset="0"/>
                <a:ea typeface="Georgia" pitchFamily="34" charset="-122"/>
                <a:cs typeface="Georgia" pitchFamily="34" charset="-120"/>
              </a:rPr>
              <a:t>What does "fail to reject H₀" mean?</a:t>
            </a:r>
            <a:endParaRPr lang="en-US" sz="2000" dirty="0"/>
          </a:p>
        </p:txBody>
      </p:sp>
      <p:sp>
        <p:nvSpPr>
          <p:cNvPr id="9" name="Shape 6"/>
          <p:cNvSpPr/>
          <p:nvPr/>
        </p:nvSpPr>
        <p:spPr>
          <a:xfrm>
            <a:off x="548640" y="260604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731520" y="2670048"/>
            <a:ext cx="365760" cy="365760"/>
          </a:xfrm>
          <a:prstGeom prst="ellipse">
            <a:avLst/>
          </a:prstGeom>
          <a:solidFill>
            <a:srgbClr val="065A82"/>
          </a:solidFill>
          <a:ln/>
        </p:spPr>
      </p:sp>
      <p:sp>
        <p:nvSpPr>
          <p:cNvPr id="11" name="Text 8"/>
          <p:cNvSpPr/>
          <p:nvPr/>
        </p:nvSpPr>
        <p:spPr>
          <a:xfrm>
            <a:off x="731520" y="26700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2" name="Text 9"/>
          <p:cNvSpPr/>
          <p:nvPr/>
        </p:nvSpPr>
        <p:spPr>
          <a:xfrm>
            <a:off x="1280160" y="260604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H₀ has been proven true beyond doubt</a:t>
            </a:r>
            <a:endParaRPr lang="en-US" sz="1500" dirty="0"/>
          </a:p>
        </p:txBody>
      </p:sp>
      <p:sp>
        <p:nvSpPr>
          <p:cNvPr id="13" name="Shape 10"/>
          <p:cNvSpPr/>
          <p:nvPr/>
        </p:nvSpPr>
        <p:spPr>
          <a:xfrm>
            <a:off x="548640" y="320040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1"/>
          <p:cNvSpPr/>
          <p:nvPr/>
        </p:nvSpPr>
        <p:spPr>
          <a:xfrm>
            <a:off x="731520" y="3264408"/>
            <a:ext cx="365760" cy="365760"/>
          </a:xfrm>
          <a:prstGeom prst="ellipse">
            <a:avLst/>
          </a:prstGeom>
          <a:solidFill>
            <a:srgbClr val="1C7293"/>
          </a:solidFill>
          <a:ln/>
        </p:spPr>
      </p:sp>
      <p:sp>
        <p:nvSpPr>
          <p:cNvPr id="15" name="Text 12"/>
          <p:cNvSpPr/>
          <p:nvPr/>
        </p:nvSpPr>
        <p:spPr>
          <a:xfrm>
            <a:off x="731520" y="32644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6" name="Text 13"/>
          <p:cNvSpPr/>
          <p:nvPr/>
        </p:nvSpPr>
        <p:spPr>
          <a:xfrm>
            <a:off x="1280160" y="320040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There is not enough evidence to conclude a difference exists</a:t>
            </a:r>
            <a:endParaRPr lang="en-US" sz="1500" dirty="0"/>
          </a:p>
        </p:txBody>
      </p:sp>
      <p:sp>
        <p:nvSpPr>
          <p:cNvPr id="17" name="Shape 14"/>
          <p:cNvSpPr/>
          <p:nvPr/>
        </p:nvSpPr>
        <p:spPr>
          <a:xfrm>
            <a:off x="548640" y="379476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5"/>
          <p:cNvSpPr/>
          <p:nvPr/>
        </p:nvSpPr>
        <p:spPr>
          <a:xfrm>
            <a:off x="731520" y="3858768"/>
            <a:ext cx="365760" cy="365760"/>
          </a:xfrm>
          <a:prstGeom prst="ellipse">
            <a:avLst/>
          </a:prstGeom>
          <a:solidFill>
            <a:srgbClr val="14B8A6"/>
          </a:solidFill>
          <a:ln/>
        </p:spPr>
      </p:sp>
      <p:sp>
        <p:nvSpPr>
          <p:cNvPr id="19" name="Text 16"/>
          <p:cNvSpPr/>
          <p:nvPr/>
        </p:nvSpPr>
        <p:spPr>
          <a:xfrm>
            <a:off x="731520" y="38587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0" name="Text 17"/>
          <p:cNvSpPr/>
          <p:nvPr/>
        </p:nvSpPr>
        <p:spPr>
          <a:xfrm>
            <a:off x="1280160" y="379476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The experiment failed and should be redone</a:t>
            </a:r>
            <a:endParaRPr lang="en-US" sz="1500" dirty="0"/>
          </a:p>
        </p:txBody>
      </p:sp>
      <p:sp>
        <p:nvSpPr>
          <p:cNvPr id="21" name="Shape 18"/>
          <p:cNvSpPr/>
          <p:nvPr/>
        </p:nvSpPr>
        <p:spPr>
          <a:xfrm>
            <a:off x="548640" y="438912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2" name="Shape 19"/>
          <p:cNvSpPr/>
          <p:nvPr/>
        </p:nvSpPr>
        <p:spPr>
          <a:xfrm>
            <a:off x="731520" y="4453128"/>
            <a:ext cx="365760" cy="365760"/>
          </a:xfrm>
          <a:prstGeom prst="ellipse">
            <a:avLst/>
          </a:prstGeom>
          <a:solidFill>
            <a:srgbClr val="D97706"/>
          </a:solidFill>
          <a:ln/>
        </p:spPr>
      </p:sp>
      <p:sp>
        <p:nvSpPr>
          <p:cNvPr id="23" name="Text 20"/>
          <p:cNvSpPr/>
          <p:nvPr/>
        </p:nvSpPr>
        <p:spPr>
          <a:xfrm>
            <a:off x="731520" y="44531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4" name="Text 21"/>
          <p:cNvSpPr/>
          <p:nvPr/>
        </p:nvSpPr>
        <p:spPr>
          <a:xfrm>
            <a:off x="1280160" y="438912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H₁ has been proven false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FF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548640" y="274320"/>
            <a:ext cx="640080" cy="640080"/>
          </a:xfrm>
          <a:prstGeom prst="ellipse">
            <a:avLst/>
          </a:prstGeom>
          <a:solidFill>
            <a:srgbClr val="059669"/>
          </a:solidFill>
          <a:ln/>
        </p:spPr>
      </p:sp>
      <p:pic>
        <p:nvPicPr>
          <p:cNvPr id="4" name="Image 0" descr="preencoded.png">    </p:cNvPr>
          <p:cNvPicPr>
            <a:picLocks noChangeAspect="1"/>
          </p:cNvPicPr>
          <p:nvPr/>
        </p:nvPicPr>
        <p:blipFill>
          <a:blip r:embed="rId1"/>
          <a:stretch>
            <a:fillRect/>
          </a:stretch>
        </p:blipFill>
        <p:spPr>
          <a:xfrm>
            <a:off x="667512" y="384048"/>
            <a:ext cx="402336" cy="402336"/>
          </a:xfrm>
          <a:prstGeom prst="rect">
            <a:avLst/>
          </a:prstGeom>
        </p:spPr>
      </p:pic>
      <p:sp>
        <p:nvSpPr>
          <p:cNvPr id="5" name="Text 2"/>
          <p:cNvSpPr/>
          <p:nvPr/>
        </p:nvSpPr>
        <p:spPr>
          <a:xfrm>
            <a:off x="1371600" y="274320"/>
            <a:ext cx="2743200" cy="64008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Answer 6</a:t>
            </a:r>
            <a:endParaRPr lang="en-US" sz="1400" dirty="0"/>
          </a:p>
        </p:txBody>
      </p:sp>
      <p:sp>
        <p:nvSpPr>
          <p:cNvPr id="6" name="Text 3"/>
          <p:cNvSpPr/>
          <p:nvPr/>
        </p:nvSpPr>
        <p:spPr>
          <a:xfrm>
            <a:off x="548640" y="1051560"/>
            <a:ext cx="8046720" cy="50292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What does "fail to reject H₀" mean?</a:t>
            </a:r>
            <a:endParaRPr lang="en-US" sz="1400" dirty="0"/>
          </a:p>
        </p:txBody>
      </p:sp>
      <p:sp>
        <p:nvSpPr>
          <p:cNvPr id="7" name="Shape 4"/>
          <p:cNvSpPr/>
          <p:nvPr/>
        </p:nvSpPr>
        <p:spPr>
          <a:xfrm>
            <a:off x="548640" y="1691640"/>
            <a:ext cx="8046720" cy="1005840"/>
          </a:xfrm>
          <a:prstGeom prst="rect">
            <a:avLst/>
          </a:prstGeom>
          <a:solidFill>
            <a:srgbClr val="059669"/>
          </a:solidFill>
          <a:ln/>
          <a:effectLst>
            <a:outerShdw sx="100000" sy="100000" kx="0" ky="0" algn="bl" rotWithShape="0" blurRad="101600" dist="38100" dir="8100000">
              <a:srgbClr val="000000">
                <a:alpha val="15000"/>
              </a:srgbClr>
            </a:outerShdw>
          </a:effectLst>
        </p:spPr>
      </p:sp>
      <p:sp>
        <p:nvSpPr>
          <p:cNvPr id="8" name="Text 5"/>
          <p:cNvSpPr/>
          <p:nvPr/>
        </p:nvSpPr>
        <p:spPr>
          <a:xfrm>
            <a:off x="777240" y="1783080"/>
            <a:ext cx="640080" cy="82296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B</a:t>
            </a:r>
            <a:endParaRPr lang="en-US" sz="4000" dirty="0"/>
          </a:p>
        </p:txBody>
      </p:sp>
      <p:sp>
        <p:nvSpPr>
          <p:cNvPr id="9" name="Text 6"/>
          <p:cNvSpPr/>
          <p:nvPr/>
        </p:nvSpPr>
        <p:spPr>
          <a:xfrm>
            <a:off x="1463040" y="1691640"/>
            <a:ext cx="6858000" cy="10058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It means the sample data did not provide enough evidence to reject the null hypothesis. It does NOT prove H₀ is true.</a:t>
            </a:r>
            <a:endParaRPr lang="en-US" sz="1600" dirty="0"/>
          </a:p>
        </p:txBody>
      </p:sp>
      <p:sp>
        <p:nvSpPr>
          <p:cNvPr id="10" name="Shape 7"/>
          <p:cNvSpPr/>
          <p:nvPr/>
        </p:nvSpPr>
        <p:spPr>
          <a:xfrm>
            <a:off x="548640" y="3017520"/>
            <a:ext cx="804672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8"/>
          <p:cNvSpPr/>
          <p:nvPr/>
        </p:nvSpPr>
        <p:spPr>
          <a:xfrm>
            <a:off x="777240" y="3200400"/>
            <a:ext cx="502920" cy="502920"/>
          </a:xfrm>
          <a:prstGeom prst="ellipse">
            <a:avLst/>
          </a:prstGeom>
          <a:solidFill>
            <a:srgbClr val="14B8A6"/>
          </a:solidFill>
          <a:ln/>
        </p:spPr>
      </p:sp>
      <p:pic>
        <p:nvPicPr>
          <p:cNvPr id="12" name="Image 1" descr="preencoded.png">    </p:cNvPr>
          <p:cNvPicPr>
            <a:picLocks noChangeAspect="1"/>
          </p:cNvPicPr>
          <p:nvPr/>
        </p:nvPicPr>
        <p:blipFill>
          <a:blip r:embed="rId2"/>
          <a:stretch>
            <a:fillRect/>
          </a:stretch>
        </p:blipFill>
        <p:spPr>
          <a:xfrm>
            <a:off x="877824" y="3291840"/>
            <a:ext cx="320040" cy="320040"/>
          </a:xfrm>
          <a:prstGeom prst="rect">
            <a:avLst/>
          </a:prstGeom>
        </p:spPr>
      </p:pic>
      <p:sp>
        <p:nvSpPr>
          <p:cNvPr id="13" name="Text 9"/>
          <p:cNvSpPr/>
          <p:nvPr/>
        </p:nvSpPr>
        <p:spPr>
          <a:xfrm>
            <a:off x="1463040" y="3154680"/>
            <a:ext cx="6400800" cy="365760"/>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Why it matters for your project</a:t>
            </a:r>
            <a:endParaRPr lang="en-US" sz="1400" dirty="0"/>
          </a:p>
        </p:txBody>
      </p:sp>
      <p:sp>
        <p:nvSpPr>
          <p:cNvPr id="14" name="Text 10"/>
          <p:cNvSpPr/>
          <p:nvPr/>
        </p:nvSpPr>
        <p:spPr>
          <a:xfrm>
            <a:off x="1463040" y="3520440"/>
            <a:ext cx="6858000" cy="8229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This is a key distinction. Never write "we accept H₀" or "we proved there is no difference." The correct phrasing is: "There is not sufficient evidence to conclude a significant difference at the 0.05 level."</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FF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B8A6"/>
          </a:solidFill>
          <a:ln/>
        </p:spPr>
      </p:sp>
      <p:sp>
        <p:nvSpPr>
          <p:cNvPr id="3" name="Shape 1"/>
          <p:cNvSpPr/>
          <p:nvPr/>
        </p:nvSpPr>
        <p:spPr>
          <a:xfrm>
            <a:off x="548640" y="320040"/>
            <a:ext cx="640080" cy="64008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667512" y="429768"/>
            <a:ext cx="402336" cy="402336"/>
          </a:xfrm>
          <a:prstGeom prst="rect">
            <a:avLst/>
          </a:prstGeom>
        </p:spPr>
      </p:pic>
      <p:sp>
        <p:nvSpPr>
          <p:cNvPr id="5" name="Text 2"/>
          <p:cNvSpPr/>
          <p:nvPr/>
        </p:nvSpPr>
        <p:spPr>
          <a:xfrm>
            <a:off x="1371600" y="320040"/>
            <a:ext cx="2743200" cy="64008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Question 7</a:t>
            </a:r>
            <a:endParaRPr lang="en-US" sz="1400" dirty="0"/>
          </a:p>
        </p:txBody>
      </p:sp>
      <p:sp>
        <p:nvSpPr>
          <p:cNvPr id="6" name="Shape 3"/>
          <p:cNvSpPr/>
          <p:nvPr/>
        </p:nvSpPr>
        <p:spPr>
          <a:xfrm>
            <a:off x="548640" y="1188720"/>
            <a:ext cx="8046720" cy="1097280"/>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7" name="Shape 4"/>
          <p:cNvSpPr/>
          <p:nvPr/>
        </p:nvSpPr>
        <p:spPr>
          <a:xfrm>
            <a:off x="548640" y="1188720"/>
            <a:ext cx="64008" cy="1097280"/>
          </a:xfrm>
          <a:prstGeom prst="rect">
            <a:avLst/>
          </a:prstGeom>
          <a:solidFill>
            <a:srgbClr val="D97706"/>
          </a:solidFill>
          <a:ln/>
        </p:spPr>
      </p:sp>
      <p:sp>
        <p:nvSpPr>
          <p:cNvPr id="8" name="Text 5"/>
          <p:cNvSpPr/>
          <p:nvPr/>
        </p:nvSpPr>
        <p:spPr>
          <a:xfrm>
            <a:off x="868680" y="1188720"/>
            <a:ext cx="7498080" cy="1097280"/>
          </a:xfrm>
          <a:prstGeom prst="rect">
            <a:avLst/>
          </a:prstGeom>
          <a:noFill/>
          <a:ln/>
        </p:spPr>
        <p:txBody>
          <a:bodyPr wrap="square" lIns="0" tIns="0" rIns="0" bIns="0" rtlCol="0" anchor="ctr"/>
          <a:lstStyle/>
          <a:p>
            <a:pPr indent="0" marL="0">
              <a:buNone/>
            </a:pPr>
            <a:r>
              <a:rPr lang="en-US" sz="2000" b="1" dirty="0">
                <a:solidFill>
                  <a:srgbClr val="0F172A"/>
                </a:solidFill>
                <a:latin typeface="Georgia" pitchFamily="34" charset="0"/>
                <a:ea typeface="Georgia" pitchFamily="34" charset="-122"/>
                <a:cs typeface="Georgia" pitchFamily="34" charset="-120"/>
              </a:rPr>
              <a:t>Which statistic measures the spread of your sample data?</a:t>
            </a:r>
            <a:endParaRPr lang="en-US" sz="2000" dirty="0"/>
          </a:p>
        </p:txBody>
      </p:sp>
      <p:sp>
        <p:nvSpPr>
          <p:cNvPr id="9" name="Shape 6"/>
          <p:cNvSpPr/>
          <p:nvPr/>
        </p:nvSpPr>
        <p:spPr>
          <a:xfrm>
            <a:off x="548640" y="260604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731520" y="2670048"/>
            <a:ext cx="365760" cy="365760"/>
          </a:xfrm>
          <a:prstGeom prst="ellipse">
            <a:avLst/>
          </a:prstGeom>
          <a:solidFill>
            <a:srgbClr val="065A82"/>
          </a:solidFill>
          <a:ln/>
        </p:spPr>
      </p:sp>
      <p:sp>
        <p:nvSpPr>
          <p:cNvPr id="11" name="Text 8"/>
          <p:cNvSpPr/>
          <p:nvPr/>
        </p:nvSpPr>
        <p:spPr>
          <a:xfrm>
            <a:off x="731520" y="26700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2" name="Text 9"/>
          <p:cNvSpPr/>
          <p:nvPr/>
        </p:nvSpPr>
        <p:spPr>
          <a:xfrm>
            <a:off x="1280160" y="260604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The mean</a:t>
            </a:r>
            <a:endParaRPr lang="en-US" sz="1500" dirty="0"/>
          </a:p>
        </p:txBody>
      </p:sp>
      <p:sp>
        <p:nvSpPr>
          <p:cNvPr id="13" name="Shape 10"/>
          <p:cNvSpPr/>
          <p:nvPr/>
        </p:nvSpPr>
        <p:spPr>
          <a:xfrm>
            <a:off x="548640" y="320040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1"/>
          <p:cNvSpPr/>
          <p:nvPr/>
        </p:nvSpPr>
        <p:spPr>
          <a:xfrm>
            <a:off x="731520" y="3264408"/>
            <a:ext cx="365760" cy="365760"/>
          </a:xfrm>
          <a:prstGeom prst="ellipse">
            <a:avLst/>
          </a:prstGeom>
          <a:solidFill>
            <a:srgbClr val="1C7293"/>
          </a:solidFill>
          <a:ln/>
        </p:spPr>
      </p:sp>
      <p:sp>
        <p:nvSpPr>
          <p:cNvPr id="15" name="Text 12"/>
          <p:cNvSpPr/>
          <p:nvPr/>
        </p:nvSpPr>
        <p:spPr>
          <a:xfrm>
            <a:off x="731520" y="32644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6" name="Text 13"/>
          <p:cNvSpPr/>
          <p:nvPr/>
        </p:nvSpPr>
        <p:spPr>
          <a:xfrm>
            <a:off x="1280160" y="320040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The median</a:t>
            </a:r>
            <a:endParaRPr lang="en-US" sz="1500" dirty="0"/>
          </a:p>
        </p:txBody>
      </p:sp>
      <p:sp>
        <p:nvSpPr>
          <p:cNvPr id="17" name="Shape 14"/>
          <p:cNvSpPr/>
          <p:nvPr/>
        </p:nvSpPr>
        <p:spPr>
          <a:xfrm>
            <a:off x="548640" y="379476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5"/>
          <p:cNvSpPr/>
          <p:nvPr/>
        </p:nvSpPr>
        <p:spPr>
          <a:xfrm>
            <a:off x="731520" y="3858768"/>
            <a:ext cx="365760" cy="365760"/>
          </a:xfrm>
          <a:prstGeom prst="ellipse">
            <a:avLst/>
          </a:prstGeom>
          <a:solidFill>
            <a:srgbClr val="14B8A6"/>
          </a:solidFill>
          <a:ln/>
        </p:spPr>
      </p:sp>
      <p:sp>
        <p:nvSpPr>
          <p:cNvPr id="19" name="Text 16"/>
          <p:cNvSpPr/>
          <p:nvPr/>
        </p:nvSpPr>
        <p:spPr>
          <a:xfrm>
            <a:off x="731520" y="38587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0" name="Text 17"/>
          <p:cNvSpPr/>
          <p:nvPr/>
        </p:nvSpPr>
        <p:spPr>
          <a:xfrm>
            <a:off x="1280160" y="379476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The mode</a:t>
            </a:r>
            <a:endParaRPr lang="en-US" sz="1500" dirty="0"/>
          </a:p>
        </p:txBody>
      </p:sp>
      <p:sp>
        <p:nvSpPr>
          <p:cNvPr id="21" name="Shape 18"/>
          <p:cNvSpPr/>
          <p:nvPr/>
        </p:nvSpPr>
        <p:spPr>
          <a:xfrm>
            <a:off x="548640" y="438912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2" name="Shape 19"/>
          <p:cNvSpPr/>
          <p:nvPr/>
        </p:nvSpPr>
        <p:spPr>
          <a:xfrm>
            <a:off x="731520" y="4453128"/>
            <a:ext cx="365760" cy="365760"/>
          </a:xfrm>
          <a:prstGeom prst="ellipse">
            <a:avLst/>
          </a:prstGeom>
          <a:solidFill>
            <a:srgbClr val="D97706"/>
          </a:solidFill>
          <a:ln/>
        </p:spPr>
      </p:sp>
      <p:sp>
        <p:nvSpPr>
          <p:cNvPr id="23" name="Text 20"/>
          <p:cNvSpPr/>
          <p:nvPr/>
        </p:nvSpPr>
        <p:spPr>
          <a:xfrm>
            <a:off x="731520" y="44531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4" name="Text 21"/>
          <p:cNvSpPr/>
          <p:nvPr/>
        </p:nvSpPr>
        <p:spPr>
          <a:xfrm>
            <a:off x="1280160" y="438912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The standard deviation</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FF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548640" y="274320"/>
            <a:ext cx="640080" cy="640080"/>
          </a:xfrm>
          <a:prstGeom prst="ellipse">
            <a:avLst/>
          </a:prstGeom>
          <a:solidFill>
            <a:srgbClr val="059669"/>
          </a:solidFill>
          <a:ln/>
        </p:spPr>
      </p:sp>
      <p:pic>
        <p:nvPicPr>
          <p:cNvPr id="4" name="Image 0" descr="preencoded.png">    </p:cNvPr>
          <p:cNvPicPr>
            <a:picLocks noChangeAspect="1"/>
          </p:cNvPicPr>
          <p:nvPr/>
        </p:nvPicPr>
        <p:blipFill>
          <a:blip r:embed="rId1"/>
          <a:stretch>
            <a:fillRect/>
          </a:stretch>
        </p:blipFill>
        <p:spPr>
          <a:xfrm>
            <a:off x="667512" y="384048"/>
            <a:ext cx="402336" cy="402336"/>
          </a:xfrm>
          <a:prstGeom prst="rect">
            <a:avLst/>
          </a:prstGeom>
        </p:spPr>
      </p:pic>
      <p:sp>
        <p:nvSpPr>
          <p:cNvPr id="5" name="Text 2"/>
          <p:cNvSpPr/>
          <p:nvPr/>
        </p:nvSpPr>
        <p:spPr>
          <a:xfrm>
            <a:off x="1371600" y="274320"/>
            <a:ext cx="2743200" cy="64008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Answer 7</a:t>
            </a:r>
            <a:endParaRPr lang="en-US" sz="1400" dirty="0"/>
          </a:p>
        </p:txBody>
      </p:sp>
      <p:sp>
        <p:nvSpPr>
          <p:cNvPr id="6" name="Text 3"/>
          <p:cNvSpPr/>
          <p:nvPr/>
        </p:nvSpPr>
        <p:spPr>
          <a:xfrm>
            <a:off x="548640" y="1051560"/>
            <a:ext cx="8046720" cy="50292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Which statistic measures the spread of your sample data?</a:t>
            </a:r>
            <a:endParaRPr lang="en-US" sz="1400" dirty="0"/>
          </a:p>
        </p:txBody>
      </p:sp>
      <p:sp>
        <p:nvSpPr>
          <p:cNvPr id="7" name="Shape 4"/>
          <p:cNvSpPr/>
          <p:nvPr/>
        </p:nvSpPr>
        <p:spPr>
          <a:xfrm>
            <a:off x="548640" y="1691640"/>
            <a:ext cx="8046720" cy="1005840"/>
          </a:xfrm>
          <a:prstGeom prst="rect">
            <a:avLst/>
          </a:prstGeom>
          <a:solidFill>
            <a:srgbClr val="059669"/>
          </a:solidFill>
          <a:ln/>
          <a:effectLst>
            <a:outerShdw sx="100000" sy="100000" kx="0" ky="0" algn="bl" rotWithShape="0" blurRad="101600" dist="38100" dir="8100000">
              <a:srgbClr val="000000">
                <a:alpha val="15000"/>
              </a:srgbClr>
            </a:outerShdw>
          </a:effectLst>
        </p:spPr>
      </p:sp>
      <p:sp>
        <p:nvSpPr>
          <p:cNvPr id="8" name="Text 5"/>
          <p:cNvSpPr/>
          <p:nvPr/>
        </p:nvSpPr>
        <p:spPr>
          <a:xfrm>
            <a:off x="777240" y="1783080"/>
            <a:ext cx="640080" cy="82296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D</a:t>
            </a:r>
            <a:endParaRPr lang="en-US" sz="4000" dirty="0"/>
          </a:p>
        </p:txBody>
      </p:sp>
      <p:sp>
        <p:nvSpPr>
          <p:cNvPr id="9" name="Text 6"/>
          <p:cNvSpPr/>
          <p:nvPr/>
        </p:nvSpPr>
        <p:spPr>
          <a:xfrm>
            <a:off x="1463040" y="1691640"/>
            <a:ext cx="6858000" cy="10058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The standard deviation measures how spread out the data values are from the mean. It's essential for computing the t-statistic.</a:t>
            </a:r>
            <a:endParaRPr lang="en-US" sz="1600" dirty="0"/>
          </a:p>
        </p:txBody>
      </p:sp>
      <p:sp>
        <p:nvSpPr>
          <p:cNvPr id="10" name="Shape 7"/>
          <p:cNvSpPr/>
          <p:nvPr/>
        </p:nvSpPr>
        <p:spPr>
          <a:xfrm>
            <a:off x="548640" y="3017520"/>
            <a:ext cx="804672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8"/>
          <p:cNvSpPr/>
          <p:nvPr/>
        </p:nvSpPr>
        <p:spPr>
          <a:xfrm>
            <a:off x="777240" y="3200400"/>
            <a:ext cx="502920" cy="502920"/>
          </a:xfrm>
          <a:prstGeom prst="ellipse">
            <a:avLst/>
          </a:prstGeom>
          <a:solidFill>
            <a:srgbClr val="14B8A6"/>
          </a:solidFill>
          <a:ln/>
        </p:spPr>
      </p:sp>
      <p:pic>
        <p:nvPicPr>
          <p:cNvPr id="12" name="Image 1" descr="preencoded.png">    </p:cNvPr>
          <p:cNvPicPr>
            <a:picLocks noChangeAspect="1"/>
          </p:cNvPicPr>
          <p:nvPr/>
        </p:nvPicPr>
        <p:blipFill>
          <a:blip r:embed="rId2"/>
          <a:stretch>
            <a:fillRect/>
          </a:stretch>
        </p:blipFill>
        <p:spPr>
          <a:xfrm>
            <a:off x="877824" y="3291840"/>
            <a:ext cx="320040" cy="320040"/>
          </a:xfrm>
          <a:prstGeom prst="rect">
            <a:avLst/>
          </a:prstGeom>
        </p:spPr>
      </p:pic>
      <p:sp>
        <p:nvSpPr>
          <p:cNvPr id="13" name="Text 9"/>
          <p:cNvSpPr/>
          <p:nvPr/>
        </p:nvSpPr>
        <p:spPr>
          <a:xfrm>
            <a:off x="1463040" y="3154680"/>
            <a:ext cx="6400800" cy="365760"/>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Why it matters for your project</a:t>
            </a:r>
            <a:endParaRPr lang="en-US" sz="1400" dirty="0"/>
          </a:p>
        </p:txBody>
      </p:sp>
      <p:sp>
        <p:nvSpPr>
          <p:cNvPr id="14" name="Text 10"/>
          <p:cNvSpPr/>
          <p:nvPr/>
        </p:nvSpPr>
        <p:spPr>
          <a:xfrm>
            <a:off x="1463040" y="3520440"/>
            <a:ext cx="6858000" cy="8229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Your project requires you to compute the mean, median, mode, and standard deviation for each group. The standard deviation (s) feeds directly into the t-test formula: t = (x̄₁ − x̄₂) / √(s₁²/n₁ + s₂²/n₂).</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FF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B8A6"/>
          </a:solidFill>
          <a:ln/>
        </p:spPr>
      </p:sp>
      <p:sp>
        <p:nvSpPr>
          <p:cNvPr id="3" name="Shape 1"/>
          <p:cNvSpPr/>
          <p:nvPr/>
        </p:nvSpPr>
        <p:spPr>
          <a:xfrm>
            <a:off x="548640" y="320040"/>
            <a:ext cx="640080" cy="64008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667512" y="429768"/>
            <a:ext cx="402336" cy="402336"/>
          </a:xfrm>
          <a:prstGeom prst="rect">
            <a:avLst/>
          </a:prstGeom>
        </p:spPr>
      </p:pic>
      <p:sp>
        <p:nvSpPr>
          <p:cNvPr id="5" name="Text 2"/>
          <p:cNvSpPr/>
          <p:nvPr/>
        </p:nvSpPr>
        <p:spPr>
          <a:xfrm>
            <a:off x="1371600" y="320040"/>
            <a:ext cx="2743200" cy="64008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Question 8</a:t>
            </a:r>
            <a:endParaRPr lang="en-US" sz="1400" dirty="0"/>
          </a:p>
        </p:txBody>
      </p:sp>
      <p:sp>
        <p:nvSpPr>
          <p:cNvPr id="6" name="Shape 3"/>
          <p:cNvSpPr/>
          <p:nvPr/>
        </p:nvSpPr>
        <p:spPr>
          <a:xfrm>
            <a:off x="548640" y="1188720"/>
            <a:ext cx="8046720" cy="1097280"/>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7" name="Shape 4"/>
          <p:cNvSpPr/>
          <p:nvPr/>
        </p:nvSpPr>
        <p:spPr>
          <a:xfrm>
            <a:off x="548640" y="1188720"/>
            <a:ext cx="64008" cy="1097280"/>
          </a:xfrm>
          <a:prstGeom prst="rect">
            <a:avLst/>
          </a:prstGeom>
          <a:solidFill>
            <a:srgbClr val="D97706"/>
          </a:solidFill>
          <a:ln/>
        </p:spPr>
      </p:sp>
      <p:sp>
        <p:nvSpPr>
          <p:cNvPr id="8" name="Text 5"/>
          <p:cNvSpPr/>
          <p:nvPr/>
        </p:nvSpPr>
        <p:spPr>
          <a:xfrm>
            <a:off x="868680" y="1188720"/>
            <a:ext cx="7498080" cy="1097280"/>
          </a:xfrm>
          <a:prstGeom prst="rect">
            <a:avLst/>
          </a:prstGeom>
          <a:noFill/>
          <a:ln/>
        </p:spPr>
        <p:txBody>
          <a:bodyPr wrap="square" lIns="0" tIns="0" rIns="0" bIns="0" rtlCol="0" anchor="ctr"/>
          <a:lstStyle/>
          <a:p>
            <a:pPr indent="0" marL="0">
              <a:buNone/>
            </a:pPr>
            <a:r>
              <a:rPr lang="en-US" sz="2000" b="1" dirty="0">
                <a:solidFill>
                  <a:srgbClr val="0F172A"/>
                </a:solidFill>
                <a:latin typeface="Georgia" pitchFamily="34" charset="0"/>
                <a:ea typeface="Georgia" pitchFamily="34" charset="-122"/>
                <a:cs typeface="Georgia" pitchFamily="34" charset="-120"/>
              </a:rPr>
              <a:t>A 90% confidence interval for a sample mean is (12.3, 18.7). What does this tell you?</a:t>
            </a:r>
            <a:endParaRPr lang="en-US" sz="2000" dirty="0"/>
          </a:p>
        </p:txBody>
      </p:sp>
      <p:sp>
        <p:nvSpPr>
          <p:cNvPr id="9" name="Shape 6"/>
          <p:cNvSpPr/>
          <p:nvPr/>
        </p:nvSpPr>
        <p:spPr>
          <a:xfrm>
            <a:off x="548640" y="260604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731520" y="2670048"/>
            <a:ext cx="365760" cy="365760"/>
          </a:xfrm>
          <a:prstGeom prst="ellipse">
            <a:avLst/>
          </a:prstGeom>
          <a:solidFill>
            <a:srgbClr val="065A82"/>
          </a:solidFill>
          <a:ln/>
        </p:spPr>
      </p:sp>
      <p:sp>
        <p:nvSpPr>
          <p:cNvPr id="11" name="Text 8"/>
          <p:cNvSpPr/>
          <p:nvPr/>
        </p:nvSpPr>
        <p:spPr>
          <a:xfrm>
            <a:off x="731520" y="26700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2" name="Text 9"/>
          <p:cNvSpPr/>
          <p:nvPr/>
        </p:nvSpPr>
        <p:spPr>
          <a:xfrm>
            <a:off x="1280160" y="260604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90% of the data falls between 12.3 and 18.7</a:t>
            </a:r>
            <a:endParaRPr lang="en-US" sz="1500" dirty="0"/>
          </a:p>
        </p:txBody>
      </p:sp>
      <p:sp>
        <p:nvSpPr>
          <p:cNvPr id="13" name="Shape 10"/>
          <p:cNvSpPr/>
          <p:nvPr/>
        </p:nvSpPr>
        <p:spPr>
          <a:xfrm>
            <a:off x="548640" y="320040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1"/>
          <p:cNvSpPr/>
          <p:nvPr/>
        </p:nvSpPr>
        <p:spPr>
          <a:xfrm>
            <a:off x="731520" y="3264408"/>
            <a:ext cx="365760" cy="365760"/>
          </a:xfrm>
          <a:prstGeom prst="ellipse">
            <a:avLst/>
          </a:prstGeom>
          <a:solidFill>
            <a:srgbClr val="1C7293"/>
          </a:solidFill>
          <a:ln/>
        </p:spPr>
      </p:sp>
      <p:sp>
        <p:nvSpPr>
          <p:cNvPr id="15" name="Text 12"/>
          <p:cNvSpPr/>
          <p:nvPr/>
        </p:nvSpPr>
        <p:spPr>
          <a:xfrm>
            <a:off x="731520" y="32644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6" name="Text 13"/>
          <p:cNvSpPr/>
          <p:nvPr/>
        </p:nvSpPr>
        <p:spPr>
          <a:xfrm>
            <a:off x="1280160" y="320040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The population mean is definitely between 12.3 and 18.7</a:t>
            </a:r>
            <a:endParaRPr lang="en-US" sz="1500" dirty="0"/>
          </a:p>
        </p:txBody>
      </p:sp>
      <p:sp>
        <p:nvSpPr>
          <p:cNvPr id="17" name="Shape 14"/>
          <p:cNvSpPr/>
          <p:nvPr/>
        </p:nvSpPr>
        <p:spPr>
          <a:xfrm>
            <a:off x="548640" y="379476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5"/>
          <p:cNvSpPr/>
          <p:nvPr/>
        </p:nvSpPr>
        <p:spPr>
          <a:xfrm>
            <a:off x="731520" y="3858768"/>
            <a:ext cx="365760" cy="365760"/>
          </a:xfrm>
          <a:prstGeom prst="ellipse">
            <a:avLst/>
          </a:prstGeom>
          <a:solidFill>
            <a:srgbClr val="14B8A6"/>
          </a:solidFill>
          <a:ln/>
        </p:spPr>
      </p:sp>
      <p:sp>
        <p:nvSpPr>
          <p:cNvPr id="19" name="Text 16"/>
          <p:cNvSpPr/>
          <p:nvPr/>
        </p:nvSpPr>
        <p:spPr>
          <a:xfrm>
            <a:off x="731520" y="38587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0" name="Text 17"/>
          <p:cNvSpPr/>
          <p:nvPr/>
        </p:nvSpPr>
        <p:spPr>
          <a:xfrm>
            <a:off x="1280160" y="379476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We are 90% confident the true population mean lies in this interval</a:t>
            </a:r>
            <a:endParaRPr lang="en-US" sz="1500" dirty="0"/>
          </a:p>
        </p:txBody>
      </p:sp>
      <p:sp>
        <p:nvSpPr>
          <p:cNvPr id="21" name="Shape 18"/>
          <p:cNvSpPr/>
          <p:nvPr/>
        </p:nvSpPr>
        <p:spPr>
          <a:xfrm>
            <a:off x="548640" y="438912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2" name="Shape 19"/>
          <p:cNvSpPr/>
          <p:nvPr/>
        </p:nvSpPr>
        <p:spPr>
          <a:xfrm>
            <a:off x="731520" y="4453128"/>
            <a:ext cx="365760" cy="365760"/>
          </a:xfrm>
          <a:prstGeom prst="ellipse">
            <a:avLst/>
          </a:prstGeom>
          <a:solidFill>
            <a:srgbClr val="D97706"/>
          </a:solidFill>
          <a:ln/>
        </p:spPr>
      </p:sp>
      <p:sp>
        <p:nvSpPr>
          <p:cNvPr id="23" name="Text 20"/>
          <p:cNvSpPr/>
          <p:nvPr/>
        </p:nvSpPr>
        <p:spPr>
          <a:xfrm>
            <a:off x="731520" y="44531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4" name="Text 21"/>
          <p:cNvSpPr/>
          <p:nvPr/>
        </p:nvSpPr>
        <p:spPr>
          <a:xfrm>
            <a:off x="1280160" y="438912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There is a 90% chance the sample mean is correct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FF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548640" y="274320"/>
            <a:ext cx="640080" cy="640080"/>
          </a:xfrm>
          <a:prstGeom prst="ellipse">
            <a:avLst/>
          </a:prstGeom>
          <a:solidFill>
            <a:srgbClr val="059669"/>
          </a:solidFill>
          <a:ln/>
        </p:spPr>
      </p:sp>
      <p:pic>
        <p:nvPicPr>
          <p:cNvPr id="4" name="Image 0" descr="preencoded.png">    </p:cNvPr>
          <p:cNvPicPr>
            <a:picLocks noChangeAspect="1"/>
          </p:cNvPicPr>
          <p:nvPr/>
        </p:nvPicPr>
        <p:blipFill>
          <a:blip r:embed="rId1"/>
          <a:stretch>
            <a:fillRect/>
          </a:stretch>
        </p:blipFill>
        <p:spPr>
          <a:xfrm>
            <a:off x="667512" y="384048"/>
            <a:ext cx="402336" cy="402336"/>
          </a:xfrm>
          <a:prstGeom prst="rect">
            <a:avLst/>
          </a:prstGeom>
        </p:spPr>
      </p:pic>
      <p:sp>
        <p:nvSpPr>
          <p:cNvPr id="5" name="Text 2"/>
          <p:cNvSpPr/>
          <p:nvPr/>
        </p:nvSpPr>
        <p:spPr>
          <a:xfrm>
            <a:off x="1371600" y="274320"/>
            <a:ext cx="2743200" cy="64008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Answer 8</a:t>
            </a:r>
            <a:endParaRPr lang="en-US" sz="1400" dirty="0"/>
          </a:p>
        </p:txBody>
      </p:sp>
      <p:sp>
        <p:nvSpPr>
          <p:cNvPr id="6" name="Text 3"/>
          <p:cNvSpPr/>
          <p:nvPr/>
        </p:nvSpPr>
        <p:spPr>
          <a:xfrm>
            <a:off x="548640" y="1051560"/>
            <a:ext cx="8046720" cy="50292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What does a 90% confidence interval tell you?</a:t>
            </a:r>
            <a:endParaRPr lang="en-US" sz="1400" dirty="0"/>
          </a:p>
        </p:txBody>
      </p:sp>
      <p:sp>
        <p:nvSpPr>
          <p:cNvPr id="7" name="Shape 4"/>
          <p:cNvSpPr/>
          <p:nvPr/>
        </p:nvSpPr>
        <p:spPr>
          <a:xfrm>
            <a:off x="548640" y="1691640"/>
            <a:ext cx="8046720" cy="1005840"/>
          </a:xfrm>
          <a:prstGeom prst="rect">
            <a:avLst/>
          </a:prstGeom>
          <a:solidFill>
            <a:srgbClr val="059669"/>
          </a:solidFill>
          <a:ln/>
          <a:effectLst>
            <a:outerShdw sx="100000" sy="100000" kx="0" ky="0" algn="bl" rotWithShape="0" blurRad="101600" dist="38100" dir="8100000">
              <a:srgbClr val="000000">
                <a:alpha val="15000"/>
              </a:srgbClr>
            </a:outerShdw>
          </a:effectLst>
        </p:spPr>
      </p:sp>
      <p:sp>
        <p:nvSpPr>
          <p:cNvPr id="8" name="Text 5"/>
          <p:cNvSpPr/>
          <p:nvPr/>
        </p:nvSpPr>
        <p:spPr>
          <a:xfrm>
            <a:off x="777240" y="1783080"/>
            <a:ext cx="640080" cy="82296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a:t>
            </a:r>
            <a:endParaRPr lang="en-US" sz="4000" dirty="0"/>
          </a:p>
        </p:txBody>
      </p:sp>
      <p:sp>
        <p:nvSpPr>
          <p:cNvPr id="9" name="Text 6"/>
          <p:cNvSpPr/>
          <p:nvPr/>
        </p:nvSpPr>
        <p:spPr>
          <a:xfrm>
            <a:off x="1463040" y="1691640"/>
            <a:ext cx="6858000" cy="10058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We are 90% confident that the true population mean falls within the interval (12.3, 18.7).</a:t>
            </a:r>
            <a:endParaRPr lang="en-US" sz="1600" dirty="0"/>
          </a:p>
        </p:txBody>
      </p:sp>
      <p:sp>
        <p:nvSpPr>
          <p:cNvPr id="10" name="Shape 7"/>
          <p:cNvSpPr/>
          <p:nvPr/>
        </p:nvSpPr>
        <p:spPr>
          <a:xfrm>
            <a:off x="548640" y="3017520"/>
            <a:ext cx="804672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8"/>
          <p:cNvSpPr/>
          <p:nvPr/>
        </p:nvSpPr>
        <p:spPr>
          <a:xfrm>
            <a:off x="777240" y="3200400"/>
            <a:ext cx="502920" cy="502920"/>
          </a:xfrm>
          <a:prstGeom prst="ellipse">
            <a:avLst/>
          </a:prstGeom>
          <a:solidFill>
            <a:srgbClr val="14B8A6"/>
          </a:solidFill>
          <a:ln/>
        </p:spPr>
      </p:sp>
      <p:pic>
        <p:nvPicPr>
          <p:cNvPr id="12" name="Image 1" descr="preencoded.png">    </p:cNvPr>
          <p:cNvPicPr>
            <a:picLocks noChangeAspect="1"/>
          </p:cNvPicPr>
          <p:nvPr/>
        </p:nvPicPr>
        <p:blipFill>
          <a:blip r:embed="rId2"/>
          <a:stretch>
            <a:fillRect/>
          </a:stretch>
        </p:blipFill>
        <p:spPr>
          <a:xfrm>
            <a:off x="877824" y="3291840"/>
            <a:ext cx="320040" cy="320040"/>
          </a:xfrm>
          <a:prstGeom prst="rect">
            <a:avLst/>
          </a:prstGeom>
        </p:spPr>
      </p:pic>
      <p:sp>
        <p:nvSpPr>
          <p:cNvPr id="13" name="Text 9"/>
          <p:cNvSpPr/>
          <p:nvPr/>
        </p:nvSpPr>
        <p:spPr>
          <a:xfrm>
            <a:off x="1463040" y="3154680"/>
            <a:ext cx="6400800" cy="365760"/>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Why it matters for your project</a:t>
            </a:r>
            <a:endParaRPr lang="en-US" sz="1400" dirty="0"/>
          </a:p>
        </p:txBody>
      </p:sp>
      <p:sp>
        <p:nvSpPr>
          <p:cNvPr id="14" name="Text 10"/>
          <p:cNvSpPr/>
          <p:nvPr/>
        </p:nvSpPr>
        <p:spPr>
          <a:xfrm>
            <a:off x="1463040" y="3520440"/>
            <a:ext cx="6858000" cy="8229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Your project asks for a 90% confidence interval for each group's mean. This gives context for how precisely your sample estimates the population parameter. A narrower interval means more precision.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FF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B8A6"/>
          </a:solidFill>
          <a:ln/>
        </p:spPr>
      </p:sp>
      <p:sp>
        <p:nvSpPr>
          <p:cNvPr id="3" name="Shape 1"/>
          <p:cNvSpPr/>
          <p:nvPr/>
        </p:nvSpPr>
        <p:spPr>
          <a:xfrm>
            <a:off x="548640" y="320040"/>
            <a:ext cx="640080" cy="64008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667512" y="429768"/>
            <a:ext cx="402336" cy="402336"/>
          </a:xfrm>
          <a:prstGeom prst="rect">
            <a:avLst/>
          </a:prstGeom>
        </p:spPr>
      </p:pic>
      <p:sp>
        <p:nvSpPr>
          <p:cNvPr id="5" name="Text 2"/>
          <p:cNvSpPr/>
          <p:nvPr/>
        </p:nvSpPr>
        <p:spPr>
          <a:xfrm>
            <a:off x="1371600" y="320040"/>
            <a:ext cx="2743200" cy="64008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Question 9</a:t>
            </a:r>
            <a:endParaRPr lang="en-US" sz="1400" dirty="0"/>
          </a:p>
        </p:txBody>
      </p:sp>
      <p:sp>
        <p:nvSpPr>
          <p:cNvPr id="6" name="Shape 3"/>
          <p:cNvSpPr/>
          <p:nvPr/>
        </p:nvSpPr>
        <p:spPr>
          <a:xfrm>
            <a:off x="548640" y="1188720"/>
            <a:ext cx="8046720" cy="1097280"/>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7" name="Shape 4"/>
          <p:cNvSpPr/>
          <p:nvPr/>
        </p:nvSpPr>
        <p:spPr>
          <a:xfrm>
            <a:off x="548640" y="1188720"/>
            <a:ext cx="64008" cy="1097280"/>
          </a:xfrm>
          <a:prstGeom prst="rect">
            <a:avLst/>
          </a:prstGeom>
          <a:solidFill>
            <a:srgbClr val="D97706"/>
          </a:solidFill>
          <a:ln/>
        </p:spPr>
      </p:sp>
      <p:sp>
        <p:nvSpPr>
          <p:cNvPr id="8" name="Text 5"/>
          <p:cNvSpPr/>
          <p:nvPr/>
        </p:nvSpPr>
        <p:spPr>
          <a:xfrm>
            <a:off x="868680" y="1188720"/>
            <a:ext cx="7498080" cy="1097280"/>
          </a:xfrm>
          <a:prstGeom prst="rect">
            <a:avLst/>
          </a:prstGeom>
          <a:noFill/>
          <a:ln/>
        </p:spPr>
        <p:txBody>
          <a:bodyPr wrap="square" lIns="0" tIns="0" rIns="0" bIns="0" rtlCol="0" anchor="ctr"/>
          <a:lstStyle/>
          <a:p>
            <a:pPr indent="0" marL="0">
              <a:buNone/>
            </a:pPr>
            <a:r>
              <a:rPr lang="en-US" sz="2000" b="1" dirty="0">
                <a:solidFill>
                  <a:srgbClr val="0F172A"/>
                </a:solidFill>
                <a:latin typeface="Georgia" pitchFamily="34" charset="0"/>
                <a:ea typeface="Georgia" pitchFamily="34" charset="-122"/>
                <a:cs typeface="Georgia" pitchFamily="34" charset="-120"/>
              </a:rPr>
              <a:t>Why is it important that your sample is random?</a:t>
            </a:r>
            <a:endParaRPr lang="en-US" sz="2000" dirty="0"/>
          </a:p>
        </p:txBody>
      </p:sp>
      <p:sp>
        <p:nvSpPr>
          <p:cNvPr id="9" name="Shape 6"/>
          <p:cNvSpPr/>
          <p:nvPr/>
        </p:nvSpPr>
        <p:spPr>
          <a:xfrm>
            <a:off x="548640" y="260604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731520" y="2670048"/>
            <a:ext cx="365760" cy="365760"/>
          </a:xfrm>
          <a:prstGeom prst="ellipse">
            <a:avLst/>
          </a:prstGeom>
          <a:solidFill>
            <a:srgbClr val="065A82"/>
          </a:solidFill>
          <a:ln/>
        </p:spPr>
      </p:sp>
      <p:sp>
        <p:nvSpPr>
          <p:cNvPr id="11" name="Text 8"/>
          <p:cNvSpPr/>
          <p:nvPr/>
        </p:nvSpPr>
        <p:spPr>
          <a:xfrm>
            <a:off x="731520" y="26700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2" name="Text 9"/>
          <p:cNvSpPr/>
          <p:nvPr/>
        </p:nvSpPr>
        <p:spPr>
          <a:xfrm>
            <a:off x="1280160" y="260604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It makes the math easier to compute</a:t>
            </a:r>
            <a:endParaRPr lang="en-US" sz="1500" dirty="0"/>
          </a:p>
        </p:txBody>
      </p:sp>
      <p:sp>
        <p:nvSpPr>
          <p:cNvPr id="13" name="Shape 10"/>
          <p:cNvSpPr/>
          <p:nvPr/>
        </p:nvSpPr>
        <p:spPr>
          <a:xfrm>
            <a:off x="548640" y="320040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1"/>
          <p:cNvSpPr/>
          <p:nvPr/>
        </p:nvSpPr>
        <p:spPr>
          <a:xfrm>
            <a:off x="731520" y="3264408"/>
            <a:ext cx="365760" cy="365760"/>
          </a:xfrm>
          <a:prstGeom prst="ellipse">
            <a:avLst/>
          </a:prstGeom>
          <a:solidFill>
            <a:srgbClr val="1C7293"/>
          </a:solidFill>
          <a:ln/>
        </p:spPr>
      </p:sp>
      <p:sp>
        <p:nvSpPr>
          <p:cNvPr id="15" name="Text 12"/>
          <p:cNvSpPr/>
          <p:nvPr/>
        </p:nvSpPr>
        <p:spPr>
          <a:xfrm>
            <a:off x="731520" y="32644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6" name="Text 13"/>
          <p:cNvSpPr/>
          <p:nvPr/>
        </p:nvSpPr>
        <p:spPr>
          <a:xfrm>
            <a:off x="1280160" y="320040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It ensures every member of the population has an equal chance of being selected</a:t>
            </a:r>
            <a:endParaRPr lang="en-US" sz="1500" dirty="0"/>
          </a:p>
        </p:txBody>
      </p:sp>
      <p:sp>
        <p:nvSpPr>
          <p:cNvPr id="17" name="Shape 14"/>
          <p:cNvSpPr/>
          <p:nvPr/>
        </p:nvSpPr>
        <p:spPr>
          <a:xfrm>
            <a:off x="548640" y="379476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5"/>
          <p:cNvSpPr/>
          <p:nvPr/>
        </p:nvSpPr>
        <p:spPr>
          <a:xfrm>
            <a:off x="731520" y="3858768"/>
            <a:ext cx="365760" cy="365760"/>
          </a:xfrm>
          <a:prstGeom prst="ellipse">
            <a:avLst/>
          </a:prstGeom>
          <a:solidFill>
            <a:srgbClr val="14B8A6"/>
          </a:solidFill>
          <a:ln/>
        </p:spPr>
      </p:sp>
      <p:sp>
        <p:nvSpPr>
          <p:cNvPr id="19" name="Text 16"/>
          <p:cNvSpPr/>
          <p:nvPr/>
        </p:nvSpPr>
        <p:spPr>
          <a:xfrm>
            <a:off x="731520" y="38587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0" name="Text 17"/>
          <p:cNvSpPr/>
          <p:nvPr/>
        </p:nvSpPr>
        <p:spPr>
          <a:xfrm>
            <a:off x="1280160" y="379476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It guarantees your hypothesis test will reject H₀</a:t>
            </a:r>
            <a:endParaRPr lang="en-US" sz="1500" dirty="0"/>
          </a:p>
        </p:txBody>
      </p:sp>
      <p:sp>
        <p:nvSpPr>
          <p:cNvPr id="21" name="Shape 18"/>
          <p:cNvSpPr/>
          <p:nvPr/>
        </p:nvSpPr>
        <p:spPr>
          <a:xfrm>
            <a:off x="548640" y="438912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2" name="Shape 19"/>
          <p:cNvSpPr/>
          <p:nvPr/>
        </p:nvSpPr>
        <p:spPr>
          <a:xfrm>
            <a:off x="731520" y="4453128"/>
            <a:ext cx="365760" cy="365760"/>
          </a:xfrm>
          <a:prstGeom prst="ellipse">
            <a:avLst/>
          </a:prstGeom>
          <a:solidFill>
            <a:srgbClr val="D97706"/>
          </a:solidFill>
          <a:ln/>
        </p:spPr>
      </p:sp>
      <p:sp>
        <p:nvSpPr>
          <p:cNvPr id="23" name="Text 20"/>
          <p:cNvSpPr/>
          <p:nvPr/>
        </p:nvSpPr>
        <p:spPr>
          <a:xfrm>
            <a:off x="731520" y="44531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4" name="Text 21"/>
          <p:cNvSpPr/>
          <p:nvPr/>
        </p:nvSpPr>
        <p:spPr>
          <a:xfrm>
            <a:off x="1280160" y="438912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Random samples are always larger than non-random samples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FF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548640" y="274320"/>
            <a:ext cx="640080" cy="640080"/>
          </a:xfrm>
          <a:prstGeom prst="ellipse">
            <a:avLst/>
          </a:prstGeom>
          <a:solidFill>
            <a:srgbClr val="059669"/>
          </a:solidFill>
          <a:ln/>
        </p:spPr>
      </p:sp>
      <p:pic>
        <p:nvPicPr>
          <p:cNvPr id="4" name="Image 0" descr="preencoded.png">    </p:cNvPr>
          <p:cNvPicPr>
            <a:picLocks noChangeAspect="1"/>
          </p:cNvPicPr>
          <p:nvPr/>
        </p:nvPicPr>
        <p:blipFill>
          <a:blip r:embed="rId1"/>
          <a:stretch>
            <a:fillRect/>
          </a:stretch>
        </p:blipFill>
        <p:spPr>
          <a:xfrm>
            <a:off x="667512" y="384048"/>
            <a:ext cx="402336" cy="402336"/>
          </a:xfrm>
          <a:prstGeom prst="rect">
            <a:avLst/>
          </a:prstGeom>
        </p:spPr>
      </p:pic>
      <p:sp>
        <p:nvSpPr>
          <p:cNvPr id="5" name="Text 2"/>
          <p:cNvSpPr/>
          <p:nvPr/>
        </p:nvSpPr>
        <p:spPr>
          <a:xfrm>
            <a:off x="1371600" y="274320"/>
            <a:ext cx="2743200" cy="64008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Answer 9</a:t>
            </a:r>
            <a:endParaRPr lang="en-US" sz="1400" dirty="0"/>
          </a:p>
        </p:txBody>
      </p:sp>
      <p:sp>
        <p:nvSpPr>
          <p:cNvPr id="6" name="Text 3"/>
          <p:cNvSpPr/>
          <p:nvPr/>
        </p:nvSpPr>
        <p:spPr>
          <a:xfrm>
            <a:off x="548640" y="1051560"/>
            <a:ext cx="8046720" cy="50292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Why is it important that your sample is random?</a:t>
            </a:r>
            <a:endParaRPr lang="en-US" sz="1400" dirty="0"/>
          </a:p>
        </p:txBody>
      </p:sp>
      <p:sp>
        <p:nvSpPr>
          <p:cNvPr id="7" name="Shape 4"/>
          <p:cNvSpPr/>
          <p:nvPr/>
        </p:nvSpPr>
        <p:spPr>
          <a:xfrm>
            <a:off x="548640" y="1691640"/>
            <a:ext cx="8046720" cy="1005840"/>
          </a:xfrm>
          <a:prstGeom prst="rect">
            <a:avLst/>
          </a:prstGeom>
          <a:solidFill>
            <a:srgbClr val="059669"/>
          </a:solidFill>
          <a:ln/>
          <a:effectLst>
            <a:outerShdw sx="100000" sy="100000" kx="0" ky="0" algn="bl" rotWithShape="0" blurRad="101600" dist="38100" dir="8100000">
              <a:srgbClr val="000000">
                <a:alpha val="15000"/>
              </a:srgbClr>
            </a:outerShdw>
          </a:effectLst>
        </p:spPr>
      </p:sp>
      <p:sp>
        <p:nvSpPr>
          <p:cNvPr id="8" name="Text 5"/>
          <p:cNvSpPr/>
          <p:nvPr/>
        </p:nvSpPr>
        <p:spPr>
          <a:xfrm>
            <a:off x="777240" y="1783080"/>
            <a:ext cx="640080" cy="82296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B</a:t>
            </a:r>
            <a:endParaRPr lang="en-US" sz="4000" dirty="0"/>
          </a:p>
        </p:txBody>
      </p:sp>
      <p:sp>
        <p:nvSpPr>
          <p:cNvPr id="9" name="Text 6"/>
          <p:cNvSpPr/>
          <p:nvPr/>
        </p:nvSpPr>
        <p:spPr>
          <a:xfrm>
            <a:off x="1463040" y="1691640"/>
            <a:ext cx="6858000" cy="10058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Random sampling ensures each member of the population has an equal chance of selection, reducing bias and making results generalizable.</a:t>
            </a:r>
            <a:endParaRPr lang="en-US" sz="1600" dirty="0"/>
          </a:p>
        </p:txBody>
      </p:sp>
      <p:sp>
        <p:nvSpPr>
          <p:cNvPr id="10" name="Shape 7"/>
          <p:cNvSpPr/>
          <p:nvPr/>
        </p:nvSpPr>
        <p:spPr>
          <a:xfrm>
            <a:off x="548640" y="3017520"/>
            <a:ext cx="804672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8"/>
          <p:cNvSpPr/>
          <p:nvPr/>
        </p:nvSpPr>
        <p:spPr>
          <a:xfrm>
            <a:off x="777240" y="3200400"/>
            <a:ext cx="502920" cy="502920"/>
          </a:xfrm>
          <a:prstGeom prst="ellipse">
            <a:avLst/>
          </a:prstGeom>
          <a:solidFill>
            <a:srgbClr val="14B8A6"/>
          </a:solidFill>
          <a:ln/>
        </p:spPr>
      </p:sp>
      <p:pic>
        <p:nvPicPr>
          <p:cNvPr id="12" name="Image 1" descr="preencoded.png">    </p:cNvPr>
          <p:cNvPicPr>
            <a:picLocks noChangeAspect="1"/>
          </p:cNvPicPr>
          <p:nvPr/>
        </p:nvPicPr>
        <p:blipFill>
          <a:blip r:embed="rId2"/>
          <a:stretch>
            <a:fillRect/>
          </a:stretch>
        </p:blipFill>
        <p:spPr>
          <a:xfrm>
            <a:off x="877824" y="3291840"/>
            <a:ext cx="320040" cy="320040"/>
          </a:xfrm>
          <a:prstGeom prst="rect">
            <a:avLst/>
          </a:prstGeom>
        </p:spPr>
      </p:pic>
      <p:sp>
        <p:nvSpPr>
          <p:cNvPr id="13" name="Text 9"/>
          <p:cNvSpPr/>
          <p:nvPr/>
        </p:nvSpPr>
        <p:spPr>
          <a:xfrm>
            <a:off x="1463040" y="3154680"/>
            <a:ext cx="6400800" cy="365760"/>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Why it matters for your project</a:t>
            </a:r>
            <a:endParaRPr lang="en-US" sz="1400" dirty="0"/>
          </a:p>
        </p:txBody>
      </p:sp>
      <p:sp>
        <p:nvSpPr>
          <p:cNvPr id="14" name="Text 10"/>
          <p:cNvSpPr/>
          <p:nvPr/>
        </p:nvSpPr>
        <p:spPr>
          <a:xfrm>
            <a:off x="1463040" y="3520440"/>
            <a:ext cx="6858000" cy="8229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Your project specifically asks: "How do you establish that this sample is truly random?" Be prepared to explain your sampling method and acknowledge any limitations or potential biases.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FF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B8A6"/>
          </a:solidFill>
          <a:ln/>
        </p:spPr>
      </p:sp>
      <p:sp>
        <p:nvSpPr>
          <p:cNvPr id="3" name="Shape 1"/>
          <p:cNvSpPr/>
          <p:nvPr/>
        </p:nvSpPr>
        <p:spPr>
          <a:xfrm>
            <a:off x="548640" y="320040"/>
            <a:ext cx="640080" cy="64008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667512" y="429768"/>
            <a:ext cx="402336" cy="402336"/>
          </a:xfrm>
          <a:prstGeom prst="rect">
            <a:avLst/>
          </a:prstGeom>
        </p:spPr>
      </p:pic>
      <p:sp>
        <p:nvSpPr>
          <p:cNvPr id="5" name="Text 2"/>
          <p:cNvSpPr/>
          <p:nvPr/>
        </p:nvSpPr>
        <p:spPr>
          <a:xfrm>
            <a:off x="1371600" y="320040"/>
            <a:ext cx="2743200" cy="64008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Question 10</a:t>
            </a:r>
            <a:endParaRPr lang="en-US" sz="1400" dirty="0"/>
          </a:p>
        </p:txBody>
      </p:sp>
      <p:sp>
        <p:nvSpPr>
          <p:cNvPr id="6" name="Shape 3"/>
          <p:cNvSpPr/>
          <p:nvPr/>
        </p:nvSpPr>
        <p:spPr>
          <a:xfrm>
            <a:off x="548640" y="1188720"/>
            <a:ext cx="8046720" cy="1097280"/>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7" name="Shape 4"/>
          <p:cNvSpPr/>
          <p:nvPr/>
        </p:nvSpPr>
        <p:spPr>
          <a:xfrm>
            <a:off x="548640" y="1188720"/>
            <a:ext cx="64008" cy="1097280"/>
          </a:xfrm>
          <a:prstGeom prst="rect">
            <a:avLst/>
          </a:prstGeom>
          <a:solidFill>
            <a:srgbClr val="D97706"/>
          </a:solidFill>
          <a:ln/>
        </p:spPr>
      </p:sp>
      <p:sp>
        <p:nvSpPr>
          <p:cNvPr id="8" name="Text 5"/>
          <p:cNvSpPr/>
          <p:nvPr/>
        </p:nvSpPr>
        <p:spPr>
          <a:xfrm>
            <a:off x="868680" y="1188720"/>
            <a:ext cx="7498080" cy="1097280"/>
          </a:xfrm>
          <a:prstGeom prst="rect">
            <a:avLst/>
          </a:prstGeom>
          <a:noFill/>
          <a:ln/>
        </p:spPr>
        <p:txBody>
          <a:bodyPr wrap="square" lIns="0" tIns="0" rIns="0" bIns="0" rtlCol="0" anchor="ctr"/>
          <a:lstStyle/>
          <a:p>
            <a:pPr indent="0" marL="0">
              <a:buNone/>
            </a:pPr>
            <a:r>
              <a:rPr lang="en-US" sz="2000" b="1" dirty="0">
                <a:solidFill>
                  <a:srgbClr val="0F172A"/>
                </a:solidFill>
                <a:latin typeface="Georgia" pitchFamily="34" charset="0"/>
                <a:ea typeface="Georgia" pitchFamily="34" charset="-122"/>
                <a:cs typeface="Georgia" pitchFamily="34" charset="-120"/>
              </a:rPr>
              <a:t>Which of the following is the correct order of steps for a hypothesis test?</a:t>
            </a:r>
            <a:endParaRPr lang="en-US" sz="2000" dirty="0"/>
          </a:p>
        </p:txBody>
      </p:sp>
      <p:sp>
        <p:nvSpPr>
          <p:cNvPr id="9" name="Shape 6"/>
          <p:cNvSpPr/>
          <p:nvPr/>
        </p:nvSpPr>
        <p:spPr>
          <a:xfrm>
            <a:off x="548640" y="260604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731520" y="2670048"/>
            <a:ext cx="365760" cy="365760"/>
          </a:xfrm>
          <a:prstGeom prst="ellipse">
            <a:avLst/>
          </a:prstGeom>
          <a:solidFill>
            <a:srgbClr val="065A82"/>
          </a:solidFill>
          <a:ln/>
        </p:spPr>
      </p:sp>
      <p:sp>
        <p:nvSpPr>
          <p:cNvPr id="11" name="Text 8"/>
          <p:cNvSpPr/>
          <p:nvPr/>
        </p:nvSpPr>
        <p:spPr>
          <a:xfrm>
            <a:off x="731520" y="26700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2" name="Text 9"/>
          <p:cNvSpPr/>
          <p:nvPr/>
        </p:nvSpPr>
        <p:spPr>
          <a:xfrm>
            <a:off x="1280160" y="260604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Collect data → State hypotheses → Compute t → Find critical value → Conclude</a:t>
            </a:r>
            <a:endParaRPr lang="en-US" sz="1500" dirty="0"/>
          </a:p>
        </p:txBody>
      </p:sp>
      <p:sp>
        <p:nvSpPr>
          <p:cNvPr id="13" name="Shape 10"/>
          <p:cNvSpPr/>
          <p:nvPr/>
        </p:nvSpPr>
        <p:spPr>
          <a:xfrm>
            <a:off x="548640" y="320040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1"/>
          <p:cNvSpPr/>
          <p:nvPr/>
        </p:nvSpPr>
        <p:spPr>
          <a:xfrm>
            <a:off x="731520" y="3264408"/>
            <a:ext cx="365760" cy="365760"/>
          </a:xfrm>
          <a:prstGeom prst="ellipse">
            <a:avLst/>
          </a:prstGeom>
          <a:solidFill>
            <a:srgbClr val="1C7293"/>
          </a:solidFill>
          <a:ln/>
        </p:spPr>
      </p:sp>
      <p:sp>
        <p:nvSpPr>
          <p:cNvPr id="15" name="Text 12"/>
          <p:cNvSpPr/>
          <p:nvPr/>
        </p:nvSpPr>
        <p:spPr>
          <a:xfrm>
            <a:off x="731520" y="32644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6" name="Text 13"/>
          <p:cNvSpPr/>
          <p:nvPr/>
        </p:nvSpPr>
        <p:spPr>
          <a:xfrm>
            <a:off x="1280160" y="320040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State hypotheses → Set α → Find critical value → Compute t → Conclude</a:t>
            </a:r>
            <a:endParaRPr lang="en-US" sz="1500" dirty="0"/>
          </a:p>
        </p:txBody>
      </p:sp>
      <p:sp>
        <p:nvSpPr>
          <p:cNvPr id="17" name="Shape 14"/>
          <p:cNvSpPr/>
          <p:nvPr/>
        </p:nvSpPr>
        <p:spPr>
          <a:xfrm>
            <a:off x="548640" y="379476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5"/>
          <p:cNvSpPr/>
          <p:nvPr/>
        </p:nvSpPr>
        <p:spPr>
          <a:xfrm>
            <a:off x="731520" y="3858768"/>
            <a:ext cx="365760" cy="365760"/>
          </a:xfrm>
          <a:prstGeom prst="ellipse">
            <a:avLst/>
          </a:prstGeom>
          <a:solidFill>
            <a:srgbClr val="14B8A6"/>
          </a:solidFill>
          <a:ln/>
        </p:spPr>
      </p:sp>
      <p:sp>
        <p:nvSpPr>
          <p:cNvPr id="19" name="Text 16"/>
          <p:cNvSpPr/>
          <p:nvPr/>
        </p:nvSpPr>
        <p:spPr>
          <a:xfrm>
            <a:off x="731520" y="38587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0" name="Text 17"/>
          <p:cNvSpPr/>
          <p:nvPr/>
        </p:nvSpPr>
        <p:spPr>
          <a:xfrm>
            <a:off x="1280160" y="379476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Compute t → State hypotheses → Set α → Conclude → Find critical value</a:t>
            </a:r>
            <a:endParaRPr lang="en-US" sz="1500" dirty="0"/>
          </a:p>
        </p:txBody>
      </p:sp>
      <p:sp>
        <p:nvSpPr>
          <p:cNvPr id="21" name="Shape 18"/>
          <p:cNvSpPr/>
          <p:nvPr/>
        </p:nvSpPr>
        <p:spPr>
          <a:xfrm>
            <a:off x="548640" y="4389120"/>
            <a:ext cx="80467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2" name="Shape 19"/>
          <p:cNvSpPr/>
          <p:nvPr/>
        </p:nvSpPr>
        <p:spPr>
          <a:xfrm>
            <a:off x="731520" y="4453128"/>
            <a:ext cx="365760" cy="365760"/>
          </a:xfrm>
          <a:prstGeom prst="ellipse">
            <a:avLst/>
          </a:prstGeom>
          <a:solidFill>
            <a:srgbClr val="D97706"/>
          </a:solidFill>
          <a:ln/>
        </p:spPr>
      </p:sp>
      <p:sp>
        <p:nvSpPr>
          <p:cNvPr id="23" name="Text 20"/>
          <p:cNvSpPr/>
          <p:nvPr/>
        </p:nvSpPr>
        <p:spPr>
          <a:xfrm>
            <a:off x="731520" y="44531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4" name="Text 21"/>
          <p:cNvSpPr/>
          <p:nvPr/>
        </p:nvSpPr>
        <p:spPr>
          <a:xfrm>
            <a:off x="1280160" y="4389120"/>
            <a:ext cx="7132320" cy="50292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Set α → Conclude → State hypotheses → Compute t → Find critical value</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FF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sp>
      <p:sp>
        <p:nvSpPr>
          <p:cNvPr id="3" name="Shape 1"/>
          <p:cNvSpPr/>
          <p:nvPr/>
        </p:nvSpPr>
        <p:spPr>
          <a:xfrm>
            <a:off x="548640" y="274320"/>
            <a:ext cx="640080" cy="640080"/>
          </a:xfrm>
          <a:prstGeom prst="ellipse">
            <a:avLst/>
          </a:prstGeom>
          <a:solidFill>
            <a:srgbClr val="059669"/>
          </a:solidFill>
          <a:ln/>
        </p:spPr>
      </p:sp>
      <p:pic>
        <p:nvPicPr>
          <p:cNvPr id="4" name="Image 0" descr="preencoded.png">    </p:cNvPr>
          <p:cNvPicPr>
            <a:picLocks noChangeAspect="1"/>
          </p:cNvPicPr>
          <p:nvPr/>
        </p:nvPicPr>
        <p:blipFill>
          <a:blip r:embed="rId1"/>
          <a:stretch>
            <a:fillRect/>
          </a:stretch>
        </p:blipFill>
        <p:spPr>
          <a:xfrm>
            <a:off x="667512" y="384048"/>
            <a:ext cx="402336" cy="402336"/>
          </a:xfrm>
          <a:prstGeom prst="rect">
            <a:avLst/>
          </a:prstGeom>
        </p:spPr>
      </p:pic>
      <p:sp>
        <p:nvSpPr>
          <p:cNvPr id="5" name="Text 2"/>
          <p:cNvSpPr/>
          <p:nvPr/>
        </p:nvSpPr>
        <p:spPr>
          <a:xfrm>
            <a:off x="1371600" y="274320"/>
            <a:ext cx="2743200" cy="64008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Answer 10</a:t>
            </a:r>
            <a:endParaRPr lang="en-US" sz="1400" dirty="0"/>
          </a:p>
        </p:txBody>
      </p:sp>
      <p:sp>
        <p:nvSpPr>
          <p:cNvPr id="6" name="Text 3"/>
          <p:cNvSpPr/>
          <p:nvPr/>
        </p:nvSpPr>
        <p:spPr>
          <a:xfrm>
            <a:off x="548640" y="1051560"/>
            <a:ext cx="8046720" cy="50292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What is the correct order of steps for a hypothesis test?</a:t>
            </a:r>
            <a:endParaRPr lang="en-US" sz="1400" dirty="0"/>
          </a:p>
        </p:txBody>
      </p:sp>
      <p:sp>
        <p:nvSpPr>
          <p:cNvPr id="7" name="Shape 4"/>
          <p:cNvSpPr/>
          <p:nvPr/>
        </p:nvSpPr>
        <p:spPr>
          <a:xfrm>
            <a:off x="548640" y="1691640"/>
            <a:ext cx="8046720" cy="1005840"/>
          </a:xfrm>
          <a:prstGeom prst="rect">
            <a:avLst/>
          </a:prstGeom>
          <a:solidFill>
            <a:srgbClr val="059669"/>
          </a:solidFill>
          <a:ln/>
          <a:effectLst>
            <a:outerShdw sx="100000" sy="100000" kx="0" ky="0" algn="bl" rotWithShape="0" blurRad="101600" dist="38100" dir="8100000">
              <a:srgbClr val="000000">
                <a:alpha val="15000"/>
              </a:srgbClr>
            </a:outerShdw>
          </a:effectLst>
        </p:spPr>
      </p:sp>
      <p:sp>
        <p:nvSpPr>
          <p:cNvPr id="8" name="Text 5"/>
          <p:cNvSpPr/>
          <p:nvPr/>
        </p:nvSpPr>
        <p:spPr>
          <a:xfrm>
            <a:off x="777240" y="1783080"/>
            <a:ext cx="640080" cy="82296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B</a:t>
            </a:r>
            <a:endParaRPr lang="en-US" sz="4000" dirty="0"/>
          </a:p>
        </p:txBody>
      </p:sp>
      <p:sp>
        <p:nvSpPr>
          <p:cNvPr id="9" name="Text 6"/>
          <p:cNvSpPr/>
          <p:nvPr/>
        </p:nvSpPr>
        <p:spPr>
          <a:xfrm>
            <a:off x="1463040" y="1691640"/>
            <a:ext cx="6858000" cy="10058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The proper sequence: state H₀ and H₁, set α, find the critical value, compute the test statistic, then make your conclusion.</a:t>
            </a:r>
            <a:endParaRPr lang="en-US" sz="1600" dirty="0"/>
          </a:p>
        </p:txBody>
      </p:sp>
      <p:sp>
        <p:nvSpPr>
          <p:cNvPr id="10" name="Shape 7"/>
          <p:cNvSpPr/>
          <p:nvPr/>
        </p:nvSpPr>
        <p:spPr>
          <a:xfrm>
            <a:off x="548640" y="3017520"/>
            <a:ext cx="804672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8"/>
          <p:cNvSpPr/>
          <p:nvPr/>
        </p:nvSpPr>
        <p:spPr>
          <a:xfrm>
            <a:off x="777240" y="3200400"/>
            <a:ext cx="502920" cy="502920"/>
          </a:xfrm>
          <a:prstGeom prst="ellipse">
            <a:avLst/>
          </a:prstGeom>
          <a:solidFill>
            <a:srgbClr val="14B8A6"/>
          </a:solidFill>
          <a:ln/>
        </p:spPr>
      </p:sp>
      <p:pic>
        <p:nvPicPr>
          <p:cNvPr id="12" name="Image 1" descr="preencoded.png">    </p:cNvPr>
          <p:cNvPicPr>
            <a:picLocks noChangeAspect="1"/>
          </p:cNvPicPr>
          <p:nvPr/>
        </p:nvPicPr>
        <p:blipFill>
          <a:blip r:embed="rId2"/>
          <a:stretch>
            <a:fillRect/>
          </a:stretch>
        </p:blipFill>
        <p:spPr>
          <a:xfrm>
            <a:off x="877824" y="3291840"/>
            <a:ext cx="320040" cy="320040"/>
          </a:xfrm>
          <a:prstGeom prst="rect">
            <a:avLst/>
          </a:prstGeom>
        </p:spPr>
      </p:pic>
      <p:sp>
        <p:nvSpPr>
          <p:cNvPr id="13" name="Text 9"/>
          <p:cNvSpPr/>
          <p:nvPr/>
        </p:nvSpPr>
        <p:spPr>
          <a:xfrm>
            <a:off x="1463040" y="3154680"/>
            <a:ext cx="6400800" cy="365760"/>
          </a:xfrm>
          <a:prstGeom prst="rect">
            <a:avLst/>
          </a:prstGeom>
          <a:noFill/>
          <a:ln/>
        </p:spPr>
        <p:txBody>
          <a:bodyPr wrap="square" lIns="0" tIns="0" rIns="0" bIns="0" rtlCol="0" anchor="ctr"/>
          <a:lstStyle/>
          <a:p>
            <a:pPr indent="0" marL="0">
              <a:buNone/>
            </a:pPr>
            <a:r>
              <a:rPr lang="en-US" sz="1400" b="1" dirty="0">
                <a:solidFill>
                  <a:srgbClr val="0B1D3A"/>
                </a:solidFill>
                <a:latin typeface="Calibri" pitchFamily="34" charset="0"/>
                <a:ea typeface="Calibri" pitchFamily="34" charset="-122"/>
                <a:cs typeface="Calibri" pitchFamily="34" charset="-120"/>
              </a:rPr>
              <a:t>Why it matters for your project</a:t>
            </a:r>
            <a:endParaRPr lang="en-US" sz="1400" dirty="0"/>
          </a:p>
        </p:txBody>
      </p:sp>
      <p:sp>
        <p:nvSpPr>
          <p:cNvPr id="14" name="Text 10"/>
          <p:cNvSpPr/>
          <p:nvPr/>
        </p:nvSpPr>
        <p:spPr>
          <a:xfrm>
            <a:off x="1463040" y="3520440"/>
            <a:ext cx="6858000" cy="8229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Following this order in your written report shows clear statistical reasoning. Your project's hypothesis test section (worth 30 points) is graded on correctly stating hypotheses, finding the critical value, computing t, making the right decision, and writing a proper conclusion.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D3A"/>
        </a:solidFill>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065A82">
              <a:alpha val="60000"/>
            </a:srgbClr>
          </a:solidFill>
          <a:ln/>
        </p:spPr>
      </p:sp>
      <p:sp>
        <p:nvSpPr>
          <p:cNvPr id="3" name="Shape 1"/>
          <p:cNvSpPr/>
          <p:nvPr/>
        </p:nvSpPr>
        <p:spPr>
          <a:xfrm>
            <a:off x="6858000" y="3200400"/>
            <a:ext cx="3657600" cy="3657600"/>
          </a:xfrm>
          <a:prstGeom prst="ellipse">
            <a:avLst/>
          </a:prstGeom>
          <a:solidFill>
            <a:srgbClr val="1C7293">
              <a:alpha val="50000"/>
            </a:srgbClr>
          </a:solidFill>
          <a:ln/>
        </p:spPr>
      </p:sp>
      <p:sp>
        <p:nvSpPr>
          <p:cNvPr id="4" name="Text 2"/>
          <p:cNvSpPr/>
          <p:nvPr/>
        </p:nvSpPr>
        <p:spPr>
          <a:xfrm>
            <a:off x="640080" y="1097280"/>
            <a:ext cx="7315200" cy="82296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Great Work!</a:t>
            </a:r>
            <a:endParaRPr lang="en-US" sz="4000" dirty="0"/>
          </a:p>
        </p:txBody>
      </p:sp>
      <p:sp>
        <p:nvSpPr>
          <p:cNvPr id="5" name="Text 3"/>
          <p:cNvSpPr/>
          <p:nvPr/>
        </p:nvSpPr>
        <p:spPr>
          <a:xfrm>
            <a:off x="640080" y="2011680"/>
            <a:ext cx="7315200" cy="457200"/>
          </a:xfrm>
          <a:prstGeom prst="rect">
            <a:avLst/>
          </a:prstGeom>
          <a:noFill/>
          <a:ln/>
        </p:spPr>
        <p:txBody>
          <a:bodyPr wrap="square" lIns="0" tIns="0" rIns="0" bIns="0" rtlCol="0" anchor="ctr"/>
          <a:lstStyle/>
          <a:p>
            <a:pPr indent="0" marL="0">
              <a:buNone/>
            </a:pPr>
            <a:r>
              <a:rPr lang="en-US" sz="1800" dirty="0">
                <a:solidFill>
                  <a:srgbClr val="14B8A6"/>
                </a:solidFill>
                <a:latin typeface="Calibri" pitchFamily="34" charset="0"/>
                <a:ea typeface="Calibri" pitchFamily="34" charset="-122"/>
                <a:cs typeface="Calibri" pitchFamily="34" charset="-120"/>
              </a:rPr>
              <a:t>Key reminders for your project:</a:t>
            </a:r>
            <a:endParaRPr lang="en-US" sz="1800" dirty="0"/>
          </a:p>
        </p:txBody>
      </p:sp>
      <p:sp>
        <p:nvSpPr>
          <p:cNvPr id="6" name="Text 4"/>
          <p:cNvSpPr/>
          <p:nvPr/>
        </p:nvSpPr>
        <p:spPr>
          <a:xfrm>
            <a:off x="640080" y="2651760"/>
            <a:ext cx="365760" cy="365760"/>
          </a:xfrm>
          <a:prstGeom prst="rect">
            <a:avLst/>
          </a:prstGeom>
          <a:noFill/>
          <a:ln/>
        </p:spPr>
        <p:txBody>
          <a:bodyPr wrap="square" lIns="0" tIns="0" rIns="0" bIns="0" rtlCol="0" anchor="ctr"/>
          <a:lstStyle/>
          <a:p>
            <a:pPr indent="0" marL="0">
              <a:buNone/>
            </a:pPr>
            <a:r>
              <a:rPr lang="en-US" sz="1600" b="1" dirty="0">
                <a:solidFill>
                  <a:srgbClr val="14B8A6"/>
                </a:solidFill>
                <a:latin typeface="Georgia" pitchFamily="34" charset="0"/>
                <a:ea typeface="Georgia" pitchFamily="34" charset="-122"/>
                <a:cs typeface="Georgia" pitchFamily="34" charset="-120"/>
              </a:rPr>
              <a:t>1.</a:t>
            </a:r>
            <a:endParaRPr lang="en-US" sz="1600" dirty="0"/>
          </a:p>
        </p:txBody>
      </p:sp>
      <p:sp>
        <p:nvSpPr>
          <p:cNvPr id="7" name="Text 5"/>
          <p:cNvSpPr/>
          <p:nvPr/>
        </p:nvSpPr>
        <p:spPr>
          <a:xfrm>
            <a:off x="1051560" y="2651760"/>
            <a:ext cx="73152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Always state both H₀ and H₁ before running your test</a:t>
            </a:r>
            <a:endParaRPr lang="en-US" sz="1500" dirty="0"/>
          </a:p>
        </p:txBody>
      </p:sp>
      <p:sp>
        <p:nvSpPr>
          <p:cNvPr id="8" name="Text 6"/>
          <p:cNvSpPr/>
          <p:nvPr/>
        </p:nvSpPr>
        <p:spPr>
          <a:xfrm>
            <a:off x="640080" y="3090672"/>
            <a:ext cx="365760" cy="365760"/>
          </a:xfrm>
          <a:prstGeom prst="rect">
            <a:avLst/>
          </a:prstGeom>
          <a:noFill/>
          <a:ln/>
        </p:spPr>
        <p:txBody>
          <a:bodyPr wrap="square" lIns="0" tIns="0" rIns="0" bIns="0" rtlCol="0" anchor="ctr"/>
          <a:lstStyle/>
          <a:p>
            <a:pPr indent="0" marL="0">
              <a:buNone/>
            </a:pPr>
            <a:r>
              <a:rPr lang="en-US" sz="1600" b="1" dirty="0">
                <a:solidFill>
                  <a:srgbClr val="14B8A6"/>
                </a:solidFill>
                <a:latin typeface="Georgia" pitchFamily="34" charset="0"/>
                <a:ea typeface="Georgia" pitchFamily="34" charset="-122"/>
                <a:cs typeface="Georgia" pitchFamily="34" charset="-120"/>
              </a:rPr>
              <a:t>2.</a:t>
            </a:r>
            <a:endParaRPr lang="en-US" sz="1600" dirty="0"/>
          </a:p>
        </p:txBody>
      </p:sp>
      <p:sp>
        <p:nvSpPr>
          <p:cNvPr id="9" name="Text 7"/>
          <p:cNvSpPr/>
          <p:nvPr/>
        </p:nvSpPr>
        <p:spPr>
          <a:xfrm>
            <a:off x="1051560" y="3090672"/>
            <a:ext cx="73152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Use α = 0.05 and look up the correct critical t-value for df = 28</a:t>
            </a:r>
            <a:endParaRPr lang="en-US" sz="1500" dirty="0"/>
          </a:p>
        </p:txBody>
      </p:sp>
      <p:sp>
        <p:nvSpPr>
          <p:cNvPr id="10" name="Text 8"/>
          <p:cNvSpPr/>
          <p:nvPr/>
        </p:nvSpPr>
        <p:spPr>
          <a:xfrm>
            <a:off x="640080" y="3529584"/>
            <a:ext cx="365760" cy="365760"/>
          </a:xfrm>
          <a:prstGeom prst="rect">
            <a:avLst/>
          </a:prstGeom>
          <a:noFill/>
          <a:ln/>
        </p:spPr>
        <p:txBody>
          <a:bodyPr wrap="square" lIns="0" tIns="0" rIns="0" bIns="0" rtlCol="0" anchor="ctr"/>
          <a:lstStyle/>
          <a:p>
            <a:pPr indent="0" marL="0">
              <a:buNone/>
            </a:pPr>
            <a:r>
              <a:rPr lang="en-US" sz="1600" b="1" dirty="0">
                <a:solidFill>
                  <a:srgbClr val="14B8A6"/>
                </a:solidFill>
                <a:latin typeface="Georgia" pitchFamily="34" charset="0"/>
                <a:ea typeface="Georgia" pitchFamily="34" charset="-122"/>
                <a:cs typeface="Georgia" pitchFamily="34" charset="-120"/>
              </a:rPr>
              <a:t>3.</a:t>
            </a:r>
            <a:endParaRPr lang="en-US" sz="1600" dirty="0"/>
          </a:p>
        </p:txBody>
      </p:sp>
      <p:sp>
        <p:nvSpPr>
          <p:cNvPr id="11" name="Text 9"/>
          <p:cNvSpPr/>
          <p:nvPr/>
        </p:nvSpPr>
        <p:spPr>
          <a:xfrm>
            <a:off x="1051560" y="3529584"/>
            <a:ext cx="73152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Never say "accept H₀" — say "fail to reject H₀"</a:t>
            </a:r>
            <a:endParaRPr lang="en-US" sz="1500" dirty="0"/>
          </a:p>
        </p:txBody>
      </p:sp>
      <p:sp>
        <p:nvSpPr>
          <p:cNvPr id="12" name="Text 10"/>
          <p:cNvSpPr/>
          <p:nvPr/>
        </p:nvSpPr>
        <p:spPr>
          <a:xfrm>
            <a:off x="640080" y="3968496"/>
            <a:ext cx="365760" cy="365760"/>
          </a:xfrm>
          <a:prstGeom prst="rect">
            <a:avLst/>
          </a:prstGeom>
          <a:noFill/>
          <a:ln/>
        </p:spPr>
        <p:txBody>
          <a:bodyPr wrap="square" lIns="0" tIns="0" rIns="0" bIns="0" rtlCol="0" anchor="ctr"/>
          <a:lstStyle/>
          <a:p>
            <a:pPr indent="0" marL="0">
              <a:buNone/>
            </a:pPr>
            <a:r>
              <a:rPr lang="en-US" sz="1600" b="1" dirty="0">
                <a:solidFill>
                  <a:srgbClr val="14B8A6"/>
                </a:solidFill>
                <a:latin typeface="Georgia" pitchFamily="34" charset="0"/>
                <a:ea typeface="Georgia" pitchFamily="34" charset="-122"/>
                <a:cs typeface="Georgia" pitchFamily="34" charset="-120"/>
              </a:rPr>
              <a:t>4.</a:t>
            </a:r>
            <a:endParaRPr lang="en-US" sz="1600" dirty="0"/>
          </a:p>
        </p:txBody>
      </p:sp>
      <p:sp>
        <p:nvSpPr>
          <p:cNvPr id="13" name="Text 11"/>
          <p:cNvSpPr/>
          <p:nvPr/>
        </p:nvSpPr>
        <p:spPr>
          <a:xfrm>
            <a:off x="1051560" y="3968496"/>
            <a:ext cx="73152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Write your conclusion in context of your specific research question</a:t>
            </a:r>
            <a:endParaRPr lang="en-US" sz="1500" dirty="0"/>
          </a:p>
        </p:txBody>
      </p:sp>
      <p:sp>
        <p:nvSpPr>
          <p:cNvPr id="14" name="Text 12"/>
          <p:cNvSpPr/>
          <p:nvPr/>
        </p:nvSpPr>
        <p:spPr>
          <a:xfrm>
            <a:off x="640080" y="4407408"/>
            <a:ext cx="365760" cy="365760"/>
          </a:xfrm>
          <a:prstGeom prst="rect">
            <a:avLst/>
          </a:prstGeom>
          <a:noFill/>
          <a:ln/>
        </p:spPr>
        <p:txBody>
          <a:bodyPr wrap="square" lIns="0" tIns="0" rIns="0" bIns="0" rtlCol="0" anchor="ctr"/>
          <a:lstStyle/>
          <a:p>
            <a:pPr indent="0" marL="0">
              <a:buNone/>
            </a:pPr>
            <a:r>
              <a:rPr lang="en-US" sz="1600" b="1" dirty="0">
                <a:solidFill>
                  <a:srgbClr val="14B8A6"/>
                </a:solidFill>
                <a:latin typeface="Georgia" pitchFamily="34" charset="0"/>
                <a:ea typeface="Georgia" pitchFamily="34" charset="-122"/>
                <a:cs typeface="Georgia" pitchFamily="34" charset="-120"/>
              </a:rPr>
              <a:t>5.</a:t>
            </a:r>
            <a:endParaRPr lang="en-US" sz="1600" dirty="0"/>
          </a:p>
        </p:txBody>
      </p:sp>
      <p:sp>
        <p:nvSpPr>
          <p:cNvPr id="15" name="Text 13"/>
          <p:cNvSpPr/>
          <p:nvPr/>
        </p:nvSpPr>
        <p:spPr>
          <a:xfrm>
            <a:off x="1051560" y="4407408"/>
            <a:ext cx="73152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The hypothesis test section is worth 30 points — show all work!</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Hypothesis Testing — Class Q&amp;A</dc:title>
  <dc:subject>PptxGenJS Presentation</dc:subject>
  <dc:creator>MA235</dc:creator>
  <cp:lastModifiedBy>MA235</cp:lastModifiedBy>
  <cp:revision>1</cp:revision>
  <dcterms:created xsi:type="dcterms:W3CDTF">2026-03-01T19:30:04Z</dcterms:created>
  <dcterms:modified xsi:type="dcterms:W3CDTF">2026-03-01T19:30:04Z</dcterms:modified>
</cp:coreProperties>
</file>