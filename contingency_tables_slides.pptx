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Contingency Tables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(Two-Way Tables)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Combined Notes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MA235 Statistics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Contingency Table?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</a:t>
            </a:r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classifies observations using </a:t>
            </a:r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categorical variables.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categories of Variable 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= categories of Variable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= an observed count (O</a:t>
            </a:r>
            <a:pPr indent="0" marL="0">
              <a:buNone/>
            </a:pPr>
            <a:r>
              <a:rPr lang="en-US" sz="900" baseline="-40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Totals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total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sum across a row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total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sum down a column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(n)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total of all observations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Table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737360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07492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Them?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7492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categorical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frequencies across groups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marginal &amp; conditional distributions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chi-square tests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Contingency Table Tests vs. Goodness-of-Fit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Contingency Table (r × c)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(Independence or Homogeneity)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counts: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(row total)(col total) / 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(r − 1)(c − 1)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Goodness-of-Fit (one-way)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(Does it match a claimed distribution?)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counts: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n × 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k − 1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Rule: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(rows &amp; columns) → Contingency     |     One variable + claimed %s → GOF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 vs. Homogeneity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of Independence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two categorical variables related?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from one population; measure two variables per subject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H₀: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are independent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Hₐ: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are dependent (associated)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"Independent" means knowing one variable doesn't change the distribution of the other.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of Homogeneity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multiple groups have the same distribution?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samples from different populations; measure one variable per subject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H₀: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 have the same distribution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Hₐ: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group differs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calculations are identical to the independence test.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tell apart: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+ two variables → Independence   |   Multiple samples + one variable → Homogeneity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Chi-Square Test Procedure (Steps 1–5)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observed table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counts, compute row totals, column totals, and grand total 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847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hypotheses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1214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Independence: H₀ independent, Hₐ dependent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Homogeneity: H₀ same distribution, Hₐ differs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5968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87121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choice: α = 0.05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346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expected counts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62102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(row total)(col total) / n    for every cell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requirements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4370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are counts ✓  Independent observations ✓  All expected counts ≥ 5 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Chi-Square Test Procedure (Steps 6–9)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the test statistic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Σ (O − E)² / E    summed over all cells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Degrees of freedom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(r − 1)(c − 1)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P-value and decision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if p ≤ α.   Fail to reject H₀ if p &gt; 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in context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is (or is not) sufficient evidence that ..."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say "prove" or "accept H₀."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0624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Formulas:   </a:t>
            </a:r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(row total)(col total) / n       χ² = Σ (O − E)² / E       df = (r − 1)(c − 1)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Checklist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914400"/>
          </a:xfrm>
          <a:prstGeom prst="rect">
            <a:avLst/>
          </a:prstGeom>
          <a:solidFill>
            <a:srgbClr val="2783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898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Counts (not percentages)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must be raw frequency counts, not percentages or proportions.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31720"/>
            <a:ext cx="73152" cy="914400"/>
          </a:xfrm>
          <a:prstGeom prst="rect">
            <a:avLst/>
          </a:prstGeom>
          <a:solidFill>
            <a:srgbClr val="2783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328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 of observations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17320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sampling; each subject is counted exactly once.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474720"/>
            <a:ext cx="73152" cy="914400"/>
          </a:xfrm>
          <a:prstGeom prst="rect">
            <a:avLst/>
          </a:prstGeom>
          <a:solidFill>
            <a:srgbClr val="2783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758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counts ≥ 5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41732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expected counts must be at least 5. Compute every expected count and verify before proceeding.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 — Computing Expected Counts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Table (n = 92)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40080"/>
                <a:gridCol w="640080"/>
                <a:gridCol w="64008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Table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474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" y="3017520"/>
            <a:ext cx="73152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3108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Calculations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77240" y="34290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 E = (row total)(col total) / 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E(Drama, 18–22) = (36)(29) / 92 = 1044 / 92 = 11.35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E(Fiction, 23–27) = (16)(35) / 92 = 560 / 92 = 6.09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E(Comedy, 28–32) = (40)(28) / 92 = 1120 / 92 = 12.17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Note: E(Fiction, 28–32) = 4.87 &lt; 5 — requirement not fully met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 — Test of Independence (Setup)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surveys 132 people and records each person's age group and movie preference.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Observed Table  </a:t>
            </a:r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= 132,  α = 0.05)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40080"/>
                <a:gridCol w="640080"/>
                <a:gridCol w="64008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4630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463040"/>
            <a:ext cx="73152" cy="1463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5544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Hypotheses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Age and movie preference are independent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Hₐ: They are associated (dependent)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α = 0.05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Expected Counts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3474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3200400"/>
            <a:ext cx="73152" cy="1463040"/>
          </a:xfrm>
          <a:prstGeom prst="rect">
            <a:avLst/>
          </a:prstGeom>
          <a:solidFill>
            <a:srgbClr val="27834A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32918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Check Requirements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are counts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Observations are independent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expected counts ≥ 5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(smallest = 5.71)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 — Test Statistic &amp; 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6: χ² Contributions — (O − E)² / 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657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23–27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05156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1430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cell calculations: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(9−10.11)²/10.11 = 0.122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(24−19.17)²/19.17 = 1.217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(16−25.00)²/25.00 = 3.240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↑ largest contribution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Result: 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χ² = 0.122 + 1.217 + 0.832 + 0.088 + 1.606 + 1.260 + 0.251 + 3.240 + 2.363 = </a:t>
            </a:r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10.979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7:  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(3−1)(3−1) = 4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8:  </a:t>
            </a:r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≈ 0.0268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Since p = 0.0268 ≤ 0.05 →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4114800"/>
            <a:ext cx="777240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4114800"/>
            <a:ext cx="54864" cy="548640"/>
          </a:xfrm>
          <a:prstGeom prst="rect">
            <a:avLst/>
          </a:prstGeom>
          <a:solidFill>
            <a:srgbClr val="27834A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9:  </a:t>
            </a:r>
            <a:pPr indent="0" marL="0">
              <a:buNone/>
            </a:pPr>
            <a:r>
              <a:rPr lang="en-US" sz="1300" b="1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sufficient evidence that age group and movie preference are associated.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3 — Test of Homogeneity (Setup)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random samples of 100 students from each of 3 campuses (A, B, C). Compare movie preference distributions.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Observed Table (n = 300, α = 0.05)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640080"/>
                <a:gridCol w="64008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46304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463040"/>
            <a:ext cx="73152" cy="1280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554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Hypotheses (Homogeneity)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All campuses have the same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movie preference distribution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Hₐ: At least one campus differs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Expected Counts (equal column totals simplify this)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E(Drama) = (100)(100)/300 = 33.33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E(Fiction) = (80)(100)/300 = 26.67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E(Comedy) = (120)(100)/300 = 40.00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37033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703320"/>
            <a:ext cx="73152" cy="1097280"/>
          </a:xfrm>
          <a:prstGeom prst="rect">
            <a:avLst/>
          </a:prstGeom>
          <a:solidFill>
            <a:srgbClr val="27834A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3794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Requirements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are counts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Independent observations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expected counts ≥ 5 (smallest = 26.67)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3 — Test Statistic &amp; 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6: χ² Contributions — (O − E)² / 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291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206240" y="1051560"/>
            <a:ext cx="44805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89120" y="11430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cell calculations: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(30−33.33)²/33.33 = 0.333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(25−33.33)²/33.33 = 2.082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(45−33.33)²/33.33 = 4.086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↑ largest contribution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 Result: 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χ² = 0.333 + 2.082 + 4.086 + 1.668 + 2.602 + 0.105 + 2.500 + 0.000 + 2.500 = </a:t>
            </a:r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15.876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7:  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(3−1)(3−1) = 4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8:  </a:t>
            </a:r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≈ 0.0032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Since p = 0.0032 ≤ 0.05 →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(strong evidence)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4114800"/>
            <a:ext cx="777240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4114800"/>
            <a:ext cx="54864" cy="548640"/>
          </a:xfrm>
          <a:prstGeom prst="rect">
            <a:avLst/>
          </a:prstGeom>
          <a:solidFill>
            <a:srgbClr val="27834A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9:  </a:t>
            </a:r>
            <a:pPr indent="0" marL="0">
              <a:buNone/>
            </a:pPr>
            <a:r>
              <a:rPr lang="en-US" sz="1300" b="1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preference distributions are not the same across all three campuses.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to Avoid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percentages instead of counts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raw frequency counts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expected count formula (using E = np)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 = (row total)(col total) / 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df (using n−1 or r×c−1)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df = (r−1)(c−1)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01752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"accept H₀"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"fail to reject H₀"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65760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check expected counts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657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expected counts ≥ 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29768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independence &amp; homogeneity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297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27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by data collection method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+ counts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Contingency table test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801368"/>
            <a:ext cx="7315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801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sample, two vars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801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Independence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368296"/>
            <a:ext cx="7315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3682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samples, one var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368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Homogeneity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935224"/>
            <a:ext cx="7315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93522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count formula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9352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(row total)(col total) / 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502152"/>
            <a:ext cx="7315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502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3502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χ² = Σ (O − E)² / 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(r − 1)(c − 1)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MA235 Statistics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Contingency Tables — Full Combined Notes</dc:title>
  <dc:subject>PptxGenJS Presentation</dc:subject>
  <dc:creator>MA235</dc:creator>
  <cp:lastModifiedBy>MA235</cp:lastModifiedBy>
  <cp:revision>1</cp:revision>
  <dcterms:created xsi:type="dcterms:W3CDTF">2026-02-25T14:54:04Z</dcterms:created>
  <dcterms:modified xsi:type="dcterms:W3CDTF">2026-02-25T14:54:04Z</dcterms:modified>
</cp:coreProperties>
</file>