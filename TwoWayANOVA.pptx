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Two-Way ANOVA — used when a quantitative outcome is affected by two categorical variables (factors). This session covers hypotheses, assumptions, ANOVA table construction, a full worked example, and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for this session. Students should be able to set up and interpret a two-way ANOVA by the end, including checking assumptions and writing proper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overview. Session is ~90 minutes. The worked example is the core — give it the most time. Practice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ANOVA stands for Analysis of Variance, but the goal is still comparing means. The F-ratio is essentially signal-to-noise. Remind students of the familywise error rate issue from earlier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Two-way ANOVA adds the interaction test — can the effect of one factor depend on the level of the other? This is the most conceptually new piece for students coming from one-way ANOVA.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 two-way ANOVA, confirm: Y is quantitative, both explanatory variables are categorical, observations are independent, and you're interested in main effects and/or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is the key new concept. Emphasize: 'The effect of A changes depending on which level of B you're in.' Use a concrete example — e.g., a drug works for men but not 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grid on the board. Have students fill in a small example. Each cell = one combination of factor levels. Emphasize that we need replication (n &gt; 1 per cell) to test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types of means are all used in the SS formulas. Cell means drive the interaction, marginal means drive the main effects, and the grand mean is the overall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don't need to memorize the model, but should understand what each term represents. The interaction term is what makes two-way different from one-way. Ask: 'What does it mean if the interaction term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for the entire analysis. The interaction test comes first because if it's significant, the main effects can be misleading. Drill this order into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concept in two-way ANOVA. If the interaction is significant, the main effect averages can hide what's really happening. Use an interaction plot to illustrate — non-parallel lines =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decision tree: interaction first, then main effects only if interaction is not significant. This is the #1 mistake students make — interpreting main effects when interaction is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We now cover the three assumptions: independence, normality, and equal variances. Students need to know both what each assumption means and how to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Independence is checked by examining the study design, not by running a statistical test. Ask: 'Could one observation influence another?' If yes, independence is violated.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small samples, normality matters more. For larger samples (n &gt; 30 per cell), ANOVA is fairly robust due to the Central Limit Theorem. Q-Q plots are the most informative visual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Levene's test is more robust than Bartlett's test when normality is questionable. The 2x rule of thumb (largest SD / smallest SD &lt; 2) is a practical guideline. Balanced designs are more robust to unequal variances.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variation in Y is split into four components. The F-tests compare each factor's variation to the error variation. If a factor's variation is much larger than error, the F-ratio will be large and p-value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df must add up. This is a good sanity check when filling in the ANOVA table. For the worked example coming up: a=3, b=2, n=2, so df are 2, 1, 2, 6,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template students will fill in. MS = SS/df. F = MS_factor / MS_error. Each F-statistic has its own p-value. The denominator is always MS_Error.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worked example. This is the core of the session. Walk through each step carefully. Have students follow along with calculators.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3x2 balanced design with n=2 per cell (small, for manual calculation). Factor A = teaching method, Factor B = time of day. Response = quiz score. Have students copy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cell mean calculation for one cell on the board. Then show how marginal means are averages of cell means (for balanced designs). The grand mean is the overall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cell calculation for SS_AB on the board: Cell A1B1: (78 - 81.5 - 83.333 + 84.333)² = (-2.5)² = 6.25. Then multiply by n=2. Do the same for all 6 cells and sum. For SS_E, each cell contributes (y-cell mean)² for each observation: always 1+1=2 per cell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everything together. Walk through each calculation step. MS = SS/df. F = MS/MS_Error. Note that MS_Error is always the denominator. The completed table is the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values from F-distribution table: F(2,6) at 0.05 = 5.143; F(1,6) at 0.05 = 5.987. All three tests are significant in this example. Since interaction is significant, the main effects should be interpreted cautiously — simple effects are more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practice, students should always report how they checked assumptions. With small n, normality is hard to assess — mention that ANOVA is robust with larger samples. Equal variances are clearly satisfied here since each cell has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encounter unbalanced designs in projects. Key takeaway: with balanced designs, Type I = Type III, so it doesn't matter. With unbalanced designs, Type III is usually preferred because it tests each factor 'adjusted for' the others. Most software defaults to Type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Now we cover how to write conclusion sentences — a skill students often struggle with on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memorize these templates. The #1 rule: always mention the actual variable names, not just 'A' and 'B'. Say 'teaching method' and 'time of day', not 'Factor A' and 'Factor B'. Also: always say 'fail to reject', never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mistake and ask students if they've made it before. The 'accept H0' mistake carries over from hypothesis testing in general. The interaction mistake is specific to two-way ANOVA and is the most costly on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mention Tukey conceptually even if students don't compute it by hand. The analogy: ANOVA is the alarm, Tukey tells you which room the fire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study guide. Each item is something students could be asked on an exam. If they can do all 6 steps, they're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section. Give students a few minutes per question before revealing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Walk through: MS_A = 80/2 = 40; MS_E = 120/24 = 5; F_A = 40/5 = 8. SS_B = 15*3 = 45. df_AB = (3-1)(4-1) = 6; MS_AB = 60/6 = 10; F_AB = 10/5 = 2. SS_T = 80+45+60+120 = 305; df_T = 2+3+6+24 =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interpretation question students will see on exams. Key points: (a) Yes, significant interaction. (b) No — when interaction is significant, main effects can be misleading. (c) Must include context (exercise type, diet, weight loss) and the decision (reject H0).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slideLayout" Target="../slideLayouts/slideLayout1.xml"/><Relationship Id="rId1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D48"/>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EA5E9"/>
          </a:solidFill>
          <a:ln/>
        </p:spPr>
      </p:sp>
      <p:sp>
        <p:nvSpPr>
          <p:cNvPr id="3" name="Shape 1"/>
          <p:cNvSpPr/>
          <p:nvPr/>
        </p:nvSpPr>
        <p:spPr>
          <a:xfrm>
            <a:off x="0" y="1371600"/>
            <a:ext cx="274320" cy="2286000"/>
          </a:xfrm>
          <a:prstGeom prst="rect">
            <a:avLst/>
          </a:prstGeom>
          <a:solidFill>
            <a:srgbClr val="1C7293"/>
          </a:solidFill>
          <a:ln/>
        </p:spPr>
      </p:sp>
      <p:sp>
        <p:nvSpPr>
          <p:cNvPr id="4" name="Shape 2"/>
          <p:cNvSpPr/>
          <p:nvPr/>
        </p:nvSpPr>
        <p:spPr>
          <a:xfrm>
            <a:off x="3977640" y="914400"/>
            <a:ext cx="914400" cy="914400"/>
          </a:xfrm>
          <a:prstGeom prst="ellipse">
            <a:avLst/>
          </a:prstGeom>
          <a:solidFill>
            <a:srgbClr val="1C7293"/>
          </a:solidFill>
          <a:ln/>
        </p:spPr>
      </p:sp>
      <p:pic>
        <p:nvPicPr>
          <p:cNvPr id="5" name="Image 0" descr="preencoded.png">    </p:cNvPr>
          <p:cNvPicPr>
            <a:picLocks noChangeAspect="1"/>
          </p:cNvPicPr>
          <p:nvPr/>
        </p:nvPicPr>
        <p:blipFill>
          <a:blip r:embed="rId1"/>
          <a:stretch>
            <a:fillRect/>
          </a:stretch>
        </p:blipFill>
        <p:spPr>
          <a:xfrm>
            <a:off x="4160520" y="1097280"/>
            <a:ext cx="548640" cy="548640"/>
          </a:xfrm>
          <a:prstGeom prst="rect">
            <a:avLst/>
          </a:prstGeom>
        </p:spPr>
      </p:pic>
      <p:sp>
        <p:nvSpPr>
          <p:cNvPr id="6" name="Text 3"/>
          <p:cNvSpPr/>
          <p:nvPr/>
        </p:nvSpPr>
        <p:spPr>
          <a:xfrm>
            <a:off x="457200" y="2011680"/>
            <a:ext cx="8229600" cy="82296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Two-Way ANOVA</a:t>
            </a:r>
            <a:endParaRPr lang="en-US" sz="4400" dirty="0"/>
          </a:p>
        </p:txBody>
      </p:sp>
      <p:sp>
        <p:nvSpPr>
          <p:cNvPr id="7" name="Text 4"/>
          <p:cNvSpPr/>
          <p:nvPr/>
        </p:nvSpPr>
        <p:spPr>
          <a:xfrm>
            <a:off x="457200" y="2834640"/>
            <a:ext cx="8229600" cy="457200"/>
          </a:xfrm>
          <a:prstGeom prst="rect">
            <a:avLst/>
          </a:prstGeom>
          <a:noFill/>
          <a:ln/>
        </p:spPr>
        <p:txBody>
          <a:bodyPr wrap="square" rtlCol="0" anchor="ctr"/>
          <a:lstStyle/>
          <a:p>
            <a:pPr algn="ctr" indent="0" marL="0">
              <a:buNone/>
            </a:pPr>
            <a:r>
              <a:rPr lang="en-US" sz="1800" dirty="0">
                <a:solidFill>
                  <a:srgbClr val="BAE6FD"/>
                </a:solidFill>
                <a:latin typeface="Calibri" pitchFamily="34" charset="0"/>
                <a:ea typeface="Calibri" pitchFamily="34" charset="-122"/>
                <a:cs typeface="Calibri" pitchFamily="34" charset="-120"/>
              </a:rPr>
              <a:t>Analysis of Variance with Two Factors</a:t>
            </a:r>
            <a:endParaRPr lang="en-US" sz="1800" dirty="0"/>
          </a:p>
        </p:txBody>
      </p:sp>
      <p:sp>
        <p:nvSpPr>
          <p:cNvPr id="8" name="Text 5"/>
          <p:cNvSpPr/>
          <p:nvPr/>
        </p:nvSpPr>
        <p:spPr>
          <a:xfrm>
            <a:off x="457200" y="3840480"/>
            <a:ext cx="8229600" cy="36576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MA235 Statistics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Objectives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36</a:t>
            </a:r>
            <a:endParaRPr lang="en-US" sz="900" dirty="0"/>
          </a:p>
        </p:txBody>
      </p:sp>
      <p:sp>
        <p:nvSpPr>
          <p:cNvPr id="7" name="Shape 4"/>
          <p:cNvSpPr/>
          <p:nvPr/>
        </p:nvSpPr>
        <p:spPr>
          <a:xfrm>
            <a:off x="731520" y="1005840"/>
            <a:ext cx="7680960" cy="731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731520" y="1005840"/>
            <a:ext cx="64008" cy="731520"/>
          </a:xfrm>
          <a:prstGeom prst="rect">
            <a:avLst/>
          </a:prstGeom>
          <a:solidFill>
            <a:srgbClr val="0EA5E9"/>
          </a:solidFill>
          <a:ln/>
        </p:spPr>
      </p:sp>
      <p:sp>
        <p:nvSpPr>
          <p:cNvPr id="9" name="Text 6"/>
          <p:cNvSpPr/>
          <p:nvPr/>
        </p:nvSpPr>
        <p:spPr>
          <a:xfrm>
            <a:off x="960120" y="1143000"/>
            <a:ext cx="457200" cy="457200"/>
          </a:xfrm>
          <a:prstGeom prst="rect">
            <a:avLst/>
          </a:prstGeom>
          <a:noFill/>
          <a:ln/>
        </p:spPr>
        <p:txBody>
          <a:bodyPr wrap="square" lIns="0" tIns="0" rIns="0" bIns="0" rtlCol="0" anchor="ctr"/>
          <a:lstStyle/>
          <a:p>
            <a:pPr indent="0" marL="0">
              <a:buNone/>
            </a:pPr>
            <a:r>
              <a:rPr lang="en-US" sz="2000" b="1" dirty="0">
                <a:solidFill>
                  <a:srgbClr val="065A82"/>
                </a:solidFill>
                <a:latin typeface="Georgia" pitchFamily="34" charset="0"/>
                <a:ea typeface="Georgia" pitchFamily="34" charset="-122"/>
                <a:cs typeface="Georgia" pitchFamily="34" charset="-120"/>
              </a:rPr>
              <a:t>1</a:t>
            </a:r>
            <a:endParaRPr lang="en-US" sz="2000" dirty="0"/>
          </a:p>
        </p:txBody>
      </p:sp>
      <p:sp>
        <p:nvSpPr>
          <p:cNvPr id="10" name="Text 7"/>
          <p:cNvSpPr/>
          <p:nvPr/>
        </p:nvSpPr>
        <p:spPr>
          <a:xfrm>
            <a:off x="1417320" y="1097280"/>
            <a:ext cx="66751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Utilize the method of Two-Way Analysis of Variance (ANOVA)</a:t>
            </a:r>
            <a:endParaRPr lang="en-US" sz="1500" dirty="0"/>
          </a:p>
        </p:txBody>
      </p:sp>
      <p:sp>
        <p:nvSpPr>
          <p:cNvPr id="11" name="Shape 8"/>
          <p:cNvSpPr/>
          <p:nvPr/>
        </p:nvSpPr>
        <p:spPr>
          <a:xfrm>
            <a:off x="731520" y="1874520"/>
            <a:ext cx="7680960" cy="731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731520" y="1874520"/>
            <a:ext cx="64008" cy="731520"/>
          </a:xfrm>
          <a:prstGeom prst="rect">
            <a:avLst/>
          </a:prstGeom>
          <a:solidFill>
            <a:srgbClr val="0EA5E9"/>
          </a:solidFill>
          <a:ln/>
        </p:spPr>
      </p:sp>
      <p:sp>
        <p:nvSpPr>
          <p:cNvPr id="13" name="Text 10"/>
          <p:cNvSpPr/>
          <p:nvPr/>
        </p:nvSpPr>
        <p:spPr>
          <a:xfrm>
            <a:off x="960120" y="2011680"/>
            <a:ext cx="457200" cy="457200"/>
          </a:xfrm>
          <a:prstGeom prst="rect">
            <a:avLst/>
          </a:prstGeom>
          <a:noFill/>
          <a:ln/>
        </p:spPr>
        <p:txBody>
          <a:bodyPr wrap="square" lIns="0" tIns="0" rIns="0" bIns="0" rtlCol="0" anchor="ctr"/>
          <a:lstStyle/>
          <a:p>
            <a:pPr indent="0" marL="0">
              <a:buNone/>
            </a:pPr>
            <a:r>
              <a:rPr lang="en-US" sz="2000" b="1" dirty="0">
                <a:solidFill>
                  <a:srgbClr val="065A82"/>
                </a:solidFill>
                <a:latin typeface="Georgia" pitchFamily="34" charset="0"/>
                <a:ea typeface="Georgia" pitchFamily="34" charset="-122"/>
                <a:cs typeface="Georgia" pitchFamily="34" charset="-120"/>
              </a:rPr>
              <a:t>2</a:t>
            </a:r>
            <a:endParaRPr lang="en-US" sz="2000" dirty="0"/>
          </a:p>
        </p:txBody>
      </p:sp>
      <p:sp>
        <p:nvSpPr>
          <p:cNvPr id="14" name="Text 11"/>
          <p:cNvSpPr/>
          <p:nvPr/>
        </p:nvSpPr>
        <p:spPr>
          <a:xfrm>
            <a:off x="1417320" y="1965960"/>
            <a:ext cx="66751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Conduct hypothesis tests for 3+ populations with multiple factors</a:t>
            </a:r>
            <a:endParaRPr lang="en-US" sz="1500" dirty="0"/>
          </a:p>
        </p:txBody>
      </p:sp>
      <p:sp>
        <p:nvSpPr>
          <p:cNvPr id="15" name="Shape 12"/>
          <p:cNvSpPr/>
          <p:nvPr/>
        </p:nvSpPr>
        <p:spPr>
          <a:xfrm>
            <a:off x="731520" y="2743200"/>
            <a:ext cx="7680960" cy="731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731520" y="2743200"/>
            <a:ext cx="64008" cy="731520"/>
          </a:xfrm>
          <a:prstGeom prst="rect">
            <a:avLst/>
          </a:prstGeom>
          <a:solidFill>
            <a:srgbClr val="0EA5E9"/>
          </a:solidFill>
          <a:ln/>
        </p:spPr>
      </p:sp>
      <p:sp>
        <p:nvSpPr>
          <p:cNvPr id="17" name="Text 14"/>
          <p:cNvSpPr/>
          <p:nvPr/>
        </p:nvSpPr>
        <p:spPr>
          <a:xfrm>
            <a:off x="960120" y="2880360"/>
            <a:ext cx="457200" cy="457200"/>
          </a:xfrm>
          <a:prstGeom prst="rect">
            <a:avLst/>
          </a:prstGeom>
          <a:noFill/>
          <a:ln/>
        </p:spPr>
        <p:txBody>
          <a:bodyPr wrap="square" lIns="0" tIns="0" rIns="0" bIns="0" rtlCol="0" anchor="ctr"/>
          <a:lstStyle/>
          <a:p>
            <a:pPr indent="0" marL="0">
              <a:buNone/>
            </a:pPr>
            <a:r>
              <a:rPr lang="en-US" sz="2000" b="1" dirty="0">
                <a:solidFill>
                  <a:srgbClr val="065A82"/>
                </a:solidFill>
                <a:latin typeface="Georgia" pitchFamily="34" charset="0"/>
                <a:ea typeface="Georgia" pitchFamily="34" charset="-122"/>
                <a:cs typeface="Georgia" pitchFamily="34" charset="-120"/>
              </a:rPr>
              <a:t>3</a:t>
            </a:r>
            <a:endParaRPr lang="en-US" sz="2000" dirty="0"/>
          </a:p>
        </p:txBody>
      </p:sp>
      <p:sp>
        <p:nvSpPr>
          <p:cNvPr id="18" name="Text 15"/>
          <p:cNvSpPr/>
          <p:nvPr/>
        </p:nvSpPr>
        <p:spPr>
          <a:xfrm>
            <a:off x="1417320" y="2834640"/>
            <a:ext cx="66751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Test and interpret: Factor A (main effect), Factor B (main effect), and A×B Interaction</a:t>
            </a:r>
            <a:endParaRPr lang="en-US" sz="1500" dirty="0"/>
          </a:p>
        </p:txBody>
      </p:sp>
      <p:sp>
        <p:nvSpPr>
          <p:cNvPr id="19" name="Shape 16"/>
          <p:cNvSpPr/>
          <p:nvPr/>
        </p:nvSpPr>
        <p:spPr>
          <a:xfrm>
            <a:off x="731520" y="3611880"/>
            <a:ext cx="7680960" cy="731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7"/>
          <p:cNvSpPr/>
          <p:nvPr/>
        </p:nvSpPr>
        <p:spPr>
          <a:xfrm>
            <a:off x="731520" y="3611880"/>
            <a:ext cx="64008" cy="731520"/>
          </a:xfrm>
          <a:prstGeom prst="rect">
            <a:avLst/>
          </a:prstGeom>
          <a:solidFill>
            <a:srgbClr val="0EA5E9"/>
          </a:solidFill>
          <a:ln/>
        </p:spPr>
      </p:sp>
      <p:sp>
        <p:nvSpPr>
          <p:cNvPr id="21" name="Text 18"/>
          <p:cNvSpPr/>
          <p:nvPr/>
        </p:nvSpPr>
        <p:spPr>
          <a:xfrm>
            <a:off x="960120" y="3749040"/>
            <a:ext cx="457200" cy="457200"/>
          </a:xfrm>
          <a:prstGeom prst="rect">
            <a:avLst/>
          </a:prstGeom>
          <a:noFill/>
          <a:ln/>
        </p:spPr>
        <p:txBody>
          <a:bodyPr wrap="square" lIns="0" tIns="0" rIns="0" bIns="0" rtlCol="0" anchor="ctr"/>
          <a:lstStyle/>
          <a:p>
            <a:pPr indent="0" marL="0">
              <a:buNone/>
            </a:pPr>
            <a:r>
              <a:rPr lang="en-US" sz="2000" b="1" dirty="0">
                <a:solidFill>
                  <a:srgbClr val="065A82"/>
                </a:solidFill>
                <a:latin typeface="Georgia" pitchFamily="34" charset="0"/>
                <a:ea typeface="Georgia" pitchFamily="34" charset="-122"/>
                <a:cs typeface="Georgia" pitchFamily="34" charset="-120"/>
              </a:rPr>
              <a:t>4</a:t>
            </a:r>
            <a:endParaRPr lang="en-US" sz="2000" dirty="0"/>
          </a:p>
        </p:txBody>
      </p:sp>
      <p:sp>
        <p:nvSpPr>
          <p:cNvPr id="22" name="Text 19"/>
          <p:cNvSpPr/>
          <p:nvPr/>
        </p:nvSpPr>
        <p:spPr>
          <a:xfrm>
            <a:off x="1417320" y="3703320"/>
            <a:ext cx="66751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Verify assumptions and write conclusions in context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Agenda</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36</a:t>
            </a:r>
            <a:endParaRPr lang="en-US" sz="900" dirty="0"/>
          </a:p>
        </p:txBody>
      </p:sp>
      <p:sp>
        <p:nvSpPr>
          <p:cNvPr id="7" name="Shape 4"/>
          <p:cNvSpPr/>
          <p:nvPr/>
        </p:nvSpPr>
        <p:spPr>
          <a:xfrm>
            <a:off x="457200" y="100584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640080" y="1161288"/>
            <a:ext cx="365760" cy="365760"/>
          </a:xfrm>
          <a:prstGeom prst="rect">
            <a:avLst/>
          </a:prstGeom>
        </p:spPr>
      </p:pic>
      <p:sp>
        <p:nvSpPr>
          <p:cNvPr id="9" name="Text 5"/>
          <p:cNvSpPr/>
          <p:nvPr/>
        </p:nvSpPr>
        <p:spPr>
          <a:xfrm>
            <a:off x="1143000" y="109728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Review: Why ANOVA</a:t>
            </a:r>
            <a:endParaRPr lang="en-US" sz="1400" dirty="0"/>
          </a:p>
        </p:txBody>
      </p:sp>
      <p:sp>
        <p:nvSpPr>
          <p:cNvPr id="10" name="Shape 6"/>
          <p:cNvSpPr/>
          <p:nvPr/>
        </p:nvSpPr>
        <p:spPr>
          <a:xfrm>
            <a:off x="457200" y="187452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1" name="Image 2" descr="preencoded.png">    </p:cNvPr>
          <p:cNvPicPr>
            <a:picLocks noChangeAspect="1"/>
          </p:cNvPicPr>
          <p:nvPr/>
        </p:nvPicPr>
        <p:blipFill>
          <a:blip r:embed="rId3"/>
          <a:stretch>
            <a:fillRect/>
          </a:stretch>
        </p:blipFill>
        <p:spPr>
          <a:xfrm>
            <a:off x="640080" y="2029968"/>
            <a:ext cx="365760" cy="365760"/>
          </a:xfrm>
          <a:prstGeom prst="rect">
            <a:avLst/>
          </a:prstGeom>
        </p:spPr>
      </p:pic>
      <p:sp>
        <p:nvSpPr>
          <p:cNvPr id="12" name="Text 7"/>
          <p:cNvSpPr/>
          <p:nvPr/>
        </p:nvSpPr>
        <p:spPr>
          <a:xfrm>
            <a:off x="1143000" y="196596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One-Way vs Two-Way</a:t>
            </a:r>
            <a:endParaRPr lang="en-US" sz="1400" dirty="0"/>
          </a:p>
        </p:txBody>
      </p:sp>
      <p:sp>
        <p:nvSpPr>
          <p:cNvPr id="13" name="Shape 8"/>
          <p:cNvSpPr/>
          <p:nvPr/>
        </p:nvSpPr>
        <p:spPr>
          <a:xfrm>
            <a:off x="457200" y="274320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4" name="Image 3" descr="preencoded.png">    </p:cNvPr>
          <p:cNvPicPr>
            <a:picLocks noChangeAspect="1"/>
          </p:cNvPicPr>
          <p:nvPr/>
        </p:nvPicPr>
        <p:blipFill>
          <a:blip r:embed="rId4"/>
          <a:stretch>
            <a:fillRect/>
          </a:stretch>
        </p:blipFill>
        <p:spPr>
          <a:xfrm>
            <a:off x="640080" y="2898648"/>
            <a:ext cx="365760" cy="365760"/>
          </a:xfrm>
          <a:prstGeom prst="rect">
            <a:avLst/>
          </a:prstGeom>
        </p:spPr>
      </p:pic>
      <p:sp>
        <p:nvSpPr>
          <p:cNvPr id="15" name="Text 9"/>
          <p:cNvSpPr/>
          <p:nvPr/>
        </p:nvSpPr>
        <p:spPr>
          <a:xfrm>
            <a:off x="1143000" y="283464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Vocabulary + Data Layout</a:t>
            </a:r>
            <a:endParaRPr lang="en-US" sz="1400" dirty="0"/>
          </a:p>
        </p:txBody>
      </p:sp>
      <p:sp>
        <p:nvSpPr>
          <p:cNvPr id="16" name="Shape 10"/>
          <p:cNvSpPr/>
          <p:nvPr/>
        </p:nvSpPr>
        <p:spPr>
          <a:xfrm>
            <a:off x="457200" y="361188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7" name="Image 4" descr="preencoded.png">    </p:cNvPr>
          <p:cNvPicPr>
            <a:picLocks noChangeAspect="1"/>
          </p:cNvPicPr>
          <p:nvPr/>
        </p:nvPicPr>
        <p:blipFill>
          <a:blip r:embed="rId5"/>
          <a:stretch>
            <a:fillRect/>
          </a:stretch>
        </p:blipFill>
        <p:spPr>
          <a:xfrm>
            <a:off x="640080" y="3767328"/>
            <a:ext cx="365760" cy="365760"/>
          </a:xfrm>
          <a:prstGeom prst="rect">
            <a:avLst/>
          </a:prstGeom>
        </p:spPr>
      </p:pic>
      <p:sp>
        <p:nvSpPr>
          <p:cNvPr id="18" name="Text 11"/>
          <p:cNvSpPr/>
          <p:nvPr/>
        </p:nvSpPr>
        <p:spPr>
          <a:xfrm>
            <a:off x="1143000" y="370332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Hypotheses (3 Tests)</a:t>
            </a:r>
            <a:endParaRPr lang="en-US" sz="1400" dirty="0"/>
          </a:p>
        </p:txBody>
      </p:sp>
      <p:sp>
        <p:nvSpPr>
          <p:cNvPr id="19" name="Shape 12"/>
          <p:cNvSpPr/>
          <p:nvPr/>
        </p:nvSpPr>
        <p:spPr>
          <a:xfrm>
            <a:off x="4846320" y="100584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0" name="Image 5" descr="preencoded.png">    </p:cNvPr>
          <p:cNvPicPr>
            <a:picLocks noChangeAspect="1"/>
          </p:cNvPicPr>
          <p:nvPr/>
        </p:nvPicPr>
        <p:blipFill>
          <a:blip r:embed="rId6"/>
          <a:stretch>
            <a:fillRect/>
          </a:stretch>
        </p:blipFill>
        <p:spPr>
          <a:xfrm>
            <a:off x="5029200" y="1161288"/>
            <a:ext cx="365760" cy="365760"/>
          </a:xfrm>
          <a:prstGeom prst="rect">
            <a:avLst/>
          </a:prstGeom>
        </p:spPr>
      </p:pic>
      <p:sp>
        <p:nvSpPr>
          <p:cNvPr id="21" name="Text 13"/>
          <p:cNvSpPr/>
          <p:nvPr/>
        </p:nvSpPr>
        <p:spPr>
          <a:xfrm>
            <a:off x="5532120" y="109728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Assumptions + Checks</a:t>
            </a:r>
            <a:endParaRPr lang="en-US" sz="1400" dirty="0"/>
          </a:p>
        </p:txBody>
      </p:sp>
      <p:sp>
        <p:nvSpPr>
          <p:cNvPr id="22" name="Shape 14"/>
          <p:cNvSpPr/>
          <p:nvPr/>
        </p:nvSpPr>
        <p:spPr>
          <a:xfrm>
            <a:off x="4846320" y="187452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3" name="Image 6" descr="preencoded.png">    </p:cNvPr>
          <p:cNvPicPr>
            <a:picLocks noChangeAspect="1"/>
          </p:cNvPicPr>
          <p:nvPr/>
        </p:nvPicPr>
        <p:blipFill>
          <a:blip r:embed="rId7"/>
          <a:stretch>
            <a:fillRect/>
          </a:stretch>
        </p:blipFill>
        <p:spPr>
          <a:xfrm>
            <a:off x="5029200" y="2029968"/>
            <a:ext cx="365760" cy="365760"/>
          </a:xfrm>
          <a:prstGeom prst="rect">
            <a:avLst/>
          </a:prstGeom>
        </p:spPr>
      </p:pic>
      <p:sp>
        <p:nvSpPr>
          <p:cNvPr id="24" name="Text 15"/>
          <p:cNvSpPr/>
          <p:nvPr/>
        </p:nvSpPr>
        <p:spPr>
          <a:xfrm>
            <a:off x="5532120" y="196596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ANOVA Table + F Tests</a:t>
            </a:r>
            <a:endParaRPr lang="en-US" sz="1400" dirty="0"/>
          </a:p>
        </p:txBody>
      </p:sp>
      <p:sp>
        <p:nvSpPr>
          <p:cNvPr id="25" name="Shape 16"/>
          <p:cNvSpPr/>
          <p:nvPr/>
        </p:nvSpPr>
        <p:spPr>
          <a:xfrm>
            <a:off x="4846320" y="274320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6" name="Image 7" descr="preencoded.png">    </p:cNvPr>
          <p:cNvPicPr>
            <a:picLocks noChangeAspect="1"/>
          </p:cNvPicPr>
          <p:nvPr/>
        </p:nvPicPr>
        <p:blipFill>
          <a:blip r:embed="rId8"/>
          <a:stretch>
            <a:fillRect/>
          </a:stretch>
        </p:blipFill>
        <p:spPr>
          <a:xfrm>
            <a:off x="5029200" y="2898648"/>
            <a:ext cx="365760" cy="365760"/>
          </a:xfrm>
          <a:prstGeom prst="rect">
            <a:avLst/>
          </a:prstGeom>
        </p:spPr>
      </p:pic>
      <p:sp>
        <p:nvSpPr>
          <p:cNvPr id="27" name="Text 17"/>
          <p:cNvSpPr/>
          <p:nvPr/>
        </p:nvSpPr>
        <p:spPr>
          <a:xfrm>
            <a:off x="5532120" y="283464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Full Worked Example</a:t>
            </a:r>
            <a:endParaRPr lang="en-US" sz="1400" dirty="0"/>
          </a:p>
        </p:txBody>
      </p:sp>
      <p:sp>
        <p:nvSpPr>
          <p:cNvPr id="28" name="Shape 18"/>
          <p:cNvSpPr/>
          <p:nvPr/>
        </p:nvSpPr>
        <p:spPr>
          <a:xfrm>
            <a:off x="4846320" y="3611880"/>
            <a:ext cx="3840480" cy="713232"/>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9" name="Image 8" descr="preencoded.png">    </p:cNvPr>
          <p:cNvPicPr>
            <a:picLocks noChangeAspect="1"/>
          </p:cNvPicPr>
          <p:nvPr/>
        </p:nvPicPr>
        <p:blipFill>
          <a:blip r:embed="rId9"/>
          <a:stretch>
            <a:fillRect/>
          </a:stretch>
        </p:blipFill>
        <p:spPr>
          <a:xfrm>
            <a:off x="5029200" y="3767328"/>
            <a:ext cx="365760" cy="365760"/>
          </a:xfrm>
          <a:prstGeom prst="rect">
            <a:avLst/>
          </a:prstGeom>
        </p:spPr>
      </p:pic>
      <p:sp>
        <p:nvSpPr>
          <p:cNvPr id="30" name="Text 19"/>
          <p:cNvSpPr/>
          <p:nvPr/>
        </p:nvSpPr>
        <p:spPr>
          <a:xfrm>
            <a:off x="5532120" y="3703320"/>
            <a:ext cx="2926080" cy="53035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Conclusions +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Why ANOVA?</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36</a:t>
            </a:r>
            <a:endParaRPr lang="en-US" sz="900" dirty="0"/>
          </a:p>
        </p:txBody>
      </p:sp>
      <p:sp>
        <p:nvSpPr>
          <p:cNvPr id="7" name="Shape 4"/>
          <p:cNvSpPr/>
          <p:nvPr/>
        </p:nvSpPr>
        <p:spPr>
          <a:xfrm>
            <a:off x="457200" y="1005840"/>
            <a:ext cx="822960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457200" y="1005840"/>
            <a:ext cx="64008" cy="1097280"/>
          </a:xfrm>
          <a:prstGeom prst="rect">
            <a:avLst/>
          </a:prstGeom>
          <a:solidFill>
            <a:srgbClr val="EF4444"/>
          </a:solidFill>
          <a:ln/>
        </p:spPr>
      </p:sp>
      <p:sp>
        <p:nvSpPr>
          <p:cNvPr id="9" name="Text 6"/>
          <p:cNvSpPr/>
          <p:nvPr/>
        </p:nvSpPr>
        <p:spPr>
          <a:xfrm>
            <a:off x="731520" y="1051560"/>
            <a:ext cx="3657600" cy="365760"/>
          </a:xfrm>
          <a:prstGeom prst="rect">
            <a:avLst/>
          </a:prstGeom>
          <a:noFill/>
          <a:ln/>
        </p:spPr>
        <p:txBody>
          <a:bodyPr wrap="square" lIns="0" tIns="0" rIns="0" bIns="0" rtlCol="0" anchor="ctr"/>
          <a:lstStyle/>
          <a:p>
            <a:pPr indent="0" marL="0">
              <a:buNone/>
            </a:pPr>
            <a:r>
              <a:rPr lang="en-US" sz="1600" b="1" dirty="0">
                <a:solidFill>
                  <a:srgbClr val="EF4444"/>
                </a:solidFill>
                <a:latin typeface="Georgia" pitchFamily="34" charset="0"/>
                <a:ea typeface="Georgia" pitchFamily="34" charset="-122"/>
                <a:cs typeface="Georgia" pitchFamily="34" charset="-120"/>
              </a:rPr>
              <a:t>The Problem</a:t>
            </a:r>
            <a:endParaRPr lang="en-US" sz="1600" dirty="0"/>
          </a:p>
        </p:txBody>
      </p:sp>
      <p:sp>
        <p:nvSpPr>
          <p:cNvPr id="10" name="Text 7"/>
          <p:cNvSpPr/>
          <p:nvPr/>
        </p:nvSpPr>
        <p:spPr>
          <a:xfrm>
            <a:off x="731520" y="1417320"/>
            <a:ext cx="7680960" cy="5943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Comparing 3+ means with many t-tests inflates the Type I error rate. With k groups, you’d need k(k–1)/2 pairwise tests, each with its own chance of a false positive.</a:t>
            </a:r>
            <a:endParaRPr lang="en-US" sz="1400" dirty="0"/>
          </a:p>
        </p:txBody>
      </p:sp>
      <p:sp>
        <p:nvSpPr>
          <p:cNvPr id="11" name="Shape 8"/>
          <p:cNvSpPr/>
          <p:nvPr/>
        </p:nvSpPr>
        <p:spPr>
          <a:xfrm>
            <a:off x="457200" y="2377440"/>
            <a:ext cx="822960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57200" y="2377440"/>
            <a:ext cx="64008" cy="1097280"/>
          </a:xfrm>
          <a:prstGeom prst="rect">
            <a:avLst/>
          </a:prstGeom>
          <a:solidFill>
            <a:srgbClr val="10B981"/>
          </a:solidFill>
          <a:ln/>
        </p:spPr>
      </p:sp>
      <p:sp>
        <p:nvSpPr>
          <p:cNvPr id="13" name="Text 10"/>
          <p:cNvSpPr/>
          <p:nvPr/>
        </p:nvSpPr>
        <p:spPr>
          <a:xfrm>
            <a:off x="731520" y="2423160"/>
            <a:ext cx="3657600" cy="365760"/>
          </a:xfrm>
          <a:prstGeom prst="rect">
            <a:avLst/>
          </a:prstGeom>
          <a:noFill/>
          <a:ln/>
        </p:spPr>
        <p:txBody>
          <a:bodyPr wrap="square" lIns="0" tIns="0" rIns="0" bIns="0" rtlCol="0" anchor="ctr"/>
          <a:lstStyle/>
          <a:p>
            <a:pPr indent="0" marL="0">
              <a:buNone/>
            </a:pPr>
            <a:r>
              <a:rPr lang="en-US" sz="1600" b="1" dirty="0">
                <a:solidFill>
                  <a:srgbClr val="10B981"/>
                </a:solidFill>
                <a:latin typeface="Georgia" pitchFamily="34" charset="0"/>
                <a:ea typeface="Georgia" pitchFamily="34" charset="-122"/>
                <a:cs typeface="Georgia" pitchFamily="34" charset="-120"/>
              </a:rPr>
              <a:t>The Solution</a:t>
            </a:r>
            <a:endParaRPr lang="en-US" sz="1600" dirty="0"/>
          </a:p>
        </p:txBody>
      </p:sp>
      <p:sp>
        <p:nvSpPr>
          <p:cNvPr id="14" name="Text 11"/>
          <p:cNvSpPr/>
          <p:nvPr/>
        </p:nvSpPr>
        <p:spPr>
          <a:xfrm>
            <a:off x="731520" y="2788920"/>
            <a:ext cx="7680960" cy="5943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ANOVA uses one framework to compare all group means simultaneously while controlling the overall error rate at α.</a:t>
            </a:r>
            <a:endParaRPr lang="en-US" sz="1400" dirty="0"/>
          </a:p>
        </p:txBody>
      </p:sp>
      <p:sp>
        <p:nvSpPr>
          <p:cNvPr id="15" name="Shape 12"/>
          <p:cNvSpPr/>
          <p:nvPr/>
        </p:nvSpPr>
        <p:spPr>
          <a:xfrm>
            <a:off x="457200" y="3749040"/>
            <a:ext cx="8229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457200" y="3749040"/>
            <a:ext cx="64008" cy="1005840"/>
          </a:xfrm>
          <a:prstGeom prst="rect">
            <a:avLst/>
          </a:prstGeom>
          <a:solidFill>
            <a:srgbClr val="0EA5E9"/>
          </a:solidFill>
          <a:ln/>
        </p:spPr>
      </p:sp>
      <p:sp>
        <p:nvSpPr>
          <p:cNvPr id="17" name="Text 14"/>
          <p:cNvSpPr/>
          <p:nvPr/>
        </p:nvSpPr>
        <p:spPr>
          <a:xfrm>
            <a:off x="731520" y="3794760"/>
            <a:ext cx="365760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Big Idea</a:t>
            </a:r>
            <a:endParaRPr lang="en-US" sz="1600" dirty="0"/>
          </a:p>
        </p:txBody>
      </p:sp>
      <p:sp>
        <p:nvSpPr>
          <p:cNvPr id="18" name="Text 15"/>
          <p:cNvSpPr/>
          <p:nvPr/>
        </p:nvSpPr>
        <p:spPr>
          <a:xfrm>
            <a:off x="731520" y="4160520"/>
            <a:ext cx="768096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Compare signal (between-group variation) to noise (within-group variation). If signal &gt;&gt; noise, at least one mean is different.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One-Way vs Two-Way ANOVA</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36</a:t>
            </a:r>
            <a:endParaRPr lang="en-US" sz="900" dirty="0"/>
          </a:p>
        </p:txBody>
      </p:sp>
      <p:sp>
        <p:nvSpPr>
          <p:cNvPr id="7" name="Shape 4"/>
          <p:cNvSpPr/>
          <p:nvPr/>
        </p:nvSpPr>
        <p:spPr>
          <a:xfrm>
            <a:off x="457200" y="1005840"/>
            <a:ext cx="393192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457200" y="1005840"/>
            <a:ext cx="3931920" cy="502920"/>
          </a:xfrm>
          <a:prstGeom prst="rect">
            <a:avLst/>
          </a:prstGeom>
          <a:solidFill>
            <a:srgbClr val="1C7293"/>
          </a:solidFill>
          <a:ln/>
        </p:spPr>
      </p:sp>
      <p:sp>
        <p:nvSpPr>
          <p:cNvPr id="9" name="Text 6"/>
          <p:cNvSpPr/>
          <p:nvPr/>
        </p:nvSpPr>
        <p:spPr>
          <a:xfrm>
            <a:off x="457200" y="1005840"/>
            <a:ext cx="3931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One-Way ANOVA</a:t>
            </a:r>
            <a:endParaRPr lang="en-US" sz="1800" dirty="0"/>
          </a:p>
        </p:txBody>
      </p:sp>
      <p:sp>
        <p:nvSpPr>
          <p:cNvPr id="10" name="Text 7"/>
          <p:cNvSpPr/>
          <p:nvPr/>
        </p:nvSpPr>
        <p:spPr>
          <a:xfrm>
            <a:off x="731520" y="1691640"/>
            <a:ext cx="3383280" cy="256032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1 factor (k levels)</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Quantitative response</a:t>
            </a:r>
            <a:endParaRPr lang="en-US" sz="1400" dirty="0"/>
          </a:p>
          <a:p>
            <a:pPr marL="342900" indent="-342900">
              <a:spcAft>
                <a:spcPts val="1000"/>
              </a:spcAft>
              <a:buSzPct val="100000"/>
              <a:buChar char="•"/>
            </a:pPr>
            <a:r>
              <a:rPr lang="en-US" sz="1400" dirty="0">
                <a:solidFill>
                  <a:srgbClr val="1E293B"/>
                </a:solidFill>
                <a:latin typeface="Calibri" pitchFamily="34" charset="0"/>
                <a:ea typeface="Calibri" pitchFamily="34" charset="-122"/>
                <a:cs typeface="Calibri" pitchFamily="34" charset="-120"/>
              </a:rPr>
              <a:t>1 hypothesis test</a:t>
            </a:r>
            <a:endParaRPr lang="en-US" sz="1400" dirty="0"/>
          </a:p>
          <a:p>
            <a:pPr marL="342900" indent="-342900">
              <a:spcAft>
                <a:spcPts val="1000"/>
              </a:spcAft>
              <a:buSzPct val="100000"/>
              <a:buChar char="•"/>
            </a:pPr>
            <a:r>
              <a:rPr lang="en-US" sz="1400" i="1" dirty="0">
                <a:solidFill>
                  <a:srgbClr val="1E293B"/>
                </a:solidFill>
                <a:latin typeface="Calibri" pitchFamily="34" charset="0"/>
                <a:ea typeface="Calibri" pitchFamily="34" charset="-122"/>
                <a:cs typeface="Calibri" pitchFamily="34" charset="-120"/>
              </a:rPr>
              <a:t>"Do any group means differ?"</a:t>
            </a:r>
            <a:endParaRPr lang="en-US" sz="1400" dirty="0"/>
          </a:p>
        </p:txBody>
      </p:sp>
      <p:sp>
        <p:nvSpPr>
          <p:cNvPr id="11" name="Shape 8"/>
          <p:cNvSpPr/>
          <p:nvPr/>
        </p:nvSpPr>
        <p:spPr>
          <a:xfrm>
            <a:off x="4754880" y="1005840"/>
            <a:ext cx="393192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754880" y="1005840"/>
            <a:ext cx="3931920" cy="502920"/>
          </a:xfrm>
          <a:prstGeom prst="rect">
            <a:avLst/>
          </a:prstGeom>
          <a:solidFill>
            <a:srgbClr val="065A82"/>
          </a:solidFill>
          <a:ln/>
        </p:spPr>
      </p:sp>
      <p:sp>
        <p:nvSpPr>
          <p:cNvPr id="13" name="Text 10"/>
          <p:cNvSpPr/>
          <p:nvPr/>
        </p:nvSpPr>
        <p:spPr>
          <a:xfrm>
            <a:off x="4754880" y="1005840"/>
            <a:ext cx="3931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Two-Way ANOVA</a:t>
            </a:r>
            <a:endParaRPr lang="en-US" sz="1800" dirty="0"/>
          </a:p>
        </p:txBody>
      </p:sp>
      <p:sp>
        <p:nvSpPr>
          <p:cNvPr id="14" name="Text 11"/>
          <p:cNvSpPr/>
          <p:nvPr/>
        </p:nvSpPr>
        <p:spPr>
          <a:xfrm>
            <a:off x="5029200" y="1691640"/>
            <a:ext cx="3383280" cy="2560320"/>
          </a:xfrm>
          <a:prstGeom prst="rect">
            <a:avLst/>
          </a:prstGeom>
          <a:noFill/>
          <a:ln/>
        </p:spPr>
        <p:txBody>
          <a:bodyPr wrap="square" rtlCol="0" anchor="ctr"/>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2 factors (A with a levels, B with b levels)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Quantitative response</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3 hypothesis tests:</a:t>
            </a:r>
            <a:endParaRPr lang="en-US" sz="1400" dirty="0"/>
          </a:p>
          <a:p>
            <a:pPr lvl="1" marL="6858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1. Interaction (A×B)</a:t>
            </a:r>
            <a:endParaRPr lang="en-US" sz="1400" dirty="0"/>
          </a:p>
          <a:p>
            <a:pPr lvl="1" marL="6858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2. Main effect of A</a:t>
            </a:r>
            <a:endParaRPr lang="en-US" sz="1400" dirty="0"/>
          </a:p>
          <a:p>
            <a:pPr lvl="1" marL="6858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3. Main effect of B</a:t>
            </a:r>
            <a:endParaRPr lang="en-US" sz="1400" dirty="0"/>
          </a:p>
        </p:txBody>
      </p:sp>
      <p:sp>
        <p:nvSpPr>
          <p:cNvPr id="15" name="Shape 12"/>
          <p:cNvSpPr/>
          <p:nvPr/>
        </p:nvSpPr>
        <p:spPr>
          <a:xfrm>
            <a:off x="1828800" y="4617720"/>
            <a:ext cx="5486400" cy="4114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6" name="Text 13"/>
          <p:cNvSpPr/>
          <p:nvPr/>
        </p:nvSpPr>
        <p:spPr>
          <a:xfrm>
            <a:off x="1920240" y="4617720"/>
            <a:ext cx="5303520" cy="411480"/>
          </a:xfrm>
          <a:prstGeom prst="rect">
            <a:avLst/>
          </a:prstGeom>
          <a:noFill/>
          <a:ln/>
        </p:spPr>
        <p:txBody>
          <a:bodyPr wrap="square" rtlCol="0" anchor="ctr"/>
          <a:lstStyle/>
          <a:p>
            <a:pPr algn="ctr" indent="0" marL="0">
              <a:buNone/>
            </a:pPr>
            <a:r>
              <a:rPr lang="en-US" sz="1300" b="1" dirty="0">
                <a:solidFill>
                  <a:srgbClr val="065A82"/>
                </a:solidFill>
                <a:latin typeface="Calibri" pitchFamily="34" charset="0"/>
                <a:ea typeface="Calibri" pitchFamily="34" charset="-122"/>
                <a:cs typeface="Calibri" pitchFamily="34" charset="-120"/>
              </a:rPr>
              <a:t>⚠  Two-Way ANOVA is NOT “two One-Way ANOVAs.” It adds the interaction idea.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When to Use Two-Way ANOVA</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36</a:t>
            </a:r>
            <a:endParaRPr lang="en-US" sz="900" dirty="0"/>
          </a:p>
        </p:txBody>
      </p:sp>
      <p:pic>
        <p:nvPicPr>
          <p:cNvPr id="7" name="Image 1" descr="preencoded.png">    </p:cNvPr>
          <p:cNvPicPr>
            <a:picLocks noChangeAspect="1"/>
          </p:cNvPicPr>
          <p:nvPr/>
        </p:nvPicPr>
        <p:blipFill>
          <a:blip r:embed="rId2"/>
          <a:stretch>
            <a:fillRect/>
          </a:stretch>
        </p:blipFill>
        <p:spPr>
          <a:xfrm>
            <a:off x="548640" y="1115568"/>
            <a:ext cx="320040" cy="320040"/>
          </a:xfrm>
          <a:prstGeom prst="rect">
            <a:avLst/>
          </a:prstGeom>
        </p:spPr>
      </p:pic>
      <p:sp>
        <p:nvSpPr>
          <p:cNvPr id="8" name="Text 4"/>
          <p:cNvSpPr/>
          <p:nvPr/>
        </p:nvSpPr>
        <p:spPr>
          <a:xfrm>
            <a:off x="1005840" y="1051560"/>
            <a:ext cx="749808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Response (Y) is quantitative</a:t>
            </a:r>
            <a:endParaRPr lang="en-US" sz="1500" dirty="0"/>
          </a:p>
        </p:txBody>
      </p:sp>
      <p:sp>
        <p:nvSpPr>
          <p:cNvPr id="9" name="Text 5"/>
          <p:cNvSpPr/>
          <p:nvPr/>
        </p:nvSpPr>
        <p:spPr>
          <a:xfrm>
            <a:off x="1005840" y="1371600"/>
            <a:ext cx="74980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Continuous variable like score, weight, time</a:t>
            </a:r>
            <a:endParaRPr lang="en-US" sz="1200" dirty="0"/>
          </a:p>
        </p:txBody>
      </p:sp>
      <p:pic>
        <p:nvPicPr>
          <p:cNvPr id="10" name="Image 2" descr="preencoded.png">    </p:cNvPr>
          <p:cNvPicPr>
            <a:picLocks noChangeAspect="1"/>
          </p:cNvPicPr>
          <p:nvPr/>
        </p:nvPicPr>
        <p:blipFill>
          <a:blip r:embed="rId3"/>
          <a:stretch>
            <a:fillRect/>
          </a:stretch>
        </p:blipFill>
        <p:spPr>
          <a:xfrm>
            <a:off x="548640" y="1892808"/>
            <a:ext cx="320040" cy="320040"/>
          </a:xfrm>
          <a:prstGeom prst="rect">
            <a:avLst/>
          </a:prstGeom>
        </p:spPr>
      </p:pic>
      <p:sp>
        <p:nvSpPr>
          <p:cNvPr id="11" name="Text 6"/>
          <p:cNvSpPr/>
          <p:nvPr/>
        </p:nvSpPr>
        <p:spPr>
          <a:xfrm>
            <a:off x="1005840" y="1828800"/>
            <a:ext cx="749808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Two explanatory variables are categorical (factors)</a:t>
            </a:r>
            <a:endParaRPr lang="en-US" sz="1500" dirty="0"/>
          </a:p>
        </p:txBody>
      </p:sp>
      <p:sp>
        <p:nvSpPr>
          <p:cNvPr id="12" name="Text 7"/>
          <p:cNvSpPr/>
          <p:nvPr/>
        </p:nvSpPr>
        <p:spPr>
          <a:xfrm>
            <a:off x="1005840" y="2148840"/>
            <a:ext cx="74980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Each factor has 2+ levels (categories)</a:t>
            </a:r>
            <a:endParaRPr lang="en-US" sz="1200" dirty="0"/>
          </a:p>
        </p:txBody>
      </p:sp>
      <p:pic>
        <p:nvPicPr>
          <p:cNvPr id="13" name="Image 3" descr="preencoded.png">    </p:cNvPr>
          <p:cNvPicPr>
            <a:picLocks noChangeAspect="1"/>
          </p:cNvPicPr>
          <p:nvPr/>
        </p:nvPicPr>
        <p:blipFill>
          <a:blip r:embed="rId4"/>
          <a:stretch>
            <a:fillRect/>
          </a:stretch>
        </p:blipFill>
        <p:spPr>
          <a:xfrm>
            <a:off x="548640" y="2670048"/>
            <a:ext cx="320040" cy="320040"/>
          </a:xfrm>
          <a:prstGeom prst="rect">
            <a:avLst/>
          </a:prstGeom>
        </p:spPr>
      </p:pic>
      <p:sp>
        <p:nvSpPr>
          <p:cNvPr id="14" name="Text 8"/>
          <p:cNvSpPr/>
          <p:nvPr/>
        </p:nvSpPr>
        <p:spPr>
          <a:xfrm>
            <a:off x="1005840" y="2606040"/>
            <a:ext cx="749808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You want to know: Does A affect the mean of Y?</a:t>
            </a:r>
            <a:endParaRPr lang="en-US" sz="1500" dirty="0"/>
          </a:p>
        </p:txBody>
      </p:sp>
      <p:sp>
        <p:nvSpPr>
          <p:cNvPr id="15" name="Text 9"/>
          <p:cNvSpPr/>
          <p:nvPr/>
        </p:nvSpPr>
        <p:spPr>
          <a:xfrm>
            <a:off x="1005840" y="2926080"/>
            <a:ext cx="74980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Main effect of Factor A</a:t>
            </a:r>
            <a:endParaRPr lang="en-US" sz="1200" dirty="0"/>
          </a:p>
        </p:txBody>
      </p:sp>
      <p:pic>
        <p:nvPicPr>
          <p:cNvPr id="16" name="Image 4" descr="preencoded.png">    </p:cNvPr>
          <p:cNvPicPr>
            <a:picLocks noChangeAspect="1"/>
          </p:cNvPicPr>
          <p:nvPr/>
        </p:nvPicPr>
        <p:blipFill>
          <a:blip r:embed="rId5"/>
          <a:stretch>
            <a:fillRect/>
          </a:stretch>
        </p:blipFill>
        <p:spPr>
          <a:xfrm>
            <a:off x="548640" y="3447288"/>
            <a:ext cx="320040" cy="320040"/>
          </a:xfrm>
          <a:prstGeom prst="rect">
            <a:avLst/>
          </a:prstGeom>
        </p:spPr>
      </p:pic>
      <p:sp>
        <p:nvSpPr>
          <p:cNvPr id="17" name="Text 10"/>
          <p:cNvSpPr/>
          <p:nvPr/>
        </p:nvSpPr>
        <p:spPr>
          <a:xfrm>
            <a:off x="1005840" y="3383280"/>
            <a:ext cx="749808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You want to know: Does B affect the mean of Y?</a:t>
            </a:r>
            <a:endParaRPr lang="en-US" sz="1500" dirty="0"/>
          </a:p>
        </p:txBody>
      </p:sp>
      <p:sp>
        <p:nvSpPr>
          <p:cNvPr id="18" name="Text 11"/>
          <p:cNvSpPr/>
          <p:nvPr/>
        </p:nvSpPr>
        <p:spPr>
          <a:xfrm>
            <a:off x="1005840" y="3703320"/>
            <a:ext cx="74980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Main effect of Factor B</a:t>
            </a:r>
            <a:endParaRPr lang="en-US" sz="1200" dirty="0"/>
          </a:p>
        </p:txBody>
      </p:sp>
      <p:pic>
        <p:nvPicPr>
          <p:cNvPr id="19" name="Image 5" descr="preencoded.png">    </p:cNvPr>
          <p:cNvPicPr>
            <a:picLocks noChangeAspect="1"/>
          </p:cNvPicPr>
          <p:nvPr/>
        </p:nvPicPr>
        <p:blipFill>
          <a:blip r:embed="rId6"/>
          <a:stretch>
            <a:fillRect/>
          </a:stretch>
        </p:blipFill>
        <p:spPr>
          <a:xfrm>
            <a:off x="548640" y="4224528"/>
            <a:ext cx="320040" cy="320040"/>
          </a:xfrm>
          <a:prstGeom prst="rect">
            <a:avLst/>
          </a:prstGeom>
        </p:spPr>
      </p:pic>
      <p:sp>
        <p:nvSpPr>
          <p:cNvPr id="20" name="Text 12"/>
          <p:cNvSpPr/>
          <p:nvPr/>
        </p:nvSpPr>
        <p:spPr>
          <a:xfrm>
            <a:off x="1005840" y="4160520"/>
            <a:ext cx="749808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You want to know: Does the effect of A depend on B?</a:t>
            </a:r>
            <a:endParaRPr lang="en-US" sz="1500" dirty="0"/>
          </a:p>
        </p:txBody>
      </p:sp>
      <p:sp>
        <p:nvSpPr>
          <p:cNvPr id="21" name="Text 13"/>
          <p:cNvSpPr/>
          <p:nvPr/>
        </p:nvSpPr>
        <p:spPr>
          <a:xfrm>
            <a:off x="1005840" y="4480560"/>
            <a:ext cx="74980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This is the interaction question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Key Vocabulary</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36</a:t>
            </a:r>
            <a:endParaRPr lang="en-US" sz="900" dirty="0"/>
          </a:p>
        </p:txBody>
      </p:sp>
      <p:sp>
        <p:nvSpPr>
          <p:cNvPr id="7" name="Shape 4"/>
          <p:cNvSpPr/>
          <p:nvPr/>
        </p:nvSpPr>
        <p:spPr>
          <a:xfrm>
            <a:off x="457200" y="914400"/>
            <a:ext cx="2286000" cy="457200"/>
          </a:xfrm>
          <a:prstGeom prst="rect">
            <a:avLst/>
          </a:prstGeom>
          <a:solidFill>
            <a:srgbClr val="065A82"/>
          </a:solidFill>
          <a:ln/>
        </p:spPr>
      </p:sp>
      <p:sp>
        <p:nvSpPr>
          <p:cNvPr id="8" name="Text 5"/>
          <p:cNvSpPr/>
          <p:nvPr/>
        </p:nvSpPr>
        <p:spPr>
          <a:xfrm>
            <a:off x="548640" y="91440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Response (Y)</a:t>
            </a:r>
            <a:endParaRPr lang="en-US" sz="1300" dirty="0"/>
          </a:p>
        </p:txBody>
      </p:sp>
      <p:sp>
        <p:nvSpPr>
          <p:cNvPr id="9" name="Text 6"/>
          <p:cNvSpPr/>
          <p:nvPr/>
        </p:nvSpPr>
        <p:spPr>
          <a:xfrm>
            <a:off x="2926080" y="91440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Quantitative outcome being measured</a:t>
            </a:r>
            <a:endParaRPr lang="en-US" sz="1300" dirty="0"/>
          </a:p>
        </p:txBody>
      </p:sp>
      <p:sp>
        <p:nvSpPr>
          <p:cNvPr id="10" name="Shape 7"/>
          <p:cNvSpPr/>
          <p:nvPr/>
        </p:nvSpPr>
        <p:spPr>
          <a:xfrm>
            <a:off x="457200" y="1463040"/>
            <a:ext cx="2286000" cy="457200"/>
          </a:xfrm>
          <a:prstGeom prst="rect">
            <a:avLst/>
          </a:prstGeom>
          <a:solidFill>
            <a:srgbClr val="1C7293"/>
          </a:solidFill>
          <a:ln/>
        </p:spPr>
      </p:sp>
      <p:sp>
        <p:nvSpPr>
          <p:cNvPr id="11" name="Text 8"/>
          <p:cNvSpPr/>
          <p:nvPr/>
        </p:nvSpPr>
        <p:spPr>
          <a:xfrm>
            <a:off x="548640" y="146304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Factor</a:t>
            </a:r>
            <a:endParaRPr lang="en-US" sz="1300" dirty="0"/>
          </a:p>
        </p:txBody>
      </p:sp>
      <p:sp>
        <p:nvSpPr>
          <p:cNvPr id="12" name="Text 9"/>
          <p:cNvSpPr/>
          <p:nvPr/>
        </p:nvSpPr>
        <p:spPr>
          <a:xfrm>
            <a:off x="2926080" y="146304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Categorical explanatory variable (A, B)</a:t>
            </a:r>
            <a:endParaRPr lang="en-US" sz="1300" dirty="0"/>
          </a:p>
        </p:txBody>
      </p:sp>
      <p:sp>
        <p:nvSpPr>
          <p:cNvPr id="13" name="Shape 10"/>
          <p:cNvSpPr/>
          <p:nvPr/>
        </p:nvSpPr>
        <p:spPr>
          <a:xfrm>
            <a:off x="457200" y="2011680"/>
            <a:ext cx="2286000" cy="457200"/>
          </a:xfrm>
          <a:prstGeom prst="rect">
            <a:avLst/>
          </a:prstGeom>
          <a:solidFill>
            <a:srgbClr val="065A82"/>
          </a:solidFill>
          <a:ln/>
        </p:spPr>
      </p:sp>
      <p:sp>
        <p:nvSpPr>
          <p:cNvPr id="14" name="Text 11"/>
          <p:cNvSpPr/>
          <p:nvPr/>
        </p:nvSpPr>
        <p:spPr>
          <a:xfrm>
            <a:off x="548640" y="201168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Levels</a:t>
            </a:r>
            <a:endParaRPr lang="en-US" sz="1300" dirty="0"/>
          </a:p>
        </p:txBody>
      </p:sp>
      <p:sp>
        <p:nvSpPr>
          <p:cNvPr id="15" name="Text 12"/>
          <p:cNvSpPr/>
          <p:nvPr/>
        </p:nvSpPr>
        <p:spPr>
          <a:xfrm>
            <a:off x="2926080" y="201168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Categories within a factor</a:t>
            </a:r>
            <a:endParaRPr lang="en-US" sz="1300" dirty="0"/>
          </a:p>
        </p:txBody>
      </p:sp>
      <p:sp>
        <p:nvSpPr>
          <p:cNvPr id="16" name="Shape 13"/>
          <p:cNvSpPr/>
          <p:nvPr/>
        </p:nvSpPr>
        <p:spPr>
          <a:xfrm>
            <a:off x="457200" y="2560320"/>
            <a:ext cx="2286000" cy="457200"/>
          </a:xfrm>
          <a:prstGeom prst="rect">
            <a:avLst/>
          </a:prstGeom>
          <a:solidFill>
            <a:srgbClr val="1C7293"/>
          </a:solidFill>
          <a:ln/>
        </p:spPr>
      </p:sp>
      <p:sp>
        <p:nvSpPr>
          <p:cNvPr id="17" name="Text 14"/>
          <p:cNvSpPr/>
          <p:nvPr/>
        </p:nvSpPr>
        <p:spPr>
          <a:xfrm>
            <a:off x="548640" y="256032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Cell</a:t>
            </a:r>
            <a:endParaRPr lang="en-US" sz="1300" dirty="0"/>
          </a:p>
        </p:txBody>
      </p:sp>
      <p:sp>
        <p:nvSpPr>
          <p:cNvPr id="18" name="Text 15"/>
          <p:cNvSpPr/>
          <p:nvPr/>
        </p:nvSpPr>
        <p:spPr>
          <a:xfrm>
            <a:off x="2926080" y="256032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One combination of A-level + B-level</a:t>
            </a:r>
            <a:endParaRPr lang="en-US" sz="1300" dirty="0"/>
          </a:p>
        </p:txBody>
      </p:sp>
      <p:sp>
        <p:nvSpPr>
          <p:cNvPr id="19" name="Shape 16"/>
          <p:cNvSpPr/>
          <p:nvPr/>
        </p:nvSpPr>
        <p:spPr>
          <a:xfrm>
            <a:off x="457200" y="3108960"/>
            <a:ext cx="2286000" cy="457200"/>
          </a:xfrm>
          <a:prstGeom prst="rect">
            <a:avLst/>
          </a:prstGeom>
          <a:solidFill>
            <a:srgbClr val="065A82"/>
          </a:solidFill>
          <a:ln/>
        </p:spPr>
      </p:sp>
      <p:sp>
        <p:nvSpPr>
          <p:cNvPr id="20" name="Text 17"/>
          <p:cNvSpPr/>
          <p:nvPr/>
        </p:nvSpPr>
        <p:spPr>
          <a:xfrm>
            <a:off x="548640" y="310896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Replication</a:t>
            </a:r>
            <a:endParaRPr lang="en-US" sz="1300" dirty="0"/>
          </a:p>
        </p:txBody>
      </p:sp>
      <p:sp>
        <p:nvSpPr>
          <p:cNvPr id="21" name="Text 18"/>
          <p:cNvSpPr/>
          <p:nvPr/>
        </p:nvSpPr>
        <p:spPr>
          <a:xfrm>
            <a:off x="2926080" y="310896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Multiple observations per cell</a:t>
            </a:r>
            <a:endParaRPr lang="en-US" sz="1300" dirty="0"/>
          </a:p>
        </p:txBody>
      </p:sp>
      <p:sp>
        <p:nvSpPr>
          <p:cNvPr id="22" name="Shape 19"/>
          <p:cNvSpPr/>
          <p:nvPr/>
        </p:nvSpPr>
        <p:spPr>
          <a:xfrm>
            <a:off x="457200" y="3657600"/>
            <a:ext cx="2286000" cy="457200"/>
          </a:xfrm>
          <a:prstGeom prst="rect">
            <a:avLst/>
          </a:prstGeom>
          <a:solidFill>
            <a:srgbClr val="1C7293"/>
          </a:solidFill>
          <a:ln/>
        </p:spPr>
      </p:sp>
      <p:sp>
        <p:nvSpPr>
          <p:cNvPr id="23" name="Text 20"/>
          <p:cNvSpPr/>
          <p:nvPr/>
        </p:nvSpPr>
        <p:spPr>
          <a:xfrm>
            <a:off x="548640" y="365760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Main Effect</a:t>
            </a:r>
            <a:endParaRPr lang="en-US" sz="1300" dirty="0"/>
          </a:p>
        </p:txBody>
      </p:sp>
      <p:sp>
        <p:nvSpPr>
          <p:cNvPr id="24" name="Text 21"/>
          <p:cNvSpPr/>
          <p:nvPr/>
        </p:nvSpPr>
        <p:spPr>
          <a:xfrm>
            <a:off x="2926080" y="365760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Effect of A alone (averaging over B), or vice versa</a:t>
            </a:r>
            <a:endParaRPr lang="en-US" sz="1300" dirty="0"/>
          </a:p>
        </p:txBody>
      </p:sp>
      <p:sp>
        <p:nvSpPr>
          <p:cNvPr id="25" name="Shape 22"/>
          <p:cNvSpPr/>
          <p:nvPr/>
        </p:nvSpPr>
        <p:spPr>
          <a:xfrm>
            <a:off x="457200" y="4206240"/>
            <a:ext cx="2286000" cy="457200"/>
          </a:xfrm>
          <a:prstGeom prst="rect">
            <a:avLst/>
          </a:prstGeom>
          <a:solidFill>
            <a:srgbClr val="065A82"/>
          </a:solidFill>
          <a:ln/>
        </p:spPr>
      </p:sp>
      <p:sp>
        <p:nvSpPr>
          <p:cNvPr id="26" name="Text 23"/>
          <p:cNvSpPr/>
          <p:nvPr/>
        </p:nvSpPr>
        <p:spPr>
          <a:xfrm>
            <a:off x="548640" y="4206240"/>
            <a:ext cx="2103120" cy="4572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Interaction</a:t>
            </a:r>
            <a:endParaRPr lang="en-US" sz="1300" dirty="0"/>
          </a:p>
        </p:txBody>
      </p:sp>
      <p:sp>
        <p:nvSpPr>
          <p:cNvPr id="27" name="Text 24"/>
          <p:cNvSpPr/>
          <p:nvPr/>
        </p:nvSpPr>
        <p:spPr>
          <a:xfrm>
            <a:off x="2926080" y="4206240"/>
            <a:ext cx="57607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Effect of A changes across levels of B (or vice versa)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Data Layout (Cells)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36</a:t>
            </a:r>
            <a:endParaRPr lang="en-US" sz="900" dirty="0"/>
          </a:p>
        </p:txBody>
      </p:sp>
      <p:sp>
        <p:nvSpPr>
          <p:cNvPr id="7" name="Text 4"/>
          <p:cNvSpPr/>
          <p:nvPr/>
        </p:nvSpPr>
        <p:spPr>
          <a:xfrm>
            <a:off x="457200" y="914400"/>
            <a:ext cx="822960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Imagine a grid where rows = Factor A levels, columns = Factor B levels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371600" y="1463040"/>
          <a:ext cx="6400800" cy="2194560"/>
        </p:xfrm>
        <a:graphic>
          <a:graphicData uri="http://schemas.openxmlformats.org/drawingml/2006/table">
            <a:tbl>
              <a:tblPr/>
              <a:tblGrid>
                <a:gridCol w="914400"/>
                <a:gridCol w="1828800"/>
                <a:gridCol w="1828800"/>
                <a:gridCol w="1828800"/>
              </a:tblGrid>
              <a:tr h="548640">
                <a:tc>
                  <a:txBody>
                    <a:bodyPr/>
                    <a:lstStyle/>
                    <a:p>
                      <a:pPr algn="ctr" indent="0" marL="0">
                        <a:buNone/>
                      </a:pP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B₁</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B₂</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B₃</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r>
              <a:tr h="822960">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A₁</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Cell (1,1)</a:t>
                      </a:r>
                      <a:endParaRPr lang="en-US" sz="1300" dirty="0">
                        <a:latin typeface="Calibri" charset="0"/>
                        <a:ea typeface="Calibri" charset="0"/>
                        <a:cs typeface="Calibri" charset="0"/>
                      </a:endParaRPr>
                    </a:p>
                    <a:p>
                      <a:pPr algn="ctr" indent="0" marL="0">
                        <a:buNone/>
                      </a:pPr>
                      <a:r>
                        <a:rPr lang="en-US" sz="1300" dirty="0">
                          <a:solidFill>
                            <a:srgbClr val="1E293B"/>
                          </a:solidFill>
                          <a:latin typeface="Calibri" pitchFamily="34" charset="0"/>
                          <a:ea typeface="Calibri" pitchFamily="34" charset="-122"/>
                          <a:cs typeface="Calibri" pitchFamily="34" charset="-120"/>
                        </a:rPr>
                        <a:t>y₁₁₁, y₁₁₂, …</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Cell (1,2)</a:t>
                      </a:r>
                      <a:endParaRPr lang="en-US" sz="1300" dirty="0">
                        <a:latin typeface="Calibri" charset="0"/>
                        <a:ea typeface="Calibri" charset="0"/>
                        <a:cs typeface="Calibri" charset="0"/>
                      </a:endParaRPr>
                    </a:p>
                    <a:p>
                      <a:pPr algn="ctr" indent="0" marL="0">
                        <a:buNone/>
                      </a:pPr>
                      <a:r>
                        <a:rPr lang="en-US" sz="1300" dirty="0">
                          <a:solidFill>
                            <a:srgbClr val="1E293B"/>
                          </a:solidFill>
                          <a:latin typeface="Calibri" pitchFamily="34" charset="0"/>
                          <a:ea typeface="Calibri" pitchFamily="34" charset="-122"/>
                          <a:cs typeface="Calibri" pitchFamily="34" charset="-120"/>
                        </a:rPr>
                        <a:t>y₁₂₁, y₁₂₂, …</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Cell (1,3)</a:t>
                      </a:r>
                      <a:endParaRPr lang="en-US" sz="1300" dirty="0">
                        <a:latin typeface="Calibri" charset="0"/>
                        <a:ea typeface="Calibri" charset="0"/>
                        <a:cs typeface="Calibri" charset="0"/>
                      </a:endParaRPr>
                    </a:p>
                    <a:p>
                      <a:pPr algn="ctr" indent="0" marL="0">
                        <a:buNone/>
                      </a:pPr>
                      <a:r>
                        <a:rPr lang="en-US" sz="1300" dirty="0">
                          <a:solidFill>
                            <a:srgbClr val="1E293B"/>
                          </a:solidFill>
                          <a:latin typeface="Calibri" pitchFamily="34" charset="0"/>
                          <a:ea typeface="Calibri" pitchFamily="34" charset="-122"/>
                          <a:cs typeface="Calibri" pitchFamily="34" charset="-120"/>
                        </a:rPr>
                        <a:t>y₁₃₁, y₁₃₂, …</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822960">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A₂</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Cell (2,1)</a:t>
                      </a:r>
                      <a:endParaRPr lang="en-US" sz="1300" dirty="0">
                        <a:latin typeface="Calibri" charset="0"/>
                        <a:ea typeface="Calibri" charset="0"/>
                        <a:cs typeface="Calibri" charset="0"/>
                      </a:endParaRPr>
                    </a:p>
                    <a:p>
                      <a:pPr algn="ctr" indent="0" marL="0">
                        <a:buNone/>
                      </a:pPr>
                      <a:r>
                        <a:rPr lang="en-US" sz="1300" dirty="0">
                          <a:solidFill>
                            <a:srgbClr val="1E293B"/>
                          </a:solidFill>
                          <a:latin typeface="Calibri" pitchFamily="34" charset="0"/>
                          <a:ea typeface="Calibri" pitchFamily="34" charset="-122"/>
                          <a:cs typeface="Calibri" pitchFamily="34" charset="-120"/>
                        </a:rPr>
                        <a:t>y₂₁₁, y₂₁₂, …</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Cell (2,2)</a:t>
                      </a:r>
                      <a:endParaRPr lang="en-US" sz="1300" dirty="0">
                        <a:latin typeface="Calibri" charset="0"/>
                        <a:ea typeface="Calibri" charset="0"/>
                        <a:cs typeface="Calibri" charset="0"/>
                      </a:endParaRPr>
                    </a:p>
                    <a:p>
                      <a:pPr algn="ctr" indent="0" marL="0">
                        <a:buNone/>
                      </a:pPr>
                      <a:r>
                        <a:rPr lang="en-US" sz="1300" dirty="0">
                          <a:solidFill>
                            <a:srgbClr val="1E293B"/>
                          </a:solidFill>
                          <a:latin typeface="Calibri" pitchFamily="34" charset="0"/>
                          <a:ea typeface="Calibri" pitchFamily="34" charset="-122"/>
                          <a:cs typeface="Calibri" pitchFamily="34" charset="-120"/>
                        </a:rPr>
                        <a:t>y₂₂₁, y₂₂₂, …</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Cell (2,3)</a:t>
                      </a:r>
                      <a:endParaRPr lang="en-US" sz="1300" dirty="0">
                        <a:latin typeface="Calibri" charset="0"/>
                        <a:ea typeface="Calibri" charset="0"/>
                        <a:cs typeface="Calibri" charset="0"/>
                      </a:endParaRPr>
                    </a:p>
                    <a:p>
                      <a:pPr algn="ctr" indent="0" marL="0">
                        <a:buNone/>
                      </a:pPr>
                      <a:r>
                        <a:rPr lang="en-US" sz="1300" dirty="0">
                          <a:solidFill>
                            <a:srgbClr val="1E293B"/>
                          </a:solidFill>
                          <a:latin typeface="Calibri" pitchFamily="34" charset="0"/>
                          <a:ea typeface="Calibri" pitchFamily="34" charset="-122"/>
                          <a:cs typeface="Calibri" pitchFamily="34" charset="-120"/>
                        </a:rPr>
                        <a:t>y₂₃₁, y₂₃₂, …</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bl>
          </a:graphicData>
        </a:graphic>
      </p:graphicFrame>
      <p:sp>
        <p:nvSpPr>
          <p:cNvPr id="9" name="Shape 5"/>
          <p:cNvSpPr/>
          <p:nvPr/>
        </p:nvSpPr>
        <p:spPr>
          <a:xfrm>
            <a:off x="457200" y="3931920"/>
            <a:ext cx="39319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Text 6"/>
          <p:cNvSpPr/>
          <p:nvPr/>
        </p:nvSpPr>
        <p:spPr>
          <a:xfrm>
            <a:off x="640080" y="3977640"/>
            <a:ext cx="35661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Cell mean </a:t>
            </a:r>
            <a:pPr indent="0" marL="0">
              <a:buNone/>
            </a:pPr>
            <a:r>
              <a:rPr lang="en-US" sz="1300" dirty="0">
                <a:solidFill>
                  <a:srgbClr val="1E293B"/>
                </a:solidFill>
                <a:latin typeface="Calibri" pitchFamily="34" charset="0"/>
                <a:ea typeface="Calibri" pitchFamily="34" charset="-122"/>
                <a:cs typeface="Calibri" pitchFamily="34" charset="-120"/>
              </a:rPr>
              <a:t>(ȳᵢⱼ): mean of observations in one specific cell</a:t>
            </a:r>
            <a:endParaRPr lang="en-US" sz="1300" dirty="0"/>
          </a:p>
        </p:txBody>
      </p:sp>
      <p:sp>
        <p:nvSpPr>
          <p:cNvPr id="11" name="Shape 7"/>
          <p:cNvSpPr/>
          <p:nvPr/>
        </p:nvSpPr>
        <p:spPr>
          <a:xfrm>
            <a:off x="4754880" y="3931920"/>
            <a:ext cx="39319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Text 8"/>
          <p:cNvSpPr/>
          <p:nvPr/>
        </p:nvSpPr>
        <p:spPr>
          <a:xfrm>
            <a:off x="4937760" y="3977640"/>
            <a:ext cx="35661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Replication: </a:t>
            </a:r>
            <a:pPr indent="0" marL="0">
              <a:buNone/>
            </a:pPr>
            <a:r>
              <a:rPr lang="en-US" sz="1300" dirty="0">
                <a:solidFill>
                  <a:srgbClr val="1E293B"/>
                </a:solidFill>
                <a:latin typeface="Calibri" pitchFamily="34" charset="0"/>
                <a:ea typeface="Calibri" pitchFamily="34" charset="-122"/>
                <a:cs typeface="Calibri" pitchFamily="34" charset="-120"/>
              </a:rPr>
              <a:t>multiple observations per cell are needed for the interaction test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Means in Two-Way ANOVA</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36</a:t>
            </a:r>
            <a:endParaRPr lang="en-US" sz="900" dirty="0"/>
          </a:p>
        </p:txBody>
      </p:sp>
      <p:sp>
        <p:nvSpPr>
          <p:cNvPr id="7" name="Shape 4"/>
          <p:cNvSpPr/>
          <p:nvPr/>
        </p:nvSpPr>
        <p:spPr>
          <a:xfrm>
            <a:off x="457200" y="100584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457200" y="1005840"/>
            <a:ext cx="64008" cy="822960"/>
          </a:xfrm>
          <a:prstGeom prst="rect">
            <a:avLst/>
          </a:prstGeom>
          <a:solidFill>
            <a:srgbClr val="065A82"/>
          </a:solidFill>
          <a:ln/>
        </p:spPr>
      </p:sp>
      <p:sp>
        <p:nvSpPr>
          <p:cNvPr id="9" name="Text 6"/>
          <p:cNvSpPr/>
          <p:nvPr/>
        </p:nvSpPr>
        <p:spPr>
          <a:xfrm>
            <a:off x="731520" y="1051560"/>
            <a:ext cx="768096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Cell Mean  ȳᵢⱼ</a:t>
            </a:r>
            <a:endParaRPr lang="en-US" sz="1600" dirty="0"/>
          </a:p>
        </p:txBody>
      </p:sp>
      <p:sp>
        <p:nvSpPr>
          <p:cNvPr id="10" name="Text 7"/>
          <p:cNvSpPr/>
          <p:nvPr/>
        </p:nvSpPr>
        <p:spPr>
          <a:xfrm>
            <a:off x="731520" y="1417320"/>
            <a:ext cx="7680960" cy="3200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Mean in cell (A=i, B=j)</a:t>
            </a:r>
            <a:endParaRPr lang="en-US" sz="1300" dirty="0"/>
          </a:p>
        </p:txBody>
      </p:sp>
      <p:sp>
        <p:nvSpPr>
          <p:cNvPr id="11" name="Shape 8"/>
          <p:cNvSpPr/>
          <p:nvPr/>
        </p:nvSpPr>
        <p:spPr>
          <a:xfrm>
            <a:off x="457200" y="196596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57200" y="1965960"/>
            <a:ext cx="64008" cy="822960"/>
          </a:xfrm>
          <a:prstGeom prst="rect">
            <a:avLst/>
          </a:prstGeom>
          <a:solidFill>
            <a:srgbClr val="1C7293"/>
          </a:solidFill>
          <a:ln/>
        </p:spPr>
      </p:sp>
      <p:sp>
        <p:nvSpPr>
          <p:cNvPr id="13" name="Text 10"/>
          <p:cNvSpPr/>
          <p:nvPr/>
        </p:nvSpPr>
        <p:spPr>
          <a:xfrm>
            <a:off x="731520" y="2011680"/>
            <a:ext cx="7680960" cy="365760"/>
          </a:xfrm>
          <a:prstGeom prst="rect">
            <a:avLst/>
          </a:prstGeom>
          <a:noFill/>
          <a:ln/>
        </p:spPr>
        <p:txBody>
          <a:bodyPr wrap="square" lIns="0" tIns="0" rIns="0" bIns="0" rtlCol="0" anchor="ctr"/>
          <a:lstStyle/>
          <a:p>
            <a:pPr indent="0" marL="0">
              <a:buNone/>
            </a:pPr>
            <a:r>
              <a:rPr lang="en-US" sz="1600" b="1" dirty="0">
                <a:solidFill>
                  <a:srgbClr val="1C7293"/>
                </a:solidFill>
                <a:latin typeface="Georgia" pitchFamily="34" charset="0"/>
                <a:ea typeface="Georgia" pitchFamily="34" charset="-122"/>
                <a:cs typeface="Georgia" pitchFamily="34" charset="-120"/>
              </a:rPr>
              <a:t>Marginal Mean for A  ȳᵢ..</a:t>
            </a:r>
            <a:endParaRPr lang="en-US" sz="1600" dirty="0"/>
          </a:p>
        </p:txBody>
      </p:sp>
      <p:sp>
        <p:nvSpPr>
          <p:cNvPr id="14" name="Text 11"/>
          <p:cNvSpPr/>
          <p:nvPr/>
        </p:nvSpPr>
        <p:spPr>
          <a:xfrm>
            <a:off x="731520" y="2377440"/>
            <a:ext cx="7680960" cy="3200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Mean for A=i, averaging over all levels of B</a:t>
            </a:r>
            <a:endParaRPr lang="en-US" sz="1300" dirty="0"/>
          </a:p>
        </p:txBody>
      </p:sp>
      <p:sp>
        <p:nvSpPr>
          <p:cNvPr id="15" name="Shape 12"/>
          <p:cNvSpPr/>
          <p:nvPr/>
        </p:nvSpPr>
        <p:spPr>
          <a:xfrm>
            <a:off x="457200" y="292608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457200" y="2926080"/>
            <a:ext cx="64008" cy="822960"/>
          </a:xfrm>
          <a:prstGeom prst="rect">
            <a:avLst/>
          </a:prstGeom>
          <a:solidFill>
            <a:srgbClr val="1C7293"/>
          </a:solidFill>
          <a:ln/>
        </p:spPr>
      </p:sp>
      <p:sp>
        <p:nvSpPr>
          <p:cNvPr id="17" name="Text 14"/>
          <p:cNvSpPr/>
          <p:nvPr/>
        </p:nvSpPr>
        <p:spPr>
          <a:xfrm>
            <a:off x="731520" y="2971800"/>
            <a:ext cx="7680960" cy="365760"/>
          </a:xfrm>
          <a:prstGeom prst="rect">
            <a:avLst/>
          </a:prstGeom>
          <a:noFill/>
          <a:ln/>
        </p:spPr>
        <p:txBody>
          <a:bodyPr wrap="square" lIns="0" tIns="0" rIns="0" bIns="0" rtlCol="0" anchor="ctr"/>
          <a:lstStyle/>
          <a:p>
            <a:pPr indent="0" marL="0">
              <a:buNone/>
            </a:pPr>
            <a:r>
              <a:rPr lang="en-US" sz="1600" b="1" dirty="0">
                <a:solidFill>
                  <a:srgbClr val="1C7293"/>
                </a:solidFill>
                <a:latin typeface="Georgia" pitchFamily="34" charset="0"/>
                <a:ea typeface="Georgia" pitchFamily="34" charset="-122"/>
                <a:cs typeface="Georgia" pitchFamily="34" charset="-120"/>
              </a:rPr>
              <a:t>Marginal Mean for B  ȳ.ⱼ.</a:t>
            </a:r>
            <a:endParaRPr lang="en-US" sz="1600" dirty="0"/>
          </a:p>
        </p:txBody>
      </p:sp>
      <p:sp>
        <p:nvSpPr>
          <p:cNvPr id="18" name="Text 15"/>
          <p:cNvSpPr/>
          <p:nvPr/>
        </p:nvSpPr>
        <p:spPr>
          <a:xfrm>
            <a:off x="731520" y="3337560"/>
            <a:ext cx="7680960" cy="3200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Mean for B=j, averaging over all levels of A</a:t>
            </a:r>
            <a:endParaRPr lang="en-US" sz="1300" dirty="0"/>
          </a:p>
        </p:txBody>
      </p:sp>
      <p:sp>
        <p:nvSpPr>
          <p:cNvPr id="19" name="Shape 16"/>
          <p:cNvSpPr/>
          <p:nvPr/>
        </p:nvSpPr>
        <p:spPr>
          <a:xfrm>
            <a:off x="457200" y="388620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7"/>
          <p:cNvSpPr/>
          <p:nvPr/>
        </p:nvSpPr>
        <p:spPr>
          <a:xfrm>
            <a:off x="457200" y="3886200"/>
            <a:ext cx="64008" cy="822960"/>
          </a:xfrm>
          <a:prstGeom prst="rect">
            <a:avLst/>
          </a:prstGeom>
          <a:solidFill>
            <a:srgbClr val="0EA5E9"/>
          </a:solidFill>
          <a:ln/>
        </p:spPr>
      </p:sp>
      <p:sp>
        <p:nvSpPr>
          <p:cNvPr id="21" name="Text 18"/>
          <p:cNvSpPr/>
          <p:nvPr/>
        </p:nvSpPr>
        <p:spPr>
          <a:xfrm>
            <a:off x="731520" y="3931920"/>
            <a:ext cx="7680960" cy="365760"/>
          </a:xfrm>
          <a:prstGeom prst="rect">
            <a:avLst/>
          </a:prstGeom>
          <a:noFill/>
          <a:ln/>
        </p:spPr>
        <p:txBody>
          <a:bodyPr wrap="square" lIns="0" tIns="0" rIns="0" bIns="0" rtlCol="0" anchor="ctr"/>
          <a:lstStyle/>
          <a:p>
            <a:pPr indent="0" marL="0">
              <a:buNone/>
            </a:pPr>
            <a:r>
              <a:rPr lang="en-US" sz="1600" b="1" dirty="0">
                <a:solidFill>
                  <a:srgbClr val="0EA5E9"/>
                </a:solidFill>
                <a:latin typeface="Georgia" pitchFamily="34" charset="0"/>
                <a:ea typeface="Georgia" pitchFamily="34" charset="-122"/>
                <a:cs typeface="Georgia" pitchFamily="34" charset="-120"/>
              </a:rPr>
              <a:t>Grand Mean  ȳ...</a:t>
            </a:r>
            <a:endParaRPr lang="en-US" sz="1600" dirty="0"/>
          </a:p>
        </p:txBody>
      </p:sp>
      <p:sp>
        <p:nvSpPr>
          <p:cNvPr id="22" name="Text 19"/>
          <p:cNvSpPr/>
          <p:nvPr/>
        </p:nvSpPr>
        <p:spPr>
          <a:xfrm>
            <a:off x="731520" y="4297680"/>
            <a:ext cx="7680960" cy="3200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Mean of all observations in the dataset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The Two-Way ANOVA Model</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36</a:t>
            </a:r>
            <a:endParaRPr lang="en-US" sz="900" dirty="0"/>
          </a:p>
        </p:txBody>
      </p:sp>
      <p:sp>
        <p:nvSpPr>
          <p:cNvPr id="7" name="Shape 4"/>
          <p:cNvSpPr/>
          <p:nvPr/>
        </p:nvSpPr>
        <p:spPr>
          <a:xfrm>
            <a:off x="731520" y="1005840"/>
            <a:ext cx="7680960" cy="91440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8" name="Text 5"/>
          <p:cNvSpPr/>
          <p:nvPr/>
        </p:nvSpPr>
        <p:spPr>
          <a:xfrm>
            <a:off x="731520" y="1005840"/>
            <a:ext cx="7680960" cy="914400"/>
          </a:xfrm>
          <a:prstGeom prst="rect">
            <a:avLst/>
          </a:prstGeom>
          <a:noFill/>
          <a:ln/>
        </p:spPr>
        <p:txBody>
          <a:bodyPr wrap="square" rtlCol="0" anchor="ctr"/>
          <a:lstStyle/>
          <a:p>
            <a:pPr algn="ctr" indent="0" marL="0">
              <a:buNone/>
            </a:pPr>
            <a:r>
              <a:rPr lang="en-US" sz="2400" b="1" dirty="0">
                <a:solidFill>
                  <a:srgbClr val="065A82"/>
                </a:solidFill>
                <a:latin typeface="Georgia" pitchFamily="34" charset="0"/>
                <a:ea typeface="Georgia" pitchFamily="34" charset="-122"/>
                <a:cs typeface="Georgia" pitchFamily="34" charset="-120"/>
              </a:rPr>
              <a:t>yᵢⱼₖ = μ + αᵢ + βⱼ + (αβ)ᵢⱼ + εᵢⱼₖ</a:t>
            </a:r>
            <a:endParaRPr lang="en-US" sz="2400" dirty="0"/>
          </a:p>
        </p:txBody>
      </p:sp>
      <p:sp>
        <p:nvSpPr>
          <p:cNvPr id="9" name="Shape 6"/>
          <p:cNvSpPr/>
          <p:nvPr/>
        </p:nvSpPr>
        <p:spPr>
          <a:xfrm>
            <a:off x="1097280" y="2231136"/>
            <a:ext cx="411480" cy="411480"/>
          </a:xfrm>
          <a:prstGeom prst="ellipse">
            <a:avLst/>
          </a:prstGeom>
          <a:solidFill>
            <a:srgbClr val="065A82"/>
          </a:solidFill>
          <a:ln/>
        </p:spPr>
      </p:sp>
      <p:sp>
        <p:nvSpPr>
          <p:cNvPr id="10" name="Text 7"/>
          <p:cNvSpPr/>
          <p:nvPr/>
        </p:nvSpPr>
        <p:spPr>
          <a:xfrm>
            <a:off x="1097280" y="2231136"/>
            <a:ext cx="41148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μ</a:t>
            </a:r>
            <a:endParaRPr lang="en-US" sz="1300" dirty="0"/>
          </a:p>
        </p:txBody>
      </p:sp>
      <p:sp>
        <p:nvSpPr>
          <p:cNvPr id="11" name="Text 8"/>
          <p:cNvSpPr/>
          <p:nvPr/>
        </p:nvSpPr>
        <p:spPr>
          <a:xfrm>
            <a:off x="1691640" y="2194560"/>
            <a:ext cx="64008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Overall mean</a:t>
            </a:r>
            <a:endParaRPr lang="en-US" sz="1400" dirty="0"/>
          </a:p>
        </p:txBody>
      </p:sp>
      <p:sp>
        <p:nvSpPr>
          <p:cNvPr id="12" name="Shape 9"/>
          <p:cNvSpPr/>
          <p:nvPr/>
        </p:nvSpPr>
        <p:spPr>
          <a:xfrm>
            <a:off x="1097280" y="2761488"/>
            <a:ext cx="411480" cy="411480"/>
          </a:xfrm>
          <a:prstGeom prst="ellipse">
            <a:avLst/>
          </a:prstGeom>
          <a:solidFill>
            <a:srgbClr val="1C7293"/>
          </a:solidFill>
          <a:ln/>
        </p:spPr>
      </p:sp>
      <p:sp>
        <p:nvSpPr>
          <p:cNvPr id="13" name="Text 10"/>
          <p:cNvSpPr/>
          <p:nvPr/>
        </p:nvSpPr>
        <p:spPr>
          <a:xfrm>
            <a:off x="1097280" y="2761488"/>
            <a:ext cx="41148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αᵢ</a:t>
            </a:r>
            <a:endParaRPr lang="en-US" sz="1300" dirty="0"/>
          </a:p>
        </p:txBody>
      </p:sp>
      <p:sp>
        <p:nvSpPr>
          <p:cNvPr id="14" name="Text 11"/>
          <p:cNvSpPr/>
          <p:nvPr/>
        </p:nvSpPr>
        <p:spPr>
          <a:xfrm>
            <a:off x="1691640" y="2724912"/>
            <a:ext cx="64008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Effect of Factor A level i</a:t>
            </a:r>
            <a:endParaRPr lang="en-US" sz="1400" dirty="0"/>
          </a:p>
        </p:txBody>
      </p:sp>
      <p:sp>
        <p:nvSpPr>
          <p:cNvPr id="15" name="Shape 12"/>
          <p:cNvSpPr/>
          <p:nvPr/>
        </p:nvSpPr>
        <p:spPr>
          <a:xfrm>
            <a:off x="1097280" y="3291840"/>
            <a:ext cx="411480" cy="411480"/>
          </a:xfrm>
          <a:prstGeom prst="ellipse">
            <a:avLst/>
          </a:prstGeom>
          <a:solidFill>
            <a:srgbClr val="1C7293"/>
          </a:solidFill>
          <a:ln/>
        </p:spPr>
      </p:sp>
      <p:sp>
        <p:nvSpPr>
          <p:cNvPr id="16" name="Text 13"/>
          <p:cNvSpPr/>
          <p:nvPr/>
        </p:nvSpPr>
        <p:spPr>
          <a:xfrm>
            <a:off x="1097280" y="3291840"/>
            <a:ext cx="41148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βⱼ</a:t>
            </a:r>
            <a:endParaRPr lang="en-US" sz="1300" dirty="0"/>
          </a:p>
        </p:txBody>
      </p:sp>
      <p:sp>
        <p:nvSpPr>
          <p:cNvPr id="17" name="Text 14"/>
          <p:cNvSpPr/>
          <p:nvPr/>
        </p:nvSpPr>
        <p:spPr>
          <a:xfrm>
            <a:off x="1691640" y="3255264"/>
            <a:ext cx="64008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Effect of Factor B level j</a:t>
            </a:r>
            <a:endParaRPr lang="en-US" sz="1400" dirty="0"/>
          </a:p>
        </p:txBody>
      </p:sp>
      <p:sp>
        <p:nvSpPr>
          <p:cNvPr id="18" name="Shape 15"/>
          <p:cNvSpPr/>
          <p:nvPr/>
        </p:nvSpPr>
        <p:spPr>
          <a:xfrm>
            <a:off x="1097280" y="3822192"/>
            <a:ext cx="411480" cy="411480"/>
          </a:xfrm>
          <a:prstGeom prst="ellipse">
            <a:avLst/>
          </a:prstGeom>
          <a:solidFill>
            <a:srgbClr val="0EA5E9"/>
          </a:solidFill>
          <a:ln/>
        </p:spPr>
      </p:sp>
      <p:sp>
        <p:nvSpPr>
          <p:cNvPr id="19" name="Text 16"/>
          <p:cNvSpPr/>
          <p:nvPr/>
        </p:nvSpPr>
        <p:spPr>
          <a:xfrm>
            <a:off x="1097280" y="3822192"/>
            <a:ext cx="41148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(αβ)ᵢⱼ</a:t>
            </a:r>
            <a:endParaRPr lang="en-US" sz="1300" dirty="0"/>
          </a:p>
        </p:txBody>
      </p:sp>
      <p:sp>
        <p:nvSpPr>
          <p:cNvPr id="20" name="Text 17"/>
          <p:cNvSpPr/>
          <p:nvPr/>
        </p:nvSpPr>
        <p:spPr>
          <a:xfrm>
            <a:off x="1691640" y="3785616"/>
            <a:ext cx="64008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Interaction effect (the key new term)</a:t>
            </a:r>
            <a:endParaRPr lang="en-US" sz="1400" dirty="0"/>
          </a:p>
        </p:txBody>
      </p:sp>
      <p:sp>
        <p:nvSpPr>
          <p:cNvPr id="21" name="Shape 18"/>
          <p:cNvSpPr/>
          <p:nvPr/>
        </p:nvSpPr>
        <p:spPr>
          <a:xfrm>
            <a:off x="1097280" y="4352544"/>
            <a:ext cx="411480" cy="411480"/>
          </a:xfrm>
          <a:prstGeom prst="ellipse">
            <a:avLst/>
          </a:prstGeom>
          <a:solidFill>
            <a:srgbClr val="64748B"/>
          </a:solidFill>
          <a:ln/>
        </p:spPr>
      </p:sp>
      <p:sp>
        <p:nvSpPr>
          <p:cNvPr id="22" name="Text 19"/>
          <p:cNvSpPr/>
          <p:nvPr/>
        </p:nvSpPr>
        <p:spPr>
          <a:xfrm>
            <a:off x="1097280" y="4352544"/>
            <a:ext cx="41148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εᵢⱼₖ</a:t>
            </a:r>
            <a:endParaRPr lang="en-US" sz="1300" dirty="0"/>
          </a:p>
        </p:txBody>
      </p:sp>
      <p:sp>
        <p:nvSpPr>
          <p:cNvPr id="23" name="Text 20"/>
          <p:cNvSpPr/>
          <p:nvPr/>
        </p:nvSpPr>
        <p:spPr>
          <a:xfrm>
            <a:off x="1691640" y="4315968"/>
            <a:ext cx="640080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Random error</a:t>
            </a:r>
            <a:endParaRPr lang="en-US" sz="1400" dirty="0"/>
          </a:p>
        </p:txBody>
      </p:sp>
      <p:sp>
        <p:nvSpPr>
          <p:cNvPr id="24" name="Shape 21"/>
          <p:cNvSpPr/>
          <p:nvPr/>
        </p:nvSpPr>
        <p:spPr>
          <a:xfrm>
            <a:off x="1828800" y="4663440"/>
            <a:ext cx="5486400" cy="36576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25" name="Text 22"/>
          <p:cNvSpPr/>
          <p:nvPr/>
        </p:nvSpPr>
        <p:spPr>
          <a:xfrm>
            <a:off x="1828800" y="4663440"/>
            <a:ext cx="5486400" cy="365760"/>
          </a:xfrm>
          <a:prstGeom prst="rect">
            <a:avLst/>
          </a:prstGeom>
          <a:noFill/>
          <a:ln/>
        </p:spPr>
        <p:txBody>
          <a:bodyPr wrap="square" rtlCol="0" anchor="ctr"/>
          <a:lstStyle/>
          <a:p>
            <a:pPr algn="ctr" indent="0" marL="0">
              <a:buNone/>
            </a:pPr>
            <a:r>
              <a:rPr lang="en-US" sz="1200" i="1" dirty="0">
                <a:solidFill>
                  <a:srgbClr val="065A82"/>
                </a:solidFill>
                <a:latin typeface="Calibri" pitchFamily="34" charset="0"/>
                <a:ea typeface="Calibri" pitchFamily="34" charset="-122"/>
                <a:cs typeface="Calibri" pitchFamily="34" charset="-120"/>
              </a:rPr>
              <a:t>Conceptual only — you don’t need to memorize this formula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The 3 Hypothesis Tests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36</a:t>
            </a:r>
            <a:endParaRPr lang="en-US" sz="900" dirty="0"/>
          </a:p>
        </p:txBody>
      </p:sp>
      <p:sp>
        <p:nvSpPr>
          <p:cNvPr id="7" name="Shape 4"/>
          <p:cNvSpPr/>
          <p:nvPr/>
        </p:nvSpPr>
        <p:spPr>
          <a:xfrm>
            <a:off x="457200" y="1097280"/>
            <a:ext cx="8229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685800" y="1280160"/>
            <a:ext cx="594360" cy="594360"/>
          </a:xfrm>
          <a:prstGeom prst="ellipse">
            <a:avLst/>
          </a:prstGeom>
          <a:solidFill>
            <a:srgbClr val="0EA5E9"/>
          </a:solidFill>
          <a:ln/>
        </p:spPr>
      </p:sp>
      <p:sp>
        <p:nvSpPr>
          <p:cNvPr id="9" name="Text 6"/>
          <p:cNvSpPr/>
          <p:nvPr/>
        </p:nvSpPr>
        <p:spPr>
          <a:xfrm>
            <a:off x="685800" y="1280160"/>
            <a:ext cx="594360" cy="5943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10" name="Text 7"/>
          <p:cNvSpPr/>
          <p:nvPr/>
        </p:nvSpPr>
        <p:spPr>
          <a:xfrm>
            <a:off x="1508760" y="1188720"/>
            <a:ext cx="6858000" cy="41148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Interaction (A×B)</a:t>
            </a:r>
            <a:endParaRPr lang="en-US" sz="1800" dirty="0"/>
          </a:p>
        </p:txBody>
      </p:sp>
      <p:sp>
        <p:nvSpPr>
          <p:cNvPr id="11" name="Text 8"/>
          <p:cNvSpPr/>
          <p:nvPr/>
        </p:nvSpPr>
        <p:spPr>
          <a:xfrm>
            <a:off x="1508760" y="1600200"/>
            <a:ext cx="68580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Does the effect of A depend on B?</a:t>
            </a:r>
            <a:endParaRPr lang="en-US" sz="1400" dirty="0"/>
          </a:p>
        </p:txBody>
      </p:sp>
      <p:sp>
        <p:nvSpPr>
          <p:cNvPr id="12" name="Shape 9"/>
          <p:cNvSpPr/>
          <p:nvPr/>
        </p:nvSpPr>
        <p:spPr>
          <a:xfrm>
            <a:off x="457200" y="2286000"/>
            <a:ext cx="8229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685800" y="2468880"/>
            <a:ext cx="594360" cy="594360"/>
          </a:xfrm>
          <a:prstGeom prst="ellipse">
            <a:avLst/>
          </a:prstGeom>
          <a:solidFill>
            <a:srgbClr val="1C7293"/>
          </a:solidFill>
          <a:ln/>
        </p:spPr>
      </p:sp>
      <p:sp>
        <p:nvSpPr>
          <p:cNvPr id="14" name="Text 11"/>
          <p:cNvSpPr/>
          <p:nvPr/>
        </p:nvSpPr>
        <p:spPr>
          <a:xfrm>
            <a:off x="685800" y="2468880"/>
            <a:ext cx="594360" cy="5943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5" name="Text 12"/>
          <p:cNvSpPr/>
          <p:nvPr/>
        </p:nvSpPr>
        <p:spPr>
          <a:xfrm>
            <a:off x="1508760" y="2377440"/>
            <a:ext cx="6858000" cy="41148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Main Effect of A</a:t>
            </a:r>
            <a:endParaRPr lang="en-US" sz="1800" dirty="0"/>
          </a:p>
        </p:txBody>
      </p:sp>
      <p:sp>
        <p:nvSpPr>
          <p:cNvPr id="16" name="Text 13"/>
          <p:cNvSpPr/>
          <p:nvPr/>
        </p:nvSpPr>
        <p:spPr>
          <a:xfrm>
            <a:off x="1508760" y="2788920"/>
            <a:ext cx="68580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Do the marginal means of A differ?</a:t>
            </a:r>
            <a:endParaRPr lang="en-US" sz="1400" dirty="0"/>
          </a:p>
        </p:txBody>
      </p:sp>
      <p:sp>
        <p:nvSpPr>
          <p:cNvPr id="17" name="Shape 14"/>
          <p:cNvSpPr/>
          <p:nvPr/>
        </p:nvSpPr>
        <p:spPr>
          <a:xfrm>
            <a:off x="457200" y="3474720"/>
            <a:ext cx="8229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685800" y="3657600"/>
            <a:ext cx="594360" cy="594360"/>
          </a:xfrm>
          <a:prstGeom prst="ellipse">
            <a:avLst/>
          </a:prstGeom>
          <a:solidFill>
            <a:srgbClr val="1C7293"/>
          </a:solidFill>
          <a:ln/>
        </p:spPr>
      </p:sp>
      <p:sp>
        <p:nvSpPr>
          <p:cNvPr id="19" name="Text 16"/>
          <p:cNvSpPr/>
          <p:nvPr/>
        </p:nvSpPr>
        <p:spPr>
          <a:xfrm>
            <a:off x="685800" y="3657600"/>
            <a:ext cx="594360" cy="5943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0" name="Text 17"/>
          <p:cNvSpPr/>
          <p:nvPr/>
        </p:nvSpPr>
        <p:spPr>
          <a:xfrm>
            <a:off x="1508760" y="3566160"/>
            <a:ext cx="6858000" cy="41148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Main Effect of B</a:t>
            </a:r>
            <a:endParaRPr lang="en-US" sz="1800" dirty="0"/>
          </a:p>
        </p:txBody>
      </p:sp>
      <p:sp>
        <p:nvSpPr>
          <p:cNvPr id="21" name="Text 18"/>
          <p:cNvSpPr/>
          <p:nvPr/>
        </p:nvSpPr>
        <p:spPr>
          <a:xfrm>
            <a:off x="1508760" y="3977640"/>
            <a:ext cx="68580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Do the marginal means of B differ?</a:t>
            </a:r>
            <a:endParaRPr lang="en-US" sz="1400" dirty="0"/>
          </a:p>
        </p:txBody>
      </p:sp>
      <p:sp>
        <p:nvSpPr>
          <p:cNvPr id="22" name="Shape 19"/>
          <p:cNvSpPr/>
          <p:nvPr/>
        </p:nvSpPr>
        <p:spPr>
          <a:xfrm>
            <a:off x="1371600" y="4617720"/>
            <a:ext cx="6400800" cy="4114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23" name="Text 20"/>
          <p:cNvSpPr/>
          <p:nvPr/>
        </p:nvSpPr>
        <p:spPr>
          <a:xfrm>
            <a:off x="1371600" y="4617720"/>
            <a:ext cx="6400800" cy="411480"/>
          </a:xfrm>
          <a:prstGeom prst="rect">
            <a:avLst/>
          </a:prstGeom>
          <a:noFill/>
          <a:ln/>
        </p:spPr>
        <p:txBody>
          <a:bodyPr wrap="square"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  Important rule: always test the interaction FIRST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Interaction Hypothesis Test</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36</a:t>
            </a:r>
            <a:endParaRPr lang="en-US" sz="900" dirty="0"/>
          </a:p>
        </p:txBody>
      </p:sp>
      <p:sp>
        <p:nvSpPr>
          <p:cNvPr id="7" name="Shape 4"/>
          <p:cNvSpPr/>
          <p:nvPr/>
        </p:nvSpPr>
        <p:spPr>
          <a:xfrm>
            <a:off x="457200" y="1005840"/>
            <a:ext cx="822960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51560"/>
            <a:ext cx="2743200" cy="32004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Hypotheses</a:t>
            </a:r>
            <a:endParaRPr lang="en-US" sz="1600" dirty="0"/>
          </a:p>
        </p:txBody>
      </p:sp>
      <p:sp>
        <p:nvSpPr>
          <p:cNvPr id="9" name="Text 6"/>
          <p:cNvSpPr/>
          <p:nvPr/>
        </p:nvSpPr>
        <p:spPr>
          <a:xfrm>
            <a:off x="640080" y="1417320"/>
            <a:ext cx="7772400" cy="685800"/>
          </a:xfrm>
          <a:prstGeom prst="rect">
            <a:avLst/>
          </a:prstGeom>
          <a:noFill/>
          <a:ln/>
        </p:spPr>
        <p:txBody>
          <a:bodyPr wrap="square" lIns="0" tIns="0" rIns="0" bIns="0" rtlCol="0" anchor="ctr"/>
          <a:lstStyle/>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H₀: No interaction — all (αβ)ᵢⱼ = 0</a:t>
            </a:r>
            <a:endParaRPr lang="en-US" sz="14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Hₐ: At least one interaction term ≠ 0</a:t>
            </a:r>
            <a:endParaRPr lang="en-US" sz="1400" dirty="0"/>
          </a:p>
        </p:txBody>
      </p:sp>
      <p:sp>
        <p:nvSpPr>
          <p:cNvPr id="10" name="Shape 7"/>
          <p:cNvSpPr/>
          <p:nvPr/>
        </p:nvSpPr>
        <p:spPr>
          <a:xfrm>
            <a:off x="457200" y="2468880"/>
            <a:ext cx="39319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457200" y="2468880"/>
            <a:ext cx="3931920" cy="457200"/>
          </a:xfrm>
          <a:prstGeom prst="rect">
            <a:avLst/>
          </a:prstGeom>
          <a:solidFill>
            <a:srgbClr val="10B981"/>
          </a:solidFill>
          <a:ln/>
        </p:spPr>
      </p:sp>
      <p:sp>
        <p:nvSpPr>
          <p:cNvPr id="12" name="Text 9"/>
          <p:cNvSpPr/>
          <p:nvPr/>
        </p:nvSpPr>
        <p:spPr>
          <a:xfrm>
            <a:off x="457200" y="2468880"/>
            <a:ext cx="3931920" cy="45720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Reject H₀</a:t>
            </a:r>
            <a:endParaRPr lang="en-US" sz="1500" dirty="0"/>
          </a:p>
        </p:txBody>
      </p:sp>
      <p:sp>
        <p:nvSpPr>
          <p:cNvPr id="13" name="Text 10"/>
          <p:cNvSpPr/>
          <p:nvPr/>
        </p:nvSpPr>
        <p:spPr>
          <a:xfrm>
            <a:off x="640080" y="3017520"/>
            <a:ext cx="3566160" cy="7315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"The effect of A depends on the level of B." Interpret simple effects, not main effects.</a:t>
            </a:r>
            <a:endParaRPr lang="en-US" sz="1300" dirty="0"/>
          </a:p>
        </p:txBody>
      </p:sp>
      <p:sp>
        <p:nvSpPr>
          <p:cNvPr id="14" name="Shape 11"/>
          <p:cNvSpPr/>
          <p:nvPr/>
        </p:nvSpPr>
        <p:spPr>
          <a:xfrm>
            <a:off x="4754880" y="2468880"/>
            <a:ext cx="39319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4754880" y="2468880"/>
            <a:ext cx="3931920" cy="457200"/>
          </a:xfrm>
          <a:prstGeom prst="rect">
            <a:avLst/>
          </a:prstGeom>
          <a:solidFill>
            <a:srgbClr val="64748B"/>
          </a:solidFill>
          <a:ln/>
        </p:spPr>
      </p:sp>
      <p:sp>
        <p:nvSpPr>
          <p:cNvPr id="16" name="Text 13"/>
          <p:cNvSpPr/>
          <p:nvPr/>
        </p:nvSpPr>
        <p:spPr>
          <a:xfrm>
            <a:off x="4754880" y="2468880"/>
            <a:ext cx="3931920" cy="45720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Fail to Reject H₀</a:t>
            </a:r>
            <a:endParaRPr lang="en-US" sz="1500" dirty="0"/>
          </a:p>
        </p:txBody>
      </p:sp>
      <p:sp>
        <p:nvSpPr>
          <p:cNvPr id="17" name="Text 14"/>
          <p:cNvSpPr/>
          <p:nvPr/>
        </p:nvSpPr>
        <p:spPr>
          <a:xfrm>
            <a:off x="4937760" y="3017520"/>
            <a:ext cx="3566160" cy="7315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No evidence of interaction. Proceed to interpret main effects of A and B normally.</a:t>
            </a:r>
            <a:endParaRPr lang="en-US" sz="1300" dirty="0"/>
          </a:p>
        </p:txBody>
      </p:sp>
      <p:sp>
        <p:nvSpPr>
          <p:cNvPr id="18" name="Shape 15"/>
          <p:cNvSpPr/>
          <p:nvPr/>
        </p:nvSpPr>
        <p:spPr>
          <a:xfrm>
            <a:off x="457200" y="4114800"/>
            <a:ext cx="8229600" cy="822960"/>
          </a:xfrm>
          <a:prstGeom prst="rect">
            <a:avLst/>
          </a:prstGeom>
          <a:solidFill>
            <a:srgbClr val="E0F2FE"/>
          </a:solidFill>
          <a:ln/>
          <a:effectLst>
            <a:outerShdw sx="100000" sy="100000" kx="0" ky="0" algn="bl" rotWithShape="0" blurRad="76200" dist="25400" dir="8100000">
              <a:srgbClr val="000000">
                <a:alpha val="12000"/>
              </a:srgbClr>
            </a:outerShdw>
          </a:effectLst>
        </p:spPr>
      </p:sp>
      <p:pic>
        <p:nvPicPr>
          <p:cNvPr id="19" name="Image 1" descr="preencoded.png">    </p:cNvPr>
          <p:cNvPicPr>
            <a:picLocks noChangeAspect="1"/>
          </p:cNvPicPr>
          <p:nvPr/>
        </p:nvPicPr>
        <p:blipFill>
          <a:blip r:embed="rId2"/>
          <a:stretch>
            <a:fillRect/>
          </a:stretch>
        </p:blipFill>
        <p:spPr>
          <a:xfrm>
            <a:off x="640080" y="4251960"/>
            <a:ext cx="320040" cy="320040"/>
          </a:xfrm>
          <a:prstGeom prst="rect">
            <a:avLst/>
          </a:prstGeom>
        </p:spPr>
      </p:pic>
      <p:sp>
        <p:nvSpPr>
          <p:cNvPr id="20" name="Text 16"/>
          <p:cNvSpPr/>
          <p:nvPr/>
        </p:nvSpPr>
        <p:spPr>
          <a:xfrm>
            <a:off x="1097280" y="4160520"/>
            <a:ext cx="7315200" cy="7315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If interaction is significant, main effects can be misleading! A factor may appear to have no overall effect, but it could have a strong effect at specific levels of the other factor.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Main Effect Hypotheses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36</a:t>
            </a:r>
            <a:endParaRPr lang="en-US" sz="900" dirty="0"/>
          </a:p>
        </p:txBody>
      </p:sp>
      <p:sp>
        <p:nvSpPr>
          <p:cNvPr id="7" name="Shape 4"/>
          <p:cNvSpPr/>
          <p:nvPr/>
        </p:nvSpPr>
        <p:spPr>
          <a:xfrm>
            <a:off x="457200" y="1005840"/>
            <a:ext cx="39319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457200" y="1005840"/>
            <a:ext cx="3931920" cy="457200"/>
          </a:xfrm>
          <a:prstGeom prst="rect">
            <a:avLst/>
          </a:prstGeom>
          <a:solidFill>
            <a:srgbClr val="065A82"/>
          </a:solidFill>
          <a:ln/>
        </p:spPr>
      </p:sp>
      <p:sp>
        <p:nvSpPr>
          <p:cNvPr id="9" name="Text 6"/>
          <p:cNvSpPr/>
          <p:nvPr/>
        </p:nvSpPr>
        <p:spPr>
          <a:xfrm>
            <a:off x="457200" y="1005840"/>
            <a:ext cx="393192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Factor A</a:t>
            </a:r>
            <a:endParaRPr lang="en-US" sz="1800" dirty="0"/>
          </a:p>
        </p:txBody>
      </p:sp>
      <p:sp>
        <p:nvSpPr>
          <p:cNvPr id="10" name="Text 7"/>
          <p:cNvSpPr/>
          <p:nvPr/>
        </p:nvSpPr>
        <p:spPr>
          <a:xfrm>
            <a:off x="640080" y="1600200"/>
            <a:ext cx="3566160" cy="12801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H₀: μ₁.. = μ₂.. = … = μₐ..</a:t>
            </a:r>
            <a:endParaRPr lang="en-US" sz="1400" dirty="0"/>
          </a:p>
          <a:p>
            <a:pPr indent="0" marL="0">
              <a:buNone/>
            </a:pPr>
            <a:r>
              <a:rPr lang="en-US" sz="1200" i="1" dirty="0">
                <a:solidFill>
                  <a:srgbClr val="64748B"/>
                </a:solidFill>
                <a:latin typeface="Calibri" pitchFamily="34" charset="0"/>
                <a:ea typeface="Calibri" pitchFamily="34" charset="-122"/>
                <a:cs typeface="Calibri" pitchFamily="34" charset="-120"/>
              </a:rPr>
              <a:t>(All A marginal means are equal)</a:t>
            </a:r>
            <a:endParaRPr lang="en-US" sz="1400" dirty="0"/>
          </a:p>
          <a:p>
            <a:pPr indent="0" marL="0">
              <a:buNone/>
            </a:pP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Hₐ: At least one A marginal mean differs</a:t>
            </a:r>
            <a:endParaRPr lang="en-US" sz="1400" dirty="0"/>
          </a:p>
        </p:txBody>
      </p:sp>
      <p:sp>
        <p:nvSpPr>
          <p:cNvPr id="11" name="Shape 8"/>
          <p:cNvSpPr/>
          <p:nvPr/>
        </p:nvSpPr>
        <p:spPr>
          <a:xfrm>
            <a:off x="4754880" y="1005840"/>
            <a:ext cx="39319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754880" y="1005840"/>
            <a:ext cx="3931920" cy="457200"/>
          </a:xfrm>
          <a:prstGeom prst="rect">
            <a:avLst/>
          </a:prstGeom>
          <a:solidFill>
            <a:srgbClr val="1C7293"/>
          </a:solidFill>
          <a:ln/>
        </p:spPr>
      </p:sp>
      <p:sp>
        <p:nvSpPr>
          <p:cNvPr id="13" name="Text 10"/>
          <p:cNvSpPr/>
          <p:nvPr/>
        </p:nvSpPr>
        <p:spPr>
          <a:xfrm>
            <a:off x="4754880" y="1005840"/>
            <a:ext cx="393192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Factor B</a:t>
            </a:r>
            <a:endParaRPr lang="en-US" sz="1800" dirty="0"/>
          </a:p>
        </p:txBody>
      </p:sp>
      <p:sp>
        <p:nvSpPr>
          <p:cNvPr id="14" name="Text 11"/>
          <p:cNvSpPr/>
          <p:nvPr/>
        </p:nvSpPr>
        <p:spPr>
          <a:xfrm>
            <a:off x="4937760" y="1600200"/>
            <a:ext cx="3566160" cy="12801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H₀: μ.₁. = μ.₂. = … = μ.ᵇ.</a:t>
            </a:r>
            <a:endParaRPr lang="en-US" sz="1400" dirty="0"/>
          </a:p>
          <a:p>
            <a:pPr indent="0" marL="0">
              <a:buNone/>
            </a:pPr>
            <a:r>
              <a:rPr lang="en-US" sz="1200" i="1" dirty="0">
                <a:solidFill>
                  <a:srgbClr val="64748B"/>
                </a:solidFill>
                <a:latin typeface="Calibri" pitchFamily="34" charset="0"/>
                <a:ea typeface="Calibri" pitchFamily="34" charset="-122"/>
                <a:cs typeface="Calibri" pitchFamily="34" charset="-120"/>
              </a:rPr>
              <a:t>(All B marginal means are equal)</a:t>
            </a:r>
            <a:endParaRPr lang="en-US" sz="1400" dirty="0"/>
          </a:p>
          <a:p>
            <a:pPr indent="0" marL="0">
              <a:buNone/>
            </a:pP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Hₐ: At least one B marginal mean differs</a:t>
            </a:r>
            <a:endParaRPr lang="en-US" sz="1400" dirty="0"/>
          </a:p>
        </p:txBody>
      </p:sp>
      <p:sp>
        <p:nvSpPr>
          <p:cNvPr id="15" name="Shape 12"/>
          <p:cNvSpPr/>
          <p:nvPr/>
        </p:nvSpPr>
        <p:spPr>
          <a:xfrm>
            <a:off x="457200" y="3291840"/>
            <a:ext cx="8229600" cy="15544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6" name="Text 13"/>
          <p:cNvSpPr/>
          <p:nvPr/>
        </p:nvSpPr>
        <p:spPr>
          <a:xfrm>
            <a:off x="640080" y="3383280"/>
            <a:ext cx="777240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Interpretation Rule</a:t>
            </a:r>
            <a:endParaRPr lang="en-US" sz="1600" dirty="0"/>
          </a:p>
        </p:txBody>
      </p:sp>
      <p:sp>
        <p:nvSpPr>
          <p:cNvPr id="17" name="Text 14"/>
          <p:cNvSpPr/>
          <p:nvPr/>
        </p:nvSpPr>
        <p:spPr>
          <a:xfrm>
            <a:off x="640080" y="3794760"/>
            <a:ext cx="7772400" cy="914400"/>
          </a:xfrm>
          <a:prstGeom prst="rect">
            <a:avLst/>
          </a:prstGeom>
          <a:noFill/>
          <a:ln/>
        </p:spPr>
        <p:txBody>
          <a:bodyPr wrap="square" lIns="0" tIns="0" rIns="0" bIns="0" rtlCol="0" anchor="ctr"/>
          <a:lstStyle/>
          <a:p>
            <a:pPr indent="0" marL="0">
              <a:spcAft>
                <a:spcPts val="600"/>
              </a:spcAft>
              <a:buNone/>
            </a:pPr>
            <a:r>
              <a:rPr lang="en-US" sz="1400" b="1" dirty="0">
                <a:solidFill>
                  <a:srgbClr val="1E293B"/>
                </a:solidFill>
                <a:latin typeface="Calibri" pitchFamily="34" charset="0"/>
                <a:ea typeface="Calibri" pitchFamily="34" charset="-122"/>
                <a:cs typeface="Calibri" pitchFamily="34" charset="-120"/>
              </a:rPr>
              <a:t>1. Check the interaction p-value FIRST</a:t>
            </a:r>
            <a:endParaRPr lang="en-US" sz="1400" dirty="0"/>
          </a:p>
          <a:p>
            <a:pPr indent="0" marL="0">
              <a:spcAft>
                <a:spcPts val="600"/>
              </a:spcAft>
              <a:buNone/>
            </a:pPr>
            <a:r>
              <a:rPr lang="en-US" sz="1300" dirty="0">
                <a:solidFill>
                  <a:srgbClr val="1E293B"/>
                </a:solidFill>
                <a:latin typeface="Calibri" pitchFamily="34" charset="0"/>
                <a:ea typeface="Calibri" pitchFamily="34" charset="-122"/>
                <a:cs typeface="Calibri" pitchFamily="34" charset="-120"/>
              </a:rPr>
              <a:t>2. If interaction is significant → interpret simple effects (compare A within each B level)</a:t>
            </a:r>
            <a:endParaRPr lang="en-US" sz="1400" dirty="0"/>
          </a:p>
          <a:p>
            <a:pPr indent="0" marL="0">
              <a:spcAft>
                <a:spcPts val="600"/>
              </a:spcAft>
              <a:buNone/>
            </a:pPr>
            <a:r>
              <a:rPr lang="en-US" sz="1300" dirty="0">
                <a:solidFill>
                  <a:srgbClr val="1E293B"/>
                </a:solidFill>
                <a:latin typeface="Calibri" pitchFamily="34" charset="0"/>
                <a:ea typeface="Calibri" pitchFamily="34" charset="-122"/>
                <a:cs typeface="Calibri" pitchFamily="34" charset="-120"/>
              </a:rPr>
              <a:t>3. If interaction is NOT significant → interpret main effects normally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D48"/>
        </a:solidFill>
      </p:bgPr>
    </p:bg>
    <p:spTree>
      <p:nvGrpSpPr>
        <p:cNvPr id="1" name=""/>
        <p:cNvGrpSpPr/>
        <p:nvPr/>
      </p:nvGrpSpPr>
      <p:grpSpPr>
        <a:xfrm>
          <a:off x="0" y="0"/>
          <a:ext cx="0" cy="0"/>
          <a:chOff x="0" y="0"/>
          <a:chExt cx="0" cy="0"/>
        </a:xfrm>
      </p:grpSpPr>
      <p:sp>
        <p:nvSpPr>
          <p:cNvPr id="2" name="Shape 0"/>
          <p:cNvSpPr/>
          <p:nvPr/>
        </p:nvSpPr>
        <p:spPr>
          <a:xfrm>
            <a:off x="4023360" y="1188720"/>
            <a:ext cx="1097280" cy="109728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4242816" y="1408176"/>
            <a:ext cx="658368" cy="658368"/>
          </a:xfrm>
          <a:prstGeom prst="rect">
            <a:avLst/>
          </a:prstGeom>
        </p:spPr>
      </p:pic>
      <p:sp>
        <p:nvSpPr>
          <p:cNvPr id="4" name="Text 1"/>
          <p:cNvSpPr/>
          <p:nvPr/>
        </p:nvSpPr>
        <p:spPr>
          <a:xfrm>
            <a:off x="457200" y="246888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Assumptions</a:t>
            </a:r>
            <a:endParaRPr lang="en-US" sz="3600" dirty="0"/>
          </a:p>
        </p:txBody>
      </p:sp>
      <p:sp>
        <p:nvSpPr>
          <p:cNvPr id="5" name="Text 2"/>
          <p:cNvSpPr/>
          <p:nvPr/>
        </p:nvSpPr>
        <p:spPr>
          <a:xfrm>
            <a:off x="914400" y="3200400"/>
            <a:ext cx="7315200" cy="457200"/>
          </a:xfrm>
          <a:prstGeom prst="rect">
            <a:avLst/>
          </a:prstGeom>
          <a:noFill/>
          <a:ln/>
        </p:spPr>
        <p:txBody>
          <a:bodyPr wrap="square" rtlCol="0" anchor="ctr"/>
          <a:lstStyle/>
          <a:p>
            <a:pPr algn="ctr" indent="0" marL="0">
              <a:buNone/>
            </a:pPr>
            <a:r>
              <a:rPr lang="en-US" sz="1600" dirty="0">
                <a:solidFill>
                  <a:srgbClr val="BAE6FD"/>
                </a:solidFill>
                <a:latin typeface="Calibri" pitchFamily="34" charset="0"/>
                <a:ea typeface="Calibri" pitchFamily="34" charset="-122"/>
                <a:cs typeface="Calibri" pitchFamily="34" charset="-120"/>
              </a:rPr>
              <a:t>Three conditions that must hold for valid results</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36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Assumption 1: Independence</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36</a:t>
            </a:r>
            <a:endParaRPr lang="en-US" sz="900" dirty="0"/>
          </a:p>
        </p:txBody>
      </p:sp>
      <p:sp>
        <p:nvSpPr>
          <p:cNvPr id="7" name="Shape 4"/>
          <p:cNvSpPr/>
          <p:nvPr/>
        </p:nvSpPr>
        <p:spPr>
          <a:xfrm>
            <a:off x="457200" y="1005840"/>
            <a:ext cx="822960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05840"/>
            <a:ext cx="777240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What it means: observations are not related — no repeated measures, no clustering</a:t>
            </a:r>
            <a:endParaRPr lang="en-US" sz="1500" dirty="0"/>
          </a:p>
        </p:txBody>
      </p:sp>
      <p:sp>
        <p:nvSpPr>
          <p:cNvPr id="9" name="Shape 6"/>
          <p:cNvSpPr/>
          <p:nvPr/>
        </p:nvSpPr>
        <p:spPr>
          <a:xfrm>
            <a:off x="457200" y="2103120"/>
            <a:ext cx="502920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57200" y="2103120"/>
            <a:ext cx="5029200" cy="411480"/>
          </a:xfrm>
          <a:prstGeom prst="rect">
            <a:avLst/>
          </a:prstGeom>
          <a:solidFill>
            <a:srgbClr val="065A82"/>
          </a:solidFill>
          <a:ln/>
        </p:spPr>
      </p:sp>
      <p:sp>
        <p:nvSpPr>
          <p:cNvPr id="11" name="Text 8"/>
          <p:cNvSpPr/>
          <p:nvPr/>
        </p:nvSpPr>
        <p:spPr>
          <a:xfrm>
            <a:off x="457200" y="2103120"/>
            <a:ext cx="502920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How to Check (Study Design, Not a Test)</a:t>
            </a:r>
            <a:endParaRPr lang="en-US" sz="1400" dirty="0"/>
          </a:p>
        </p:txBody>
      </p:sp>
      <p:sp>
        <p:nvSpPr>
          <p:cNvPr id="12" name="Text 9"/>
          <p:cNvSpPr/>
          <p:nvPr/>
        </p:nvSpPr>
        <p:spPr>
          <a:xfrm>
            <a:off x="640080" y="2651760"/>
            <a:ext cx="4572000" cy="1645920"/>
          </a:xfrm>
          <a:prstGeom prst="rect">
            <a:avLst/>
          </a:prstGeom>
          <a:noFill/>
          <a:ln/>
        </p:spPr>
        <p:txBody>
          <a:bodyPr wrap="square" rtlCol="0" anchor="ctr"/>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Random sampling or random assignment?</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 subject measured more than once?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 paired or matched data?</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 cluster effects (groups causing similarity)?</a:t>
            </a:r>
            <a:endParaRPr lang="en-US" sz="1300" dirty="0"/>
          </a:p>
        </p:txBody>
      </p:sp>
      <p:sp>
        <p:nvSpPr>
          <p:cNvPr id="13" name="Shape 10"/>
          <p:cNvSpPr/>
          <p:nvPr/>
        </p:nvSpPr>
        <p:spPr>
          <a:xfrm>
            <a:off x="5760720" y="2103120"/>
            <a:ext cx="2926080" cy="228600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4" name="Text 11"/>
          <p:cNvSpPr/>
          <p:nvPr/>
        </p:nvSpPr>
        <p:spPr>
          <a:xfrm>
            <a:off x="5943600" y="2194560"/>
            <a:ext cx="2560320" cy="365760"/>
          </a:xfrm>
          <a:prstGeom prst="rect">
            <a:avLst/>
          </a:prstGeom>
          <a:noFill/>
          <a:ln/>
        </p:spPr>
        <p:txBody>
          <a:bodyPr wrap="square" lIns="0" tIns="0" rIns="0" bIns="0" rtlCol="0" anchor="ctr"/>
          <a:lstStyle/>
          <a:p>
            <a:pPr indent="0" marL="0">
              <a:buNone/>
            </a:pPr>
            <a:r>
              <a:rPr lang="en-US" sz="1400" b="1" dirty="0">
                <a:solidFill>
                  <a:srgbClr val="EF4444"/>
                </a:solidFill>
                <a:latin typeface="Georgia" pitchFamily="34" charset="0"/>
                <a:ea typeface="Georgia" pitchFamily="34" charset="-122"/>
                <a:cs typeface="Georgia" pitchFamily="34" charset="-120"/>
              </a:rPr>
              <a:t>If Violated</a:t>
            </a:r>
            <a:endParaRPr lang="en-US" sz="1400" dirty="0"/>
          </a:p>
        </p:txBody>
      </p:sp>
      <p:sp>
        <p:nvSpPr>
          <p:cNvPr id="15" name="Text 12"/>
          <p:cNvSpPr/>
          <p:nvPr/>
        </p:nvSpPr>
        <p:spPr>
          <a:xfrm>
            <a:off x="5943600" y="2606040"/>
            <a:ext cx="256032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You need a different method:</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Repeated-measures ANOVA</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Mixed models</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 Other specialized designs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Assumption 2: Normality</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 / 36</a:t>
            </a:r>
            <a:endParaRPr lang="en-US" sz="900" dirty="0"/>
          </a:p>
        </p:txBody>
      </p:sp>
      <p:sp>
        <p:nvSpPr>
          <p:cNvPr id="7" name="Shape 4"/>
          <p:cNvSpPr/>
          <p:nvPr/>
        </p:nvSpPr>
        <p:spPr>
          <a:xfrm>
            <a:off x="457200" y="100584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05840"/>
            <a:ext cx="7772400" cy="64008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What it means: residuals within each cell are approximately normally distributed</a:t>
            </a:r>
            <a:endParaRPr lang="en-US" sz="1500" dirty="0"/>
          </a:p>
        </p:txBody>
      </p:sp>
      <p:sp>
        <p:nvSpPr>
          <p:cNvPr id="9" name="Shape 6"/>
          <p:cNvSpPr/>
          <p:nvPr/>
        </p:nvSpPr>
        <p:spPr>
          <a:xfrm>
            <a:off x="457200" y="1874520"/>
            <a:ext cx="3931920" cy="1920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57200" y="1874520"/>
            <a:ext cx="3931920" cy="411480"/>
          </a:xfrm>
          <a:prstGeom prst="rect">
            <a:avLst/>
          </a:prstGeom>
          <a:solidFill>
            <a:srgbClr val="1C7293"/>
          </a:solidFill>
          <a:ln/>
        </p:spPr>
      </p:sp>
      <p:sp>
        <p:nvSpPr>
          <p:cNvPr id="11" name="Text 8"/>
          <p:cNvSpPr/>
          <p:nvPr/>
        </p:nvSpPr>
        <p:spPr>
          <a:xfrm>
            <a:off x="457200" y="1874520"/>
            <a:ext cx="393192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Visual Checks</a:t>
            </a:r>
            <a:endParaRPr lang="en-US" sz="1400" dirty="0"/>
          </a:p>
        </p:txBody>
      </p:sp>
      <p:sp>
        <p:nvSpPr>
          <p:cNvPr id="12" name="Text 9"/>
          <p:cNvSpPr/>
          <p:nvPr/>
        </p:nvSpPr>
        <p:spPr>
          <a:xfrm>
            <a:off x="640080" y="2423160"/>
            <a:ext cx="3566160" cy="1188720"/>
          </a:xfrm>
          <a:prstGeom prst="rect">
            <a:avLst/>
          </a:prstGeom>
          <a:noFill/>
          <a:ln/>
        </p:spPr>
        <p:txBody>
          <a:bodyPr wrap="square" lIns="0" tIns="0" rIns="0" bIns="0" rtlCol="0" anchor="ctr"/>
          <a:lstStyle/>
          <a:p>
            <a:pPr indent="0" marL="0">
              <a:spcAft>
                <a:spcPts val="400"/>
              </a:spcAft>
              <a:buNone/>
            </a:pPr>
            <a:r>
              <a:rPr lang="en-US" sz="1300" b="1" dirty="0">
                <a:solidFill>
                  <a:srgbClr val="1E293B"/>
                </a:solidFill>
                <a:latin typeface="Calibri" pitchFamily="34" charset="0"/>
                <a:ea typeface="Calibri" pitchFamily="34" charset="-122"/>
                <a:cs typeface="Calibri" pitchFamily="34" charset="-120"/>
              </a:rPr>
              <a:t>Residual histogram</a:t>
            </a:r>
            <a:endParaRPr lang="en-US" sz="1300" dirty="0"/>
          </a:p>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  Roughly bell-shaped?</a:t>
            </a:r>
            <a:endParaRPr lang="en-US" sz="1300" dirty="0"/>
          </a:p>
          <a:p>
            <a:pPr indent="0" marL="0">
              <a:spcAft>
                <a:spcPts val="400"/>
              </a:spcAft>
              <a:buNone/>
            </a:pPr>
            <a:r>
              <a:rPr lang="en-US" sz="1300" b="1" dirty="0">
                <a:solidFill>
                  <a:srgbClr val="1E293B"/>
                </a:solidFill>
                <a:latin typeface="Calibri" pitchFamily="34" charset="0"/>
                <a:ea typeface="Calibri" pitchFamily="34" charset="-122"/>
                <a:cs typeface="Calibri" pitchFamily="34" charset="-120"/>
              </a:rPr>
              <a:t>Normal Q–Q plot</a:t>
            </a:r>
            <a:endParaRPr lang="en-US" sz="1300" dirty="0"/>
          </a:p>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  Points roughly on the line?</a:t>
            </a:r>
            <a:endParaRPr lang="en-US" sz="1300" dirty="0"/>
          </a:p>
        </p:txBody>
      </p:sp>
      <p:sp>
        <p:nvSpPr>
          <p:cNvPr id="13" name="Shape 10"/>
          <p:cNvSpPr/>
          <p:nvPr/>
        </p:nvSpPr>
        <p:spPr>
          <a:xfrm>
            <a:off x="4754880" y="1874520"/>
            <a:ext cx="3931920" cy="1920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4754880" y="1874520"/>
            <a:ext cx="3931920" cy="411480"/>
          </a:xfrm>
          <a:prstGeom prst="rect">
            <a:avLst/>
          </a:prstGeom>
          <a:solidFill>
            <a:srgbClr val="065A82"/>
          </a:solidFill>
          <a:ln/>
        </p:spPr>
      </p:sp>
      <p:sp>
        <p:nvSpPr>
          <p:cNvPr id="15" name="Text 12"/>
          <p:cNvSpPr/>
          <p:nvPr/>
        </p:nvSpPr>
        <p:spPr>
          <a:xfrm>
            <a:off x="4754880" y="1874520"/>
            <a:ext cx="393192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Formal Test (Optional)</a:t>
            </a:r>
            <a:endParaRPr lang="en-US" sz="1400" dirty="0"/>
          </a:p>
        </p:txBody>
      </p:sp>
      <p:sp>
        <p:nvSpPr>
          <p:cNvPr id="16" name="Text 13"/>
          <p:cNvSpPr/>
          <p:nvPr/>
        </p:nvSpPr>
        <p:spPr>
          <a:xfrm>
            <a:off x="4937760" y="2423160"/>
            <a:ext cx="3566160" cy="1188720"/>
          </a:xfrm>
          <a:prstGeom prst="rect">
            <a:avLst/>
          </a:prstGeom>
          <a:noFill/>
          <a:ln/>
        </p:spPr>
        <p:txBody>
          <a:bodyPr wrap="square" lIns="0" tIns="0" rIns="0" bIns="0" rtlCol="0" anchor="ctr"/>
          <a:lstStyle/>
          <a:p>
            <a:pPr indent="0" marL="0">
              <a:spcAft>
                <a:spcPts val="400"/>
              </a:spcAft>
              <a:buNone/>
            </a:pPr>
            <a:r>
              <a:rPr lang="en-US" sz="1300" b="1" dirty="0">
                <a:solidFill>
                  <a:srgbClr val="1E293B"/>
                </a:solidFill>
                <a:latin typeface="Calibri" pitchFamily="34" charset="0"/>
                <a:ea typeface="Calibri" pitchFamily="34" charset="-122"/>
                <a:cs typeface="Calibri" pitchFamily="34" charset="-120"/>
              </a:rPr>
              <a:t>Shapiro–Wilk test on residuals</a:t>
            </a:r>
            <a:endParaRPr lang="en-US" sz="1300" dirty="0"/>
          </a:p>
          <a:p>
            <a:pPr indent="0" marL="0">
              <a:spcAft>
                <a:spcPts val="400"/>
              </a:spcAft>
              <a:buNone/>
            </a:pPr>
            <a:r>
              <a:rPr lang="en-US" sz="1200" dirty="0">
                <a:solidFill>
                  <a:srgbClr val="64748B"/>
                </a:solidFill>
                <a:latin typeface="Calibri" pitchFamily="34" charset="0"/>
                <a:ea typeface="Calibri" pitchFamily="34" charset="-122"/>
                <a:cs typeface="Calibri" pitchFamily="34" charset="-120"/>
              </a:rPr>
              <a:t>  Small p-value → evidence against normality</a:t>
            </a:r>
            <a:endParaRPr lang="en-US" sz="1300" dirty="0"/>
          </a:p>
          <a:p>
            <a:pPr indent="0" marL="0">
              <a:spcAft>
                <a:spcPts val="400"/>
              </a:spcAft>
              <a:buNone/>
            </a:pPr>
            <a:endParaRPr lang="en-US" sz="1300" dirty="0"/>
          </a:p>
          <a:p>
            <a:pPr indent="0" marL="0">
              <a:spcAft>
                <a:spcPts val="400"/>
              </a:spcAft>
              <a:buNone/>
            </a:pPr>
            <a:r>
              <a:rPr lang="en-US" sz="1200" i="1" dirty="0">
                <a:solidFill>
                  <a:srgbClr val="1E293B"/>
                </a:solidFill>
                <a:latin typeface="Calibri" pitchFamily="34" charset="0"/>
                <a:ea typeface="Calibri" pitchFamily="34" charset="-122"/>
                <a:cs typeface="Calibri" pitchFamily="34" charset="-120"/>
              </a:rPr>
              <a:t>Note: with moderate/large n, ANOVA is robust to mild non-normality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Assumption 3: Equal Variances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36</a:t>
            </a:r>
            <a:endParaRPr lang="en-US" sz="900" dirty="0"/>
          </a:p>
        </p:txBody>
      </p:sp>
      <p:sp>
        <p:nvSpPr>
          <p:cNvPr id="7" name="Shape 4"/>
          <p:cNvSpPr/>
          <p:nvPr/>
        </p:nvSpPr>
        <p:spPr>
          <a:xfrm>
            <a:off x="457200" y="100584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05840"/>
            <a:ext cx="7772400" cy="64008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What it means: variability is similar across all cells (homogeneity of variance)</a:t>
            </a:r>
            <a:endParaRPr lang="en-US" sz="1500" dirty="0"/>
          </a:p>
        </p:txBody>
      </p:sp>
      <p:sp>
        <p:nvSpPr>
          <p:cNvPr id="9" name="Shape 6"/>
          <p:cNvSpPr/>
          <p:nvPr/>
        </p:nvSpPr>
        <p:spPr>
          <a:xfrm>
            <a:off x="457200" y="187452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57200" y="1874520"/>
            <a:ext cx="3931920" cy="411480"/>
          </a:xfrm>
          <a:prstGeom prst="rect">
            <a:avLst/>
          </a:prstGeom>
          <a:solidFill>
            <a:srgbClr val="1C7293"/>
          </a:solidFill>
          <a:ln/>
        </p:spPr>
      </p:sp>
      <p:sp>
        <p:nvSpPr>
          <p:cNvPr id="11" name="Text 8"/>
          <p:cNvSpPr/>
          <p:nvPr/>
        </p:nvSpPr>
        <p:spPr>
          <a:xfrm>
            <a:off x="457200" y="1874520"/>
            <a:ext cx="393192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Visual Check</a:t>
            </a:r>
            <a:endParaRPr lang="en-US" sz="1400" dirty="0"/>
          </a:p>
        </p:txBody>
      </p:sp>
      <p:sp>
        <p:nvSpPr>
          <p:cNvPr id="12" name="Text 9"/>
          <p:cNvSpPr/>
          <p:nvPr/>
        </p:nvSpPr>
        <p:spPr>
          <a:xfrm>
            <a:off x="640080" y="2423160"/>
            <a:ext cx="3566160" cy="9144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Side-by-side boxplots by cell — look for similar spreads (IQR, whisker lengths)</a:t>
            </a:r>
            <a:endParaRPr lang="en-US" sz="1300" dirty="0"/>
          </a:p>
        </p:txBody>
      </p:sp>
      <p:sp>
        <p:nvSpPr>
          <p:cNvPr id="13" name="Shape 10"/>
          <p:cNvSpPr/>
          <p:nvPr/>
        </p:nvSpPr>
        <p:spPr>
          <a:xfrm>
            <a:off x="4754880" y="187452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4754880" y="1874520"/>
            <a:ext cx="3931920" cy="411480"/>
          </a:xfrm>
          <a:prstGeom prst="rect">
            <a:avLst/>
          </a:prstGeom>
          <a:solidFill>
            <a:srgbClr val="065A82"/>
          </a:solidFill>
          <a:ln/>
        </p:spPr>
      </p:sp>
      <p:sp>
        <p:nvSpPr>
          <p:cNvPr id="15" name="Text 12"/>
          <p:cNvSpPr/>
          <p:nvPr/>
        </p:nvSpPr>
        <p:spPr>
          <a:xfrm>
            <a:off x="4754880" y="1874520"/>
            <a:ext cx="393192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Formal Test</a:t>
            </a:r>
            <a:endParaRPr lang="en-US" sz="1400" dirty="0"/>
          </a:p>
        </p:txBody>
      </p:sp>
      <p:sp>
        <p:nvSpPr>
          <p:cNvPr id="16" name="Text 13"/>
          <p:cNvSpPr/>
          <p:nvPr/>
        </p:nvSpPr>
        <p:spPr>
          <a:xfrm>
            <a:off x="4937760" y="2423160"/>
            <a:ext cx="3566160" cy="914400"/>
          </a:xfrm>
          <a:prstGeom prst="rect">
            <a:avLst/>
          </a:prstGeom>
          <a:noFill/>
          <a:ln/>
        </p:spPr>
        <p:txBody>
          <a:bodyPr wrap="square" lIns="0" tIns="0" rIns="0" bIns="0" rtlCol="0" anchor="ctr"/>
          <a:lstStyle/>
          <a:p>
            <a:pPr indent="0" marL="0">
              <a:spcAft>
                <a:spcPts val="600"/>
              </a:spcAft>
              <a:buNone/>
            </a:pPr>
            <a:r>
              <a:rPr lang="en-US" sz="1400" b="1" dirty="0">
                <a:solidFill>
                  <a:srgbClr val="1E293B"/>
                </a:solidFill>
                <a:latin typeface="Calibri" pitchFamily="34" charset="0"/>
                <a:ea typeface="Calibri" pitchFamily="34" charset="-122"/>
                <a:cs typeface="Calibri" pitchFamily="34" charset="-120"/>
              </a:rPr>
              <a:t>Levene’s Test</a:t>
            </a:r>
            <a:endParaRPr lang="en-US" sz="1400" dirty="0"/>
          </a:p>
          <a:p>
            <a:pPr indent="0" marL="0">
              <a:spcAft>
                <a:spcPts val="600"/>
              </a:spcAft>
              <a:buNone/>
            </a:pPr>
            <a:r>
              <a:rPr lang="en-US" sz="1300" dirty="0">
                <a:solidFill>
                  <a:srgbClr val="1E293B"/>
                </a:solidFill>
                <a:latin typeface="Calibri" pitchFamily="34" charset="0"/>
                <a:ea typeface="Calibri" pitchFamily="34" charset="-122"/>
                <a:cs typeface="Calibri" pitchFamily="34" charset="-120"/>
              </a:rPr>
              <a:t>H₀: all cell variances are equal</a:t>
            </a:r>
            <a:endParaRPr lang="en-US" sz="1400" dirty="0"/>
          </a:p>
          <a:p>
            <a:pPr indent="0" marL="0">
              <a:spcAft>
                <a:spcPts val="600"/>
              </a:spcAft>
              <a:buNone/>
            </a:pPr>
            <a:r>
              <a:rPr lang="en-US" sz="1300" dirty="0">
                <a:solidFill>
                  <a:srgbClr val="1E293B"/>
                </a:solidFill>
                <a:latin typeface="Calibri" pitchFamily="34" charset="0"/>
                <a:ea typeface="Calibri" pitchFamily="34" charset="-122"/>
                <a:cs typeface="Calibri" pitchFamily="34" charset="-120"/>
              </a:rPr>
              <a:t>Small p-value → variances differ</a:t>
            </a:r>
            <a:endParaRPr lang="en-US" sz="1400" dirty="0"/>
          </a:p>
        </p:txBody>
      </p:sp>
      <p:sp>
        <p:nvSpPr>
          <p:cNvPr id="17" name="Shape 14"/>
          <p:cNvSpPr/>
          <p:nvPr/>
        </p:nvSpPr>
        <p:spPr>
          <a:xfrm>
            <a:off x="457200" y="3749040"/>
            <a:ext cx="8229600" cy="10972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8" name="Text 15"/>
          <p:cNvSpPr/>
          <p:nvPr/>
        </p:nvSpPr>
        <p:spPr>
          <a:xfrm>
            <a:off x="640080" y="3794760"/>
            <a:ext cx="1828800" cy="365760"/>
          </a:xfrm>
          <a:prstGeom prst="rect">
            <a:avLst/>
          </a:prstGeom>
          <a:noFill/>
          <a:ln/>
        </p:spPr>
        <p:txBody>
          <a:bodyPr wrap="square" lIns="0" tIns="0" rIns="0" bIns="0" rtlCol="0" anchor="ctr"/>
          <a:lstStyle/>
          <a:p>
            <a:pPr indent="0" marL="0">
              <a:buNone/>
            </a:pPr>
            <a:r>
              <a:rPr lang="en-US" sz="1400" b="1" dirty="0">
                <a:solidFill>
                  <a:srgbClr val="EF4444"/>
                </a:solidFill>
                <a:latin typeface="Georgia" pitchFamily="34" charset="0"/>
                <a:ea typeface="Georgia" pitchFamily="34" charset="-122"/>
                <a:cs typeface="Georgia" pitchFamily="34" charset="-120"/>
              </a:rPr>
              <a:t>If Violated:</a:t>
            </a:r>
            <a:endParaRPr lang="en-US" sz="1400" dirty="0"/>
          </a:p>
        </p:txBody>
      </p:sp>
      <p:sp>
        <p:nvSpPr>
          <p:cNvPr id="19" name="Text 16"/>
          <p:cNvSpPr/>
          <p:nvPr/>
        </p:nvSpPr>
        <p:spPr>
          <a:xfrm>
            <a:off x="640080" y="4160520"/>
            <a:ext cx="7772400" cy="640080"/>
          </a:xfrm>
          <a:prstGeom prst="rect">
            <a:avLst/>
          </a:prstGeom>
          <a:noFill/>
          <a:ln/>
        </p:spPr>
        <p:txBody>
          <a:bodyPr wrap="square" rtlCol="0" anchor="ctr"/>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Consider a transformation (log, square root) to stabilize variances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Rule of thumb: if the largest cell SD is no more than 2× the smallest, ANOVA is usually still OK</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Welch-type corrections or robust alternatives may apply (depends on course)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Sum of Squares Breakdown</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 / 36</a:t>
            </a:r>
            <a:endParaRPr lang="en-US" sz="900" dirty="0"/>
          </a:p>
        </p:txBody>
      </p:sp>
      <p:sp>
        <p:nvSpPr>
          <p:cNvPr id="7" name="Shape 4"/>
          <p:cNvSpPr/>
          <p:nvPr/>
        </p:nvSpPr>
        <p:spPr>
          <a:xfrm>
            <a:off x="731520" y="1005840"/>
            <a:ext cx="7680960" cy="73152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8" name="Text 5"/>
          <p:cNvSpPr/>
          <p:nvPr/>
        </p:nvSpPr>
        <p:spPr>
          <a:xfrm>
            <a:off x="731520" y="1005840"/>
            <a:ext cx="7680960" cy="731520"/>
          </a:xfrm>
          <a:prstGeom prst="rect">
            <a:avLst/>
          </a:prstGeom>
          <a:noFill/>
          <a:ln/>
        </p:spPr>
        <p:txBody>
          <a:bodyPr wrap="square" rtlCol="0" anchor="ctr"/>
          <a:lstStyle/>
          <a:p>
            <a:pPr algn="ctr" indent="0" marL="0">
              <a:buNone/>
            </a:pPr>
            <a:r>
              <a:rPr lang="en-US" sz="2200" b="1" dirty="0">
                <a:solidFill>
                  <a:srgbClr val="065A82"/>
                </a:solidFill>
                <a:latin typeface="Georgia" pitchFamily="34" charset="0"/>
                <a:ea typeface="Georgia" pitchFamily="34" charset="-122"/>
                <a:cs typeface="Georgia" pitchFamily="34" charset="-120"/>
              </a:rPr>
              <a:t>SSₜ = SSₐ + SSᵇ + SSₐᵇ + SSᵉ</a:t>
            </a:r>
            <a:endParaRPr lang="en-US" sz="2200" dirty="0"/>
          </a:p>
        </p:txBody>
      </p:sp>
      <p:sp>
        <p:nvSpPr>
          <p:cNvPr id="9" name="Shape 6"/>
          <p:cNvSpPr/>
          <p:nvPr/>
        </p:nvSpPr>
        <p:spPr>
          <a:xfrm>
            <a:off x="457200" y="1965960"/>
            <a:ext cx="402336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57200" y="1965960"/>
            <a:ext cx="64008" cy="1234440"/>
          </a:xfrm>
          <a:prstGeom prst="rect">
            <a:avLst/>
          </a:prstGeom>
          <a:solidFill>
            <a:srgbClr val="065A82"/>
          </a:solidFill>
          <a:ln/>
        </p:spPr>
      </p:sp>
      <p:sp>
        <p:nvSpPr>
          <p:cNvPr id="11" name="Text 8"/>
          <p:cNvSpPr/>
          <p:nvPr/>
        </p:nvSpPr>
        <p:spPr>
          <a:xfrm>
            <a:off x="685800" y="2057400"/>
            <a:ext cx="914400" cy="411480"/>
          </a:xfrm>
          <a:prstGeom prst="rect">
            <a:avLst/>
          </a:prstGeom>
          <a:noFill/>
          <a:ln/>
        </p:spPr>
        <p:txBody>
          <a:bodyPr wrap="square" lIns="0" tIns="0" rIns="0" bIns="0" rtlCol="0" anchor="ctr"/>
          <a:lstStyle/>
          <a:p>
            <a:pPr indent="0" marL="0">
              <a:buNone/>
            </a:pPr>
            <a:r>
              <a:rPr lang="en-US" sz="2000" b="1" dirty="0">
                <a:solidFill>
                  <a:srgbClr val="065A82"/>
                </a:solidFill>
                <a:latin typeface="Georgia" pitchFamily="34" charset="0"/>
                <a:ea typeface="Georgia" pitchFamily="34" charset="-122"/>
                <a:cs typeface="Georgia" pitchFamily="34" charset="-120"/>
              </a:rPr>
              <a:t>SSₐ</a:t>
            </a:r>
            <a:endParaRPr lang="en-US" sz="2000" dirty="0"/>
          </a:p>
        </p:txBody>
      </p:sp>
      <p:sp>
        <p:nvSpPr>
          <p:cNvPr id="12" name="Text 9"/>
          <p:cNvSpPr/>
          <p:nvPr/>
        </p:nvSpPr>
        <p:spPr>
          <a:xfrm>
            <a:off x="1645920" y="2057400"/>
            <a:ext cx="2651760" cy="4114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Due to Factor A</a:t>
            </a:r>
            <a:endParaRPr lang="en-US" sz="1400" dirty="0"/>
          </a:p>
        </p:txBody>
      </p:sp>
      <p:sp>
        <p:nvSpPr>
          <p:cNvPr id="13" name="Text 10"/>
          <p:cNvSpPr/>
          <p:nvPr/>
        </p:nvSpPr>
        <p:spPr>
          <a:xfrm>
            <a:off x="685800" y="2560320"/>
            <a:ext cx="356616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Variation between A marginal means</a:t>
            </a:r>
            <a:endParaRPr lang="en-US" sz="1200" dirty="0"/>
          </a:p>
        </p:txBody>
      </p:sp>
      <p:sp>
        <p:nvSpPr>
          <p:cNvPr id="14" name="Shape 11"/>
          <p:cNvSpPr/>
          <p:nvPr/>
        </p:nvSpPr>
        <p:spPr>
          <a:xfrm>
            <a:off x="4754880" y="1965960"/>
            <a:ext cx="402336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4754880" y="1965960"/>
            <a:ext cx="64008" cy="1234440"/>
          </a:xfrm>
          <a:prstGeom prst="rect">
            <a:avLst/>
          </a:prstGeom>
          <a:solidFill>
            <a:srgbClr val="1C7293"/>
          </a:solidFill>
          <a:ln/>
        </p:spPr>
      </p:sp>
      <p:sp>
        <p:nvSpPr>
          <p:cNvPr id="16" name="Text 13"/>
          <p:cNvSpPr/>
          <p:nvPr/>
        </p:nvSpPr>
        <p:spPr>
          <a:xfrm>
            <a:off x="4983480" y="2057400"/>
            <a:ext cx="914400" cy="411480"/>
          </a:xfrm>
          <a:prstGeom prst="rect">
            <a:avLst/>
          </a:prstGeom>
          <a:noFill/>
          <a:ln/>
        </p:spPr>
        <p:txBody>
          <a:bodyPr wrap="square" lIns="0" tIns="0" rIns="0" bIns="0" rtlCol="0" anchor="ctr"/>
          <a:lstStyle/>
          <a:p>
            <a:pPr indent="0" marL="0">
              <a:buNone/>
            </a:pPr>
            <a:r>
              <a:rPr lang="en-US" sz="2000" b="1" dirty="0">
                <a:solidFill>
                  <a:srgbClr val="1C7293"/>
                </a:solidFill>
                <a:latin typeface="Georgia" pitchFamily="34" charset="0"/>
                <a:ea typeface="Georgia" pitchFamily="34" charset="-122"/>
                <a:cs typeface="Georgia" pitchFamily="34" charset="-120"/>
              </a:rPr>
              <a:t>SSᵇ</a:t>
            </a:r>
            <a:endParaRPr lang="en-US" sz="2000" dirty="0"/>
          </a:p>
        </p:txBody>
      </p:sp>
      <p:sp>
        <p:nvSpPr>
          <p:cNvPr id="17" name="Text 14"/>
          <p:cNvSpPr/>
          <p:nvPr/>
        </p:nvSpPr>
        <p:spPr>
          <a:xfrm>
            <a:off x="5943600" y="2057400"/>
            <a:ext cx="2651760" cy="4114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Due to Factor B</a:t>
            </a:r>
            <a:endParaRPr lang="en-US" sz="1400" dirty="0"/>
          </a:p>
        </p:txBody>
      </p:sp>
      <p:sp>
        <p:nvSpPr>
          <p:cNvPr id="18" name="Text 15"/>
          <p:cNvSpPr/>
          <p:nvPr/>
        </p:nvSpPr>
        <p:spPr>
          <a:xfrm>
            <a:off x="4983480" y="2560320"/>
            <a:ext cx="356616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Variation between B marginal means</a:t>
            </a:r>
            <a:endParaRPr lang="en-US" sz="1200" dirty="0"/>
          </a:p>
        </p:txBody>
      </p:sp>
      <p:sp>
        <p:nvSpPr>
          <p:cNvPr id="19" name="Shape 16"/>
          <p:cNvSpPr/>
          <p:nvPr/>
        </p:nvSpPr>
        <p:spPr>
          <a:xfrm>
            <a:off x="457200" y="3383280"/>
            <a:ext cx="402336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7"/>
          <p:cNvSpPr/>
          <p:nvPr/>
        </p:nvSpPr>
        <p:spPr>
          <a:xfrm>
            <a:off x="457200" y="3383280"/>
            <a:ext cx="64008" cy="1234440"/>
          </a:xfrm>
          <a:prstGeom prst="rect">
            <a:avLst/>
          </a:prstGeom>
          <a:solidFill>
            <a:srgbClr val="0EA5E9"/>
          </a:solidFill>
          <a:ln/>
        </p:spPr>
      </p:sp>
      <p:sp>
        <p:nvSpPr>
          <p:cNvPr id="21" name="Text 18"/>
          <p:cNvSpPr/>
          <p:nvPr/>
        </p:nvSpPr>
        <p:spPr>
          <a:xfrm>
            <a:off x="685800" y="3474720"/>
            <a:ext cx="914400" cy="411480"/>
          </a:xfrm>
          <a:prstGeom prst="rect">
            <a:avLst/>
          </a:prstGeom>
          <a:noFill/>
          <a:ln/>
        </p:spPr>
        <p:txBody>
          <a:bodyPr wrap="square" lIns="0" tIns="0" rIns="0" bIns="0" rtlCol="0" anchor="ctr"/>
          <a:lstStyle/>
          <a:p>
            <a:pPr indent="0" marL="0">
              <a:buNone/>
            </a:pPr>
            <a:r>
              <a:rPr lang="en-US" sz="2000" b="1" dirty="0">
                <a:solidFill>
                  <a:srgbClr val="0EA5E9"/>
                </a:solidFill>
                <a:latin typeface="Georgia" pitchFamily="34" charset="0"/>
                <a:ea typeface="Georgia" pitchFamily="34" charset="-122"/>
                <a:cs typeface="Georgia" pitchFamily="34" charset="-120"/>
              </a:rPr>
              <a:t>SSₐᵇ</a:t>
            </a:r>
            <a:endParaRPr lang="en-US" sz="2000" dirty="0"/>
          </a:p>
        </p:txBody>
      </p:sp>
      <p:sp>
        <p:nvSpPr>
          <p:cNvPr id="22" name="Text 19"/>
          <p:cNvSpPr/>
          <p:nvPr/>
        </p:nvSpPr>
        <p:spPr>
          <a:xfrm>
            <a:off x="1645920" y="3474720"/>
            <a:ext cx="2651760" cy="4114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Due to Interaction</a:t>
            </a:r>
            <a:endParaRPr lang="en-US" sz="1400" dirty="0"/>
          </a:p>
        </p:txBody>
      </p:sp>
      <p:sp>
        <p:nvSpPr>
          <p:cNvPr id="23" name="Text 20"/>
          <p:cNvSpPr/>
          <p:nvPr/>
        </p:nvSpPr>
        <p:spPr>
          <a:xfrm>
            <a:off x="685800" y="3977640"/>
            <a:ext cx="356616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Variation in cell means beyond A and B effects</a:t>
            </a:r>
            <a:endParaRPr lang="en-US" sz="1200" dirty="0"/>
          </a:p>
        </p:txBody>
      </p:sp>
      <p:sp>
        <p:nvSpPr>
          <p:cNvPr id="24" name="Shape 21"/>
          <p:cNvSpPr/>
          <p:nvPr/>
        </p:nvSpPr>
        <p:spPr>
          <a:xfrm>
            <a:off x="4754880" y="3383280"/>
            <a:ext cx="402336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2"/>
          <p:cNvSpPr/>
          <p:nvPr/>
        </p:nvSpPr>
        <p:spPr>
          <a:xfrm>
            <a:off x="4754880" y="3383280"/>
            <a:ext cx="64008" cy="1234440"/>
          </a:xfrm>
          <a:prstGeom prst="rect">
            <a:avLst/>
          </a:prstGeom>
          <a:solidFill>
            <a:srgbClr val="64748B"/>
          </a:solidFill>
          <a:ln/>
        </p:spPr>
      </p:sp>
      <p:sp>
        <p:nvSpPr>
          <p:cNvPr id="26" name="Text 23"/>
          <p:cNvSpPr/>
          <p:nvPr/>
        </p:nvSpPr>
        <p:spPr>
          <a:xfrm>
            <a:off x="4983480" y="3474720"/>
            <a:ext cx="914400" cy="411480"/>
          </a:xfrm>
          <a:prstGeom prst="rect">
            <a:avLst/>
          </a:prstGeom>
          <a:noFill/>
          <a:ln/>
        </p:spPr>
        <p:txBody>
          <a:bodyPr wrap="square" lIns="0" tIns="0" rIns="0" bIns="0" rtlCol="0" anchor="ctr"/>
          <a:lstStyle/>
          <a:p>
            <a:pPr indent="0" marL="0">
              <a:buNone/>
            </a:pPr>
            <a:r>
              <a:rPr lang="en-US" sz="2000" b="1" dirty="0">
                <a:solidFill>
                  <a:srgbClr val="64748B"/>
                </a:solidFill>
                <a:latin typeface="Georgia" pitchFamily="34" charset="0"/>
                <a:ea typeface="Georgia" pitchFamily="34" charset="-122"/>
                <a:cs typeface="Georgia" pitchFamily="34" charset="-120"/>
              </a:rPr>
              <a:t>SSᵉ</a:t>
            </a:r>
            <a:endParaRPr lang="en-US" sz="2000" dirty="0"/>
          </a:p>
        </p:txBody>
      </p:sp>
      <p:sp>
        <p:nvSpPr>
          <p:cNvPr id="27" name="Text 24"/>
          <p:cNvSpPr/>
          <p:nvPr/>
        </p:nvSpPr>
        <p:spPr>
          <a:xfrm>
            <a:off x="5943600" y="3474720"/>
            <a:ext cx="2651760" cy="41148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Error (Within Cells)</a:t>
            </a:r>
            <a:endParaRPr lang="en-US" sz="1400" dirty="0"/>
          </a:p>
        </p:txBody>
      </p:sp>
      <p:sp>
        <p:nvSpPr>
          <p:cNvPr id="28" name="Text 25"/>
          <p:cNvSpPr/>
          <p:nvPr/>
        </p:nvSpPr>
        <p:spPr>
          <a:xfrm>
            <a:off x="4983480" y="3977640"/>
            <a:ext cx="356616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Variation within cells — the noise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Degrees of Freedom</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 / 36</a:t>
            </a:r>
            <a:endParaRPr lang="en-US" sz="900" dirty="0"/>
          </a:p>
        </p:txBody>
      </p:sp>
      <p:sp>
        <p:nvSpPr>
          <p:cNvPr id="7" name="Text 4"/>
          <p:cNvSpPr/>
          <p:nvPr/>
        </p:nvSpPr>
        <p:spPr>
          <a:xfrm>
            <a:off x="457200" y="914400"/>
            <a:ext cx="822960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For a balanced design with a levels of A, b levels of B, and n observations per cell:</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371600" y="1463040"/>
          <a:ext cx="6400800" cy="914400"/>
        </p:xfrm>
        <a:graphic>
          <a:graphicData uri="http://schemas.openxmlformats.org/drawingml/2006/table">
            <a:tbl>
              <a:tblPr/>
              <a:tblGrid>
                <a:gridCol w="2286000"/>
                <a:gridCol w="4114800"/>
              </a:tblGrid>
              <a:tr h="502920">
                <a:tc>
                  <a:txBody>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Source</a:t>
                      </a:r>
                      <a:endParaRPr lang="en-US" sz="14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Degrees of Freedom</a:t>
                      </a:r>
                      <a:endParaRPr lang="en-US" sz="14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r>
              <a:tr h="502920">
                <a:tc>
                  <a:txBody>
                    <a:bodyPr/>
                    <a:lstStyle/>
                    <a:p>
                      <a:pPr algn="ctr" indent="0" marL="0">
                        <a:buNone/>
                      </a:pPr>
                      <a:r>
                        <a:rPr lang="en-US" sz="1400" b="1" dirty="0">
                          <a:solidFill>
                            <a:srgbClr val="1E293B"/>
                          </a:solidFill>
                          <a:latin typeface="Calibri" pitchFamily="34" charset="0"/>
                          <a:ea typeface="Calibri" pitchFamily="34" charset="-122"/>
                          <a:cs typeface="Calibri" pitchFamily="34" charset="-120"/>
                        </a:rPr>
                        <a:t>Factor A</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dfₐ = a − 1</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1E293B"/>
                          </a:solidFill>
                          <a:latin typeface="Calibri" pitchFamily="34" charset="0"/>
                          <a:ea typeface="Calibri" pitchFamily="34" charset="-122"/>
                          <a:cs typeface="Calibri" pitchFamily="34" charset="-120"/>
                        </a:rPr>
                        <a:t>Factor B</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dfᵇ = b − 1</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502920">
                <a:tc>
                  <a:txBody>
                    <a:bodyPr/>
                    <a:lstStyle/>
                    <a:p>
                      <a:pPr algn="ctr" indent="0" marL="0">
                        <a:buNone/>
                      </a:pPr>
                      <a:r>
                        <a:rPr lang="en-US" sz="1400" b="1" dirty="0">
                          <a:solidFill>
                            <a:srgbClr val="1E293B"/>
                          </a:solidFill>
                          <a:latin typeface="Calibri" pitchFamily="34" charset="0"/>
                          <a:ea typeface="Calibri" pitchFamily="34" charset="-122"/>
                          <a:cs typeface="Calibri" pitchFamily="34" charset="-120"/>
                        </a:rPr>
                        <a:t>Interaction</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dfₐᵇ = (a − 1)(b − 1)</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1E293B"/>
                          </a:solidFill>
                          <a:latin typeface="Calibri" pitchFamily="34" charset="0"/>
                          <a:ea typeface="Calibri" pitchFamily="34" charset="-122"/>
                          <a:cs typeface="Calibri" pitchFamily="34" charset="-120"/>
                        </a:rPr>
                        <a:t>Error</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dfᵉ = ab(n − 1)</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502920">
                <a:tc>
                  <a:txBody>
                    <a:bodyPr/>
                    <a:lstStyle/>
                    <a:p>
                      <a:pPr algn="ctr" indent="0" marL="0">
                        <a:buNone/>
                      </a:pPr>
                      <a:r>
                        <a:rPr lang="en-US" sz="1400" b="1" dirty="0">
                          <a:solidFill>
                            <a:srgbClr val="1E293B"/>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dfₜ = N − 1, where N = abn</a:t>
                      </a:r>
                      <a:endParaRPr lang="en-US" sz="14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bl>
          </a:graphicData>
        </a:graphic>
      </p:graphicFrame>
      <p:sp>
        <p:nvSpPr>
          <p:cNvPr id="9" name="Shape 5"/>
          <p:cNvSpPr/>
          <p:nvPr/>
        </p:nvSpPr>
        <p:spPr>
          <a:xfrm>
            <a:off x="1371600" y="4297680"/>
            <a:ext cx="6400800" cy="54864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0" name="Text 6"/>
          <p:cNvSpPr/>
          <p:nvPr/>
        </p:nvSpPr>
        <p:spPr>
          <a:xfrm>
            <a:off x="1371600" y="4297680"/>
            <a:ext cx="6400800" cy="548640"/>
          </a:xfrm>
          <a:prstGeom prst="rect">
            <a:avLst/>
          </a:prstGeom>
          <a:noFill/>
          <a:ln/>
        </p:spPr>
        <p:txBody>
          <a:bodyPr wrap="square" rtlCol="0" anchor="ctr"/>
          <a:lstStyle/>
          <a:p>
            <a:pPr algn="ctr" indent="0" marL="0">
              <a:buNone/>
            </a:pPr>
            <a:r>
              <a:rPr lang="en-US" sz="1400" b="1" dirty="0">
                <a:solidFill>
                  <a:srgbClr val="065A82"/>
                </a:solidFill>
                <a:latin typeface="Calibri" pitchFamily="34" charset="0"/>
                <a:ea typeface="Calibri" pitchFamily="34" charset="-122"/>
                <a:cs typeface="Calibri" pitchFamily="34" charset="-120"/>
              </a:rPr>
              <a:t>Check: dfₐ + dfᵇ + dfₐᵇ + dfᵉ = dfₜ  (must add 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ANOVA Table Structure</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 / 36</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097280"/>
                <a:gridCol w="1463040"/>
                <a:gridCol w="1645920"/>
                <a:gridCol w="2011680"/>
                <a:gridCol w="2011680"/>
              </a:tblGrid>
              <a:tr h="502920">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Source</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SS</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df</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MS</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F</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r>
              <a:tr h="50292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SSₐ</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SSₐ / dfₐ</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MSₐ / MSᵉ</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SSᵇ</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b−1</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SSᵇ / dfᵇ</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MSᵇ / MSᵉ</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50292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A×B</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SSₐᵇ</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(a−1)(b−1)</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SSₐᵇ / dfₐᵇ</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MSₐᵇ / MSᵉ</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Error</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SSᵉ</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ab(n−1)</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SSᵉ / dfᵉ</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50292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SSₜ</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N−1</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4114800"/>
            <a:ext cx="8229600" cy="91440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9" name="Text 5"/>
          <p:cNvSpPr/>
          <p:nvPr/>
        </p:nvSpPr>
        <p:spPr>
          <a:xfrm>
            <a:off x="640080" y="4160520"/>
            <a:ext cx="7772400" cy="8229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MS = Mean Square = SS / df     </a:t>
            </a:r>
            <a:pPr algn="ctr" indent="0" marL="0">
              <a:buNone/>
            </a:pPr>
            <a:endParaRPr lang="en-US" sz="1400" dirty="0"/>
          </a:p>
          <a:p>
            <a:pPr algn="ctr" indent="0" marL="0">
              <a:buNone/>
            </a:pPr>
            <a:r>
              <a:rPr lang="en-US" sz="1300" dirty="0">
                <a:solidFill>
                  <a:srgbClr val="1E293B"/>
                </a:solidFill>
                <a:latin typeface="Calibri" pitchFamily="34" charset="0"/>
                <a:ea typeface="Calibri" pitchFamily="34" charset="-122"/>
                <a:cs typeface="Calibri" pitchFamily="34" charset="-120"/>
              </a:rPr>
              <a:t>F = Factor MS / Error MS — compares factor variation to noise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2D48"/>
        </a:solidFill>
      </p:bgPr>
    </p:bg>
    <p:spTree>
      <p:nvGrpSpPr>
        <p:cNvPr id="1" name=""/>
        <p:cNvGrpSpPr/>
        <p:nvPr/>
      </p:nvGrpSpPr>
      <p:grpSpPr>
        <a:xfrm>
          <a:off x="0" y="0"/>
          <a:ext cx="0" cy="0"/>
          <a:chOff x="0" y="0"/>
          <a:chExt cx="0" cy="0"/>
        </a:xfrm>
      </p:grpSpPr>
      <p:sp>
        <p:nvSpPr>
          <p:cNvPr id="2" name="Shape 0"/>
          <p:cNvSpPr/>
          <p:nvPr/>
        </p:nvSpPr>
        <p:spPr>
          <a:xfrm>
            <a:off x="4023360" y="1188720"/>
            <a:ext cx="1097280" cy="109728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4242816" y="1408176"/>
            <a:ext cx="658368" cy="658368"/>
          </a:xfrm>
          <a:prstGeom prst="rect">
            <a:avLst/>
          </a:prstGeom>
        </p:spPr>
      </p:pic>
      <p:sp>
        <p:nvSpPr>
          <p:cNvPr id="4" name="Text 1"/>
          <p:cNvSpPr/>
          <p:nvPr/>
        </p:nvSpPr>
        <p:spPr>
          <a:xfrm>
            <a:off x="457200" y="246888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Worked Example</a:t>
            </a:r>
            <a:endParaRPr lang="en-US" sz="3600" dirty="0"/>
          </a:p>
        </p:txBody>
      </p:sp>
      <p:sp>
        <p:nvSpPr>
          <p:cNvPr id="5" name="Text 2"/>
          <p:cNvSpPr/>
          <p:nvPr/>
        </p:nvSpPr>
        <p:spPr>
          <a:xfrm>
            <a:off x="914400" y="3200400"/>
            <a:ext cx="7315200" cy="457200"/>
          </a:xfrm>
          <a:prstGeom prst="rect">
            <a:avLst/>
          </a:prstGeom>
          <a:noFill/>
          <a:ln/>
        </p:spPr>
        <p:txBody>
          <a:bodyPr wrap="square" rtlCol="0" anchor="ctr"/>
          <a:lstStyle/>
          <a:p>
            <a:pPr algn="ctr" indent="0" marL="0">
              <a:buNone/>
            </a:pPr>
            <a:r>
              <a:rPr lang="en-US" sz="1600" dirty="0">
                <a:solidFill>
                  <a:srgbClr val="BAE6FD"/>
                </a:solidFill>
                <a:latin typeface="Calibri" pitchFamily="34" charset="0"/>
                <a:ea typeface="Calibri" pitchFamily="34" charset="-122"/>
                <a:cs typeface="Calibri" pitchFamily="34" charset="-120"/>
              </a:rPr>
              <a:t>Full manual calculation — step by step</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 / 36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Example Data</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 / 36</a:t>
            </a:r>
            <a:endParaRPr lang="en-US" sz="900" dirty="0"/>
          </a:p>
        </p:txBody>
      </p:sp>
      <p:sp>
        <p:nvSpPr>
          <p:cNvPr id="7" name="Text 4"/>
          <p:cNvSpPr/>
          <p:nvPr/>
        </p:nvSpPr>
        <p:spPr>
          <a:xfrm>
            <a:off x="457200" y="914400"/>
            <a:ext cx="822960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Response (Y): </a:t>
            </a:r>
            <a:pPr indent="0" marL="0">
              <a:buNone/>
            </a:pPr>
            <a:r>
              <a:rPr lang="en-US" sz="1300" dirty="0">
                <a:solidFill>
                  <a:srgbClr val="1E293B"/>
                </a:solidFill>
                <a:latin typeface="Calibri" pitchFamily="34" charset="0"/>
                <a:ea typeface="Calibri" pitchFamily="34" charset="-122"/>
                <a:cs typeface="Calibri" pitchFamily="34" charset="-120"/>
              </a:rPr>
              <a:t>Quiz Score     </a:t>
            </a:r>
            <a:pPr indent="0" marL="0">
              <a:buNone/>
            </a:pPr>
            <a:r>
              <a:rPr lang="en-US" sz="1300" b="1" dirty="0">
                <a:solidFill>
                  <a:srgbClr val="1E293B"/>
                </a:solidFill>
                <a:latin typeface="Calibri" pitchFamily="34" charset="0"/>
                <a:ea typeface="Calibri" pitchFamily="34" charset="-122"/>
                <a:cs typeface="Calibri" pitchFamily="34" charset="-120"/>
              </a:rPr>
              <a:t>Factor A (Method): </a:t>
            </a:r>
            <a:pPr indent="0" marL="0">
              <a:buNone/>
            </a:pPr>
            <a:r>
              <a:rPr lang="en-US" sz="1300" dirty="0">
                <a:solidFill>
                  <a:srgbClr val="1E293B"/>
                </a:solidFill>
                <a:latin typeface="Calibri" pitchFamily="34" charset="0"/>
                <a:ea typeface="Calibri" pitchFamily="34" charset="-122"/>
                <a:cs typeface="Calibri" pitchFamily="34" charset="-120"/>
              </a:rPr>
              <a:t>A₁, A₂, A₃     </a:t>
            </a:r>
            <a:pPr indent="0" marL="0">
              <a:buNone/>
            </a:pPr>
            <a:r>
              <a:rPr lang="en-US" sz="1300" b="1" dirty="0">
                <a:solidFill>
                  <a:srgbClr val="1E293B"/>
                </a:solidFill>
                <a:latin typeface="Calibri" pitchFamily="34" charset="0"/>
                <a:ea typeface="Calibri" pitchFamily="34" charset="-122"/>
                <a:cs typeface="Calibri" pitchFamily="34" charset="-120"/>
              </a:rPr>
              <a:t>Factor B (Time): </a:t>
            </a:r>
            <a:pPr indent="0" marL="0">
              <a:buNone/>
            </a:pPr>
            <a:r>
              <a:rPr lang="en-US" sz="1300" dirty="0">
                <a:solidFill>
                  <a:srgbClr val="1E293B"/>
                </a:solidFill>
                <a:latin typeface="Calibri" pitchFamily="34" charset="0"/>
                <a:ea typeface="Calibri" pitchFamily="34" charset="-122"/>
                <a:cs typeface="Calibri" pitchFamily="34" charset="-120"/>
              </a:rPr>
              <a:t>B₁, B₂     </a:t>
            </a:r>
            <a:pPr indent="0" marL="0">
              <a:buNone/>
            </a:pPr>
            <a:r>
              <a:rPr lang="en-US" sz="1300" b="1" dirty="0">
                <a:solidFill>
                  <a:srgbClr val="1E293B"/>
                </a:solidFill>
                <a:latin typeface="Calibri" pitchFamily="34" charset="0"/>
                <a:ea typeface="Calibri" pitchFamily="34" charset="-122"/>
                <a:cs typeface="Calibri" pitchFamily="34" charset="-120"/>
              </a:rPr>
              <a:t>n = 2 per cell</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828800" y="1554480"/>
          <a:ext cx="5486400" cy="914400"/>
        </p:xfrm>
        <a:graphic>
          <a:graphicData uri="http://schemas.openxmlformats.org/drawingml/2006/table">
            <a:tbl>
              <a:tblPr/>
              <a:tblGrid>
                <a:gridCol w="1097280"/>
                <a:gridCol w="2194560"/>
                <a:gridCol w="2194560"/>
              </a:tblGrid>
              <a:tr h="548640">
                <a:tc>
                  <a:txBody>
                    <a:bodyPr/>
                    <a:lstStyle/>
                    <a:p>
                      <a:pPr algn="ctr" indent="0" marL="0">
                        <a:buNone/>
                      </a:pPr>
                      <a:endParaRPr lang="en-US" sz="15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B₁</a:t>
                      </a:r>
                      <a:endParaRPr lang="en-US" sz="15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B₂</a:t>
                      </a:r>
                      <a:endParaRPr lang="en-US" sz="15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r>
              <a:tr h="640080">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A₁</a:t>
                      </a:r>
                      <a:endParaRPr lang="en-US" sz="15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77, 79</a:t>
                      </a:r>
                      <a:endParaRPr lang="en-US" sz="15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84, 86</a:t>
                      </a:r>
                      <a:endParaRPr lang="en-US" sz="15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640080">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A₂</a:t>
                      </a:r>
                      <a:endParaRPr lang="en-US" sz="15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81, 83</a:t>
                      </a:r>
                      <a:endParaRPr lang="en-US" sz="15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82, 84</a:t>
                      </a:r>
                      <a:endParaRPr lang="en-US" sz="15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640080">
                <a:tc>
                  <a:txBody>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A₃</a:t>
                      </a:r>
                      <a:endParaRPr lang="en-US" sz="15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89, 91</a:t>
                      </a:r>
                      <a:endParaRPr lang="en-US" sz="15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293B"/>
                          </a:solidFill>
                          <a:latin typeface="Calibri" pitchFamily="34" charset="0"/>
                          <a:ea typeface="Calibri" pitchFamily="34" charset="-122"/>
                          <a:cs typeface="Calibri" pitchFamily="34" charset="-120"/>
                        </a:rPr>
                        <a:t>87, 89</a:t>
                      </a:r>
                      <a:endParaRPr lang="en-US" sz="15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bl>
          </a:graphicData>
        </a:graphic>
      </p:graphicFrame>
      <p:sp>
        <p:nvSpPr>
          <p:cNvPr id="9" name="Shape 5"/>
          <p:cNvSpPr/>
          <p:nvPr/>
        </p:nvSpPr>
        <p:spPr>
          <a:xfrm>
            <a:off x="457200" y="3840480"/>
            <a:ext cx="3931920" cy="10972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0" name="Text 6"/>
          <p:cNvSpPr/>
          <p:nvPr/>
        </p:nvSpPr>
        <p:spPr>
          <a:xfrm>
            <a:off x="640080" y="3931920"/>
            <a:ext cx="3566160" cy="9144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Design: 3 × 2 balanced</a:t>
            </a:r>
            <a:endParaRPr lang="en-US" sz="1400" dirty="0"/>
          </a:p>
          <a:p>
            <a:pPr indent="0" marL="0">
              <a:buNone/>
            </a:pPr>
            <a:r>
              <a:rPr lang="en-US" sz="1300" dirty="0">
                <a:solidFill>
                  <a:srgbClr val="1E293B"/>
                </a:solidFill>
                <a:latin typeface="Calibri" pitchFamily="34" charset="0"/>
                <a:ea typeface="Calibri" pitchFamily="34" charset="-122"/>
                <a:cs typeface="Calibri" pitchFamily="34" charset="-120"/>
              </a:rPr>
              <a:t>a = 3, b = 2, n = 2</a:t>
            </a:r>
            <a:endParaRPr lang="en-US" sz="1400" dirty="0"/>
          </a:p>
          <a:p>
            <a:pPr indent="0" marL="0">
              <a:buNone/>
            </a:pPr>
            <a:r>
              <a:rPr lang="en-US" sz="1300" dirty="0">
                <a:solidFill>
                  <a:srgbClr val="1E293B"/>
                </a:solidFill>
                <a:latin typeface="Calibri" pitchFamily="34" charset="0"/>
                <a:ea typeface="Calibri" pitchFamily="34" charset="-122"/>
                <a:cs typeface="Calibri" pitchFamily="34" charset="-120"/>
              </a:rPr>
              <a:t>N = abn = 12 total observations</a:t>
            </a:r>
            <a:endParaRPr lang="en-US" sz="1400" dirty="0"/>
          </a:p>
        </p:txBody>
      </p:sp>
      <p:sp>
        <p:nvSpPr>
          <p:cNvPr id="11" name="Shape 7"/>
          <p:cNvSpPr/>
          <p:nvPr/>
        </p:nvSpPr>
        <p:spPr>
          <a:xfrm>
            <a:off x="4754880" y="3840480"/>
            <a:ext cx="3931920" cy="10972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2" name="Text 8"/>
          <p:cNvSpPr/>
          <p:nvPr/>
        </p:nvSpPr>
        <p:spPr>
          <a:xfrm>
            <a:off x="4937760" y="3931920"/>
            <a:ext cx="3566160" cy="9144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We will compute:</a:t>
            </a:r>
            <a:endParaRPr lang="en-US" sz="1400" dirty="0"/>
          </a:p>
          <a:p>
            <a:pPr indent="0" marL="0">
              <a:buNone/>
            </a:pPr>
            <a:r>
              <a:rPr lang="en-US" sz="1300" dirty="0">
                <a:solidFill>
                  <a:srgbClr val="1E293B"/>
                </a:solidFill>
                <a:latin typeface="Calibri" pitchFamily="34" charset="0"/>
                <a:ea typeface="Calibri" pitchFamily="34" charset="-122"/>
                <a:cs typeface="Calibri" pitchFamily="34" charset="-120"/>
              </a:rPr>
              <a:t>Cell means, marginal means, SS, df, MS, F for each source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Step 1: Compute Means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 / 36</a:t>
            </a:r>
            <a:endParaRPr lang="en-US" sz="900" dirty="0"/>
          </a:p>
        </p:txBody>
      </p:sp>
      <p:sp>
        <p:nvSpPr>
          <p:cNvPr id="7" name="Text 4"/>
          <p:cNvSpPr/>
          <p:nvPr/>
        </p:nvSpPr>
        <p:spPr>
          <a:xfrm>
            <a:off x="457200" y="914400"/>
            <a:ext cx="2743200" cy="32004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Cell Means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498080" cy="914400"/>
        </p:xfrm>
        <a:graphic>
          <a:graphicData uri="http://schemas.openxmlformats.org/drawingml/2006/table">
            <a:tbl>
              <a:tblPr/>
              <a:tblGrid>
                <a:gridCol w="1097280"/>
                <a:gridCol w="1828800"/>
                <a:gridCol w="1828800"/>
                <a:gridCol w="2743200"/>
              </a:tblGrid>
              <a:tr h="457200">
                <a:tc>
                  <a:txBody>
                    <a:bodyPr/>
                    <a:lstStyle/>
                    <a:p>
                      <a:pPr algn="ctr" indent="0" marL="0">
                        <a:buNone/>
                      </a:pP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B₁</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B₂</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A Marginal</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r>
              <a:tr h="457200">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A₁</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81.5</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r h="457200">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A₂</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82.5</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r h="457200">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A₃</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93B"/>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89.0</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r h="457200">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B Marginal</a:t>
                      </a:r>
                      <a:endParaRPr lang="en-US" sz="13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83.333</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85.333</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84.333</a:t>
                      </a:r>
                      <a:endParaRPr lang="en-US" sz="13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EA5E9"/>
                    </a:solidFill>
                  </a:tcPr>
                </a:tc>
              </a:tr>
            </a:tbl>
          </a:graphicData>
        </a:graphic>
      </p:graphicFrame>
      <p:sp>
        <p:nvSpPr>
          <p:cNvPr id="9" name="Shape 5"/>
          <p:cNvSpPr/>
          <p:nvPr/>
        </p:nvSpPr>
        <p:spPr>
          <a:xfrm>
            <a:off x="457200" y="3840480"/>
            <a:ext cx="8229600" cy="109728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0" name="Text 6"/>
          <p:cNvSpPr/>
          <p:nvPr/>
        </p:nvSpPr>
        <p:spPr>
          <a:xfrm>
            <a:off x="640080" y="3886200"/>
            <a:ext cx="7772400" cy="1005840"/>
          </a:xfrm>
          <a:prstGeom prst="rect">
            <a:avLst/>
          </a:prstGeom>
          <a:noFill/>
          <a:ln/>
        </p:spPr>
        <p:txBody>
          <a:bodyPr wrap="square" lIns="0" tIns="0" rIns="0" bIns="0" rtlCol="0" anchor="ctr"/>
          <a:lstStyle/>
          <a:p>
            <a:pPr indent="0" marL="0">
              <a:spcAft>
                <a:spcPts val="400"/>
              </a:spcAft>
              <a:buNone/>
            </a:pPr>
            <a:r>
              <a:rPr lang="en-US" sz="1300" b="1" dirty="0">
                <a:solidFill>
                  <a:srgbClr val="1E293B"/>
                </a:solidFill>
                <a:latin typeface="Calibri" pitchFamily="34" charset="0"/>
                <a:ea typeface="Calibri" pitchFamily="34" charset="-122"/>
                <a:cs typeface="Calibri" pitchFamily="34" charset="-120"/>
              </a:rPr>
              <a:t>Example calculation: </a:t>
            </a:r>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Cell mean A₁B₁ = (77+79)/2 = 78</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A₁ marginal = (78+85)/2 = 81.5     B₁ marginal = (78+82+90)/3 = 83.333</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Grand mean = (77+79+84+86+81+83+82+84+89+91+87+89)/12 = 84.333</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Step 2: Compute Sums of Squares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 / 36</a:t>
            </a:r>
            <a:endParaRPr lang="en-US" sz="900" dirty="0"/>
          </a:p>
        </p:txBody>
      </p:sp>
      <p:sp>
        <p:nvSpPr>
          <p:cNvPr id="7" name="Text 4"/>
          <p:cNvSpPr/>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 3, b = 2, n = 2.  Grand mean = 84.333</a:t>
            </a:r>
            <a:endParaRPr lang="en-US" sz="1300" dirty="0"/>
          </a:p>
        </p:txBody>
      </p:sp>
      <p:sp>
        <p:nvSpPr>
          <p:cNvPr id="8" name="Shape 5"/>
          <p:cNvSpPr/>
          <p:nvPr/>
        </p:nvSpPr>
        <p:spPr>
          <a:xfrm>
            <a:off x="457200" y="1371600"/>
            <a:ext cx="822960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57200" y="1371600"/>
            <a:ext cx="64008" cy="777240"/>
          </a:xfrm>
          <a:prstGeom prst="rect">
            <a:avLst/>
          </a:prstGeom>
          <a:solidFill>
            <a:srgbClr val="065A82"/>
          </a:solidFill>
          <a:ln/>
        </p:spPr>
      </p:sp>
      <p:sp>
        <p:nvSpPr>
          <p:cNvPr id="10" name="Text 7"/>
          <p:cNvSpPr/>
          <p:nvPr/>
        </p:nvSpPr>
        <p:spPr>
          <a:xfrm>
            <a:off x="685800" y="1389888"/>
            <a:ext cx="640080" cy="365760"/>
          </a:xfrm>
          <a:prstGeom prst="rect">
            <a:avLst/>
          </a:prstGeom>
          <a:noFill/>
          <a:ln/>
        </p:spPr>
        <p:txBody>
          <a:bodyPr wrap="square" lIns="0" tIns="0" rIns="0" bIns="0" rtlCol="0" anchor="ctr"/>
          <a:lstStyle/>
          <a:p>
            <a:pPr indent="0" marL="0">
              <a:buNone/>
            </a:pPr>
            <a:r>
              <a:rPr lang="en-US" sz="1500" b="1" dirty="0">
                <a:solidFill>
                  <a:srgbClr val="065A82"/>
                </a:solidFill>
                <a:latin typeface="Georgia" pitchFamily="34" charset="0"/>
                <a:ea typeface="Georgia" pitchFamily="34" charset="-122"/>
                <a:cs typeface="Georgia" pitchFamily="34" charset="-120"/>
              </a:rPr>
              <a:t>SSₐ</a:t>
            </a:r>
            <a:endParaRPr lang="en-US" sz="1500" dirty="0"/>
          </a:p>
        </p:txBody>
      </p:sp>
      <p:sp>
        <p:nvSpPr>
          <p:cNvPr id="11" name="Text 8"/>
          <p:cNvSpPr/>
          <p:nvPr/>
        </p:nvSpPr>
        <p:spPr>
          <a:xfrm>
            <a:off x="1371600" y="1389888"/>
            <a:ext cx="502920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bn ∑(ȳᵢ.. − ȳ...)²</a:t>
            </a:r>
            <a:endParaRPr lang="en-US" sz="1200" dirty="0"/>
          </a:p>
        </p:txBody>
      </p:sp>
      <p:sp>
        <p:nvSpPr>
          <p:cNvPr id="12" name="Text 9"/>
          <p:cNvSpPr/>
          <p:nvPr/>
        </p:nvSpPr>
        <p:spPr>
          <a:xfrm>
            <a:off x="1371600" y="1737360"/>
            <a:ext cx="5029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2·2[(81.5−84.333)² + (82.5−84.333)² + (89−84.333)²]</a:t>
            </a:r>
            <a:endParaRPr lang="en-US" sz="1100" dirty="0"/>
          </a:p>
        </p:txBody>
      </p:sp>
      <p:sp>
        <p:nvSpPr>
          <p:cNvPr id="13" name="Text 10"/>
          <p:cNvSpPr/>
          <p:nvPr/>
        </p:nvSpPr>
        <p:spPr>
          <a:xfrm>
            <a:off x="6858000" y="1417320"/>
            <a:ext cx="1645920" cy="685800"/>
          </a:xfrm>
          <a:prstGeom prst="rect">
            <a:avLst/>
          </a:prstGeom>
          <a:noFill/>
          <a:ln/>
        </p:spPr>
        <p:txBody>
          <a:bodyPr wrap="square" lIns="0" tIns="0" rIns="0" bIns="0" rtlCol="0" anchor="ctr"/>
          <a:lstStyle/>
          <a:p>
            <a:pPr algn="ctr" indent="0" marL="0">
              <a:buNone/>
            </a:pPr>
            <a:r>
              <a:rPr lang="en-US" sz="1800" b="1" dirty="0">
                <a:solidFill>
                  <a:srgbClr val="065A82"/>
                </a:solidFill>
                <a:latin typeface="Georgia" pitchFamily="34" charset="0"/>
                <a:ea typeface="Georgia" pitchFamily="34" charset="-122"/>
                <a:cs typeface="Georgia" pitchFamily="34" charset="-120"/>
              </a:rPr>
              <a:t>= 132.667</a:t>
            </a:r>
            <a:endParaRPr lang="en-US" sz="1800" dirty="0"/>
          </a:p>
        </p:txBody>
      </p:sp>
      <p:sp>
        <p:nvSpPr>
          <p:cNvPr id="14" name="Shape 11"/>
          <p:cNvSpPr/>
          <p:nvPr/>
        </p:nvSpPr>
        <p:spPr>
          <a:xfrm>
            <a:off x="457200" y="2240280"/>
            <a:ext cx="822960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457200" y="2240280"/>
            <a:ext cx="64008" cy="777240"/>
          </a:xfrm>
          <a:prstGeom prst="rect">
            <a:avLst/>
          </a:prstGeom>
          <a:solidFill>
            <a:srgbClr val="1C7293"/>
          </a:solidFill>
          <a:ln/>
        </p:spPr>
      </p:sp>
      <p:sp>
        <p:nvSpPr>
          <p:cNvPr id="16" name="Text 13"/>
          <p:cNvSpPr/>
          <p:nvPr/>
        </p:nvSpPr>
        <p:spPr>
          <a:xfrm>
            <a:off x="685800" y="2258568"/>
            <a:ext cx="640080" cy="365760"/>
          </a:xfrm>
          <a:prstGeom prst="rect">
            <a:avLst/>
          </a:prstGeom>
          <a:noFill/>
          <a:ln/>
        </p:spPr>
        <p:txBody>
          <a:bodyPr wrap="square" lIns="0" tIns="0" rIns="0" bIns="0" rtlCol="0" anchor="ctr"/>
          <a:lstStyle/>
          <a:p>
            <a:pPr indent="0" marL="0">
              <a:buNone/>
            </a:pPr>
            <a:r>
              <a:rPr lang="en-US" sz="1500" b="1" dirty="0">
                <a:solidFill>
                  <a:srgbClr val="1C7293"/>
                </a:solidFill>
                <a:latin typeface="Georgia" pitchFamily="34" charset="0"/>
                <a:ea typeface="Georgia" pitchFamily="34" charset="-122"/>
                <a:cs typeface="Georgia" pitchFamily="34" charset="-120"/>
              </a:rPr>
              <a:t>SSᵇ</a:t>
            </a:r>
            <a:endParaRPr lang="en-US" sz="1500" dirty="0"/>
          </a:p>
        </p:txBody>
      </p:sp>
      <p:sp>
        <p:nvSpPr>
          <p:cNvPr id="17" name="Text 14"/>
          <p:cNvSpPr/>
          <p:nvPr/>
        </p:nvSpPr>
        <p:spPr>
          <a:xfrm>
            <a:off x="1371600" y="2258568"/>
            <a:ext cx="502920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an ∑(ȳ.ⱼ. − ȳ...)²</a:t>
            </a:r>
            <a:endParaRPr lang="en-US" sz="1200" dirty="0"/>
          </a:p>
        </p:txBody>
      </p:sp>
      <p:sp>
        <p:nvSpPr>
          <p:cNvPr id="18" name="Text 15"/>
          <p:cNvSpPr/>
          <p:nvPr/>
        </p:nvSpPr>
        <p:spPr>
          <a:xfrm>
            <a:off x="1371600" y="2606040"/>
            <a:ext cx="5029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3·2[(83.333−84.333)² + (85.333−84.333)²]</a:t>
            </a:r>
            <a:endParaRPr lang="en-US" sz="1100" dirty="0"/>
          </a:p>
        </p:txBody>
      </p:sp>
      <p:sp>
        <p:nvSpPr>
          <p:cNvPr id="19" name="Text 16"/>
          <p:cNvSpPr/>
          <p:nvPr/>
        </p:nvSpPr>
        <p:spPr>
          <a:xfrm>
            <a:off x="6858000" y="2286000"/>
            <a:ext cx="1645920" cy="685800"/>
          </a:xfrm>
          <a:prstGeom prst="rect">
            <a:avLst/>
          </a:prstGeom>
          <a:noFill/>
          <a:ln/>
        </p:spPr>
        <p:txBody>
          <a:bodyPr wrap="square" lIns="0" tIns="0" rIns="0" bIns="0" rtlCol="0" anchor="ctr"/>
          <a:lstStyle/>
          <a:p>
            <a:pPr algn="ctr" indent="0" marL="0">
              <a:buNone/>
            </a:pPr>
            <a:r>
              <a:rPr lang="en-US" sz="1800" b="1" dirty="0">
                <a:solidFill>
                  <a:srgbClr val="1C7293"/>
                </a:solidFill>
                <a:latin typeface="Georgia" pitchFamily="34" charset="0"/>
                <a:ea typeface="Georgia" pitchFamily="34" charset="-122"/>
                <a:cs typeface="Georgia" pitchFamily="34" charset="-120"/>
              </a:rPr>
              <a:t>= 12.000</a:t>
            </a:r>
            <a:endParaRPr lang="en-US" sz="1800" dirty="0"/>
          </a:p>
        </p:txBody>
      </p:sp>
      <p:sp>
        <p:nvSpPr>
          <p:cNvPr id="20" name="Shape 17"/>
          <p:cNvSpPr/>
          <p:nvPr/>
        </p:nvSpPr>
        <p:spPr>
          <a:xfrm>
            <a:off x="457200" y="3108960"/>
            <a:ext cx="822960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8"/>
          <p:cNvSpPr/>
          <p:nvPr/>
        </p:nvSpPr>
        <p:spPr>
          <a:xfrm>
            <a:off x="457200" y="3108960"/>
            <a:ext cx="64008" cy="777240"/>
          </a:xfrm>
          <a:prstGeom prst="rect">
            <a:avLst/>
          </a:prstGeom>
          <a:solidFill>
            <a:srgbClr val="0EA5E9"/>
          </a:solidFill>
          <a:ln/>
        </p:spPr>
      </p:sp>
      <p:sp>
        <p:nvSpPr>
          <p:cNvPr id="22" name="Text 19"/>
          <p:cNvSpPr/>
          <p:nvPr/>
        </p:nvSpPr>
        <p:spPr>
          <a:xfrm>
            <a:off x="685800" y="3127248"/>
            <a:ext cx="640080" cy="365760"/>
          </a:xfrm>
          <a:prstGeom prst="rect">
            <a:avLst/>
          </a:prstGeom>
          <a:noFill/>
          <a:ln/>
        </p:spPr>
        <p:txBody>
          <a:bodyPr wrap="square" lIns="0" tIns="0" rIns="0" bIns="0" rtlCol="0" anchor="ctr"/>
          <a:lstStyle/>
          <a:p>
            <a:pPr indent="0" marL="0">
              <a:buNone/>
            </a:pPr>
            <a:r>
              <a:rPr lang="en-US" sz="1500" b="1" dirty="0">
                <a:solidFill>
                  <a:srgbClr val="0EA5E9"/>
                </a:solidFill>
                <a:latin typeface="Georgia" pitchFamily="34" charset="0"/>
                <a:ea typeface="Georgia" pitchFamily="34" charset="-122"/>
                <a:cs typeface="Georgia" pitchFamily="34" charset="-120"/>
              </a:rPr>
              <a:t>SSₐᵇ</a:t>
            </a:r>
            <a:endParaRPr lang="en-US" sz="1500" dirty="0"/>
          </a:p>
        </p:txBody>
      </p:sp>
      <p:sp>
        <p:nvSpPr>
          <p:cNvPr id="23" name="Text 20"/>
          <p:cNvSpPr/>
          <p:nvPr/>
        </p:nvSpPr>
        <p:spPr>
          <a:xfrm>
            <a:off x="1371600" y="3127248"/>
            <a:ext cx="502920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n ∑∑(ȳᵢⱼ − ȳᵢ.. − ȳ.ⱼ. + ȳ...)²</a:t>
            </a:r>
            <a:endParaRPr lang="en-US" sz="1200" dirty="0"/>
          </a:p>
        </p:txBody>
      </p:sp>
      <p:sp>
        <p:nvSpPr>
          <p:cNvPr id="24" name="Text 21"/>
          <p:cNvSpPr/>
          <p:nvPr/>
        </p:nvSpPr>
        <p:spPr>
          <a:xfrm>
            <a:off x="1371600" y="3474720"/>
            <a:ext cx="5029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2[(78−81.5−83.333+84.333)² + …]</a:t>
            </a:r>
            <a:endParaRPr lang="en-US" sz="1100" dirty="0"/>
          </a:p>
        </p:txBody>
      </p:sp>
      <p:sp>
        <p:nvSpPr>
          <p:cNvPr id="25" name="Text 22"/>
          <p:cNvSpPr/>
          <p:nvPr/>
        </p:nvSpPr>
        <p:spPr>
          <a:xfrm>
            <a:off x="6858000" y="3154680"/>
            <a:ext cx="1645920" cy="685800"/>
          </a:xfrm>
          <a:prstGeom prst="rect">
            <a:avLst/>
          </a:prstGeom>
          <a:noFill/>
          <a:ln/>
        </p:spPr>
        <p:txBody>
          <a:bodyPr wrap="square" lIns="0" tIns="0" rIns="0" bIns="0" rtlCol="0" anchor="ctr"/>
          <a:lstStyle/>
          <a:p>
            <a:pPr algn="ctr" indent="0" marL="0">
              <a:buNone/>
            </a:pPr>
            <a:r>
              <a:rPr lang="en-US" sz="1800" b="1" dirty="0">
                <a:solidFill>
                  <a:srgbClr val="0EA5E9"/>
                </a:solidFill>
                <a:latin typeface="Georgia" pitchFamily="34" charset="0"/>
                <a:ea typeface="Georgia" pitchFamily="34" charset="-122"/>
                <a:cs typeface="Georgia" pitchFamily="34" charset="-120"/>
              </a:rPr>
              <a:t>= 42.000</a:t>
            </a:r>
            <a:endParaRPr lang="en-US" sz="1800" dirty="0"/>
          </a:p>
        </p:txBody>
      </p:sp>
      <p:sp>
        <p:nvSpPr>
          <p:cNvPr id="26" name="Shape 23"/>
          <p:cNvSpPr/>
          <p:nvPr/>
        </p:nvSpPr>
        <p:spPr>
          <a:xfrm>
            <a:off x="457200" y="3977640"/>
            <a:ext cx="822960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4"/>
          <p:cNvSpPr/>
          <p:nvPr/>
        </p:nvSpPr>
        <p:spPr>
          <a:xfrm>
            <a:off x="457200" y="3977640"/>
            <a:ext cx="64008" cy="777240"/>
          </a:xfrm>
          <a:prstGeom prst="rect">
            <a:avLst/>
          </a:prstGeom>
          <a:solidFill>
            <a:srgbClr val="64748B"/>
          </a:solidFill>
          <a:ln/>
        </p:spPr>
      </p:sp>
      <p:sp>
        <p:nvSpPr>
          <p:cNvPr id="28" name="Text 25"/>
          <p:cNvSpPr/>
          <p:nvPr/>
        </p:nvSpPr>
        <p:spPr>
          <a:xfrm>
            <a:off x="685800" y="3995928"/>
            <a:ext cx="640080" cy="365760"/>
          </a:xfrm>
          <a:prstGeom prst="rect">
            <a:avLst/>
          </a:prstGeom>
          <a:noFill/>
          <a:ln/>
        </p:spPr>
        <p:txBody>
          <a:bodyPr wrap="square" lIns="0" tIns="0" rIns="0" bIns="0" rtlCol="0" anchor="ctr"/>
          <a:lstStyle/>
          <a:p>
            <a:pPr indent="0" marL="0">
              <a:buNone/>
            </a:pPr>
            <a:r>
              <a:rPr lang="en-US" sz="1500" b="1" dirty="0">
                <a:solidFill>
                  <a:srgbClr val="64748B"/>
                </a:solidFill>
                <a:latin typeface="Georgia" pitchFamily="34" charset="0"/>
                <a:ea typeface="Georgia" pitchFamily="34" charset="-122"/>
                <a:cs typeface="Georgia" pitchFamily="34" charset="-120"/>
              </a:rPr>
              <a:t>SSᵉ</a:t>
            </a:r>
            <a:endParaRPr lang="en-US" sz="1500" dirty="0"/>
          </a:p>
        </p:txBody>
      </p:sp>
      <p:sp>
        <p:nvSpPr>
          <p:cNvPr id="29" name="Text 26"/>
          <p:cNvSpPr/>
          <p:nvPr/>
        </p:nvSpPr>
        <p:spPr>
          <a:xfrm>
            <a:off x="1371600" y="3995928"/>
            <a:ext cx="502920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 ∑∑∑(yᵢⱼₖ − ȳᵢⱼ)²</a:t>
            </a:r>
            <a:endParaRPr lang="en-US" sz="1200" dirty="0"/>
          </a:p>
        </p:txBody>
      </p:sp>
      <p:sp>
        <p:nvSpPr>
          <p:cNvPr id="30" name="Text 27"/>
          <p:cNvSpPr/>
          <p:nvPr/>
        </p:nvSpPr>
        <p:spPr>
          <a:xfrm>
            <a:off x="1371600" y="4343400"/>
            <a:ext cx="5029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(77−78)² + (79−78)² + … (each cell: 1+1=2)</a:t>
            </a:r>
            <a:endParaRPr lang="en-US" sz="1100" dirty="0"/>
          </a:p>
        </p:txBody>
      </p:sp>
      <p:sp>
        <p:nvSpPr>
          <p:cNvPr id="31" name="Text 28"/>
          <p:cNvSpPr/>
          <p:nvPr/>
        </p:nvSpPr>
        <p:spPr>
          <a:xfrm>
            <a:off x="6858000" y="4023360"/>
            <a:ext cx="1645920" cy="685800"/>
          </a:xfrm>
          <a:prstGeom prst="rect">
            <a:avLst/>
          </a:prstGeom>
          <a:noFill/>
          <a:ln/>
        </p:spPr>
        <p:txBody>
          <a:bodyPr wrap="square" lIns="0" tIns="0" rIns="0" bIns="0" rtlCol="0" anchor="ctr"/>
          <a:lstStyle/>
          <a:p>
            <a:pPr algn="ctr" indent="0" marL="0">
              <a:buNone/>
            </a:pPr>
            <a:r>
              <a:rPr lang="en-US" sz="1800" b="1" dirty="0">
                <a:solidFill>
                  <a:srgbClr val="64748B"/>
                </a:solidFill>
                <a:latin typeface="Georgia" pitchFamily="34" charset="0"/>
                <a:ea typeface="Georgia" pitchFamily="34" charset="-122"/>
                <a:cs typeface="Georgia" pitchFamily="34" charset="-120"/>
              </a:rPr>
              <a:t>= 12.000</a:t>
            </a:r>
            <a:endParaRPr lang="en-US" sz="1800" dirty="0"/>
          </a:p>
        </p:txBody>
      </p:sp>
      <p:sp>
        <p:nvSpPr>
          <p:cNvPr id="32" name="Shape 29"/>
          <p:cNvSpPr/>
          <p:nvPr/>
        </p:nvSpPr>
        <p:spPr>
          <a:xfrm>
            <a:off x="1828800" y="4663440"/>
            <a:ext cx="5486400" cy="36576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33" name="Text 30"/>
          <p:cNvSpPr/>
          <p:nvPr/>
        </p:nvSpPr>
        <p:spPr>
          <a:xfrm>
            <a:off x="1828800" y="4663440"/>
            <a:ext cx="5486400" cy="365760"/>
          </a:xfrm>
          <a:prstGeom prst="rect">
            <a:avLst/>
          </a:prstGeom>
          <a:noFill/>
          <a:ln/>
        </p:spPr>
        <p:txBody>
          <a:bodyPr wrap="square" rtlCol="0" anchor="ctr"/>
          <a:lstStyle/>
          <a:p>
            <a:pPr algn="ctr" indent="0" marL="0">
              <a:buNone/>
            </a:pPr>
            <a:r>
              <a:rPr lang="en-US" sz="1300" b="1" dirty="0">
                <a:solidFill>
                  <a:srgbClr val="065A82"/>
                </a:solidFill>
                <a:latin typeface="Calibri" pitchFamily="34" charset="0"/>
                <a:ea typeface="Calibri" pitchFamily="34" charset="-122"/>
                <a:cs typeface="Calibri" pitchFamily="34" charset="-120"/>
              </a:rPr>
              <a:t>Check: SSₜ = 132.667 + 12 + 42 + 12 = 198.667  ✓</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Step 3: df, MS, F</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 / 36</a:t>
            </a:r>
            <a:endParaRPr lang="en-US" sz="900" dirty="0"/>
          </a:p>
        </p:txBody>
      </p:sp>
      <p:sp>
        <p:nvSpPr>
          <p:cNvPr id="7" name="Shape 4"/>
          <p:cNvSpPr/>
          <p:nvPr/>
        </p:nvSpPr>
        <p:spPr>
          <a:xfrm>
            <a:off x="274320" y="1005840"/>
            <a:ext cx="274320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274320" y="1005840"/>
            <a:ext cx="2743200" cy="411480"/>
          </a:xfrm>
          <a:prstGeom prst="rect">
            <a:avLst/>
          </a:prstGeom>
          <a:solidFill>
            <a:srgbClr val="065A82"/>
          </a:solidFill>
          <a:ln/>
        </p:spPr>
      </p:sp>
      <p:sp>
        <p:nvSpPr>
          <p:cNvPr id="9" name="Text 6"/>
          <p:cNvSpPr/>
          <p:nvPr/>
        </p:nvSpPr>
        <p:spPr>
          <a:xfrm>
            <a:off x="274320" y="1005840"/>
            <a:ext cx="274320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Degrees of Freedom</a:t>
            </a:r>
            <a:endParaRPr lang="en-US" sz="1400" dirty="0"/>
          </a:p>
        </p:txBody>
      </p:sp>
      <p:sp>
        <p:nvSpPr>
          <p:cNvPr id="10" name="Text 7"/>
          <p:cNvSpPr/>
          <p:nvPr/>
        </p:nvSpPr>
        <p:spPr>
          <a:xfrm>
            <a:off x="457200" y="1508760"/>
            <a:ext cx="237744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dfₐ = 3−1 = 2</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dfᵇ = 2−1 = 1</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dfₐᵇ = (2)(1) = 2</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dfᵉ = 3·2(2−1) = 6</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dfₜ = 12−1 = 11</a:t>
            </a:r>
            <a:endParaRPr lang="en-US" sz="1300" dirty="0"/>
          </a:p>
        </p:txBody>
      </p:sp>
      <p:sp>
        <p:nvSpPr>
          <p:cNvPr id="11" name="Shape 8"/>
          <p:cNvSpPr/>
          <p:nvPr/>
        </p:nvSpPr>
        <p:spPr>
          <a:xfrm>
            <a:off x="3200400" y="1005840"/>
            <a:ext cx="274320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3200400" y="1005840"/>
            <a:ext cx="2743200" cy="411480"/>
          </a:xfrm>
          <a:prstGeom prst="rect">
            <a:avLst/>
          </a:prstGeom>
          <a:solidFill>
            <a:srgbClr val="1C7293"/>
          </a:solidFill>
          <a:ln/>
        </p:spPr>
      </p:sp>
      <p:sp>
        <p:nvSpPr>
          <p:cNvPr id="13" name="Text 10"/>
          <p:cNvSpPr/>
          <p:nvPr/>
        </p:nvSpPr>
        <p:spPr>
          <a:xfrm>
            <a:off x="3200400" y="1005840"/>
            <a:ext cx="274320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Mean Squares</a:t>
            </a:r>
            <a:endParaRPr lang="en-US" sz="1400" dirty="0"/>
          </a:p>
        </p:txBody>
      </p:sp>
      <p:sp>
        <p:nvSpPr>
          <p:cNvPr id="14" name="Text 11"/>
          <p:cNvSpPr/>
          <p:nvPr/>
        </p:nvSpPr>
        <p:spPr>
          <a:xfrm>
            <a:off x="3383280" y="1508760"/>
            <a:ext cx="237744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MSₐ = 132.667/2</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        = 66.333</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MSᵇ = 12/1 = 12</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MSₐᵇ = 42/2 = 21</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MSᵉ = 12/6 = 2</a:t>
            </a:r>
            <a:endParaRPr lang="en-US" sz="1300" dirty="0"/>
          </a:p>
        </p:txBody>
      </p:sp>
      <p:sp>
        <p:nvSpPr>
          <p:cNvPr id="15" name="Shape 12"/>
          <p:cNvSpPr/>
          <p:nvPr/>
        </p:nvSpPr>
        <p:spPr>
          <a:xfrm>
            <a:off x="6126480" y="1005840"/>
            <a:ext cx="274320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6126480" y="1005840"/>
            <a:ext cx="2743200" cy="411480"/>
          </a:xfrm>
          <a:prstGeom prst="rect">
            <a:avLst/>
          </a:prstGeom>
          <a:solidFill>
            <a:srgbClr val="0EA5E9"/>
          </a:solidFill>
          <a:ln/>
        </p:spPr>
      </p:sp>
      <p:sp>
        <p:nvSpPr>
          <p:cNvPr id="17" name="Text 14"/>
          <p:cNvSpPr/>
          <p:nvPr/>
        </p:nvSpPr>
        <p:spPr>
          <a:xfrm>
            <a:off x="6126480" y="1005840"/>
            <a:ext cx="274320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 Statistics</a:t>
            </a:r>
            <a:endParaRPr lang="en-US" sz="1400" dirty="0"/>
          </a:p>
        </p:txBody>
      </p:sp>
      <p:sp>
        <p:nvSpPr>
          <p:cNvPr id="18" name="Text 15"/>
          <p:cNvSpPr/>
          <p:nvPr/>
        </p:nvSpPr>
        <p:spPr>
          <a:xfrm>
            <a:off x="6309360" y="1508760"/>
            <a:ext cx="237744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Fₐ = 66.333/2</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      = 33.167</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Fᵇ = 12/2 = 6.0</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Fₐᵇ = 21/2 = 10.5</a:t>
            </a:r>
            <a:endParaRPr lang="en-US" sz="1300" dirty="0"/>
          </a:p>
        </p:txBody>
      </p:sp>
      <p:sp>
        <p:nvSpPr>
          <p:cNvPr id="19" name="Text 16"/>
          <p:cNvSpPr/>
          <p:nvPr/>
        </p:nvSpPr>
        <p:spPr>
          <a:xfrm>
            <a:off x="457200" y="3108960"/>
            <a:ext cx="8229600" cy="32004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Completed ANOVA Table</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3429000"/>
          <a:ext cx="7680960" cy="914400"/>
        </p:xfrm>
        <a:graphic>
          <a:graphicData uri="http://schemas.openxmlformats.org/drawingml/2006/table">
            <a:tbl>
              <a:tblPr/>
              <a:tblGrid>
                <a:gridCol w="1097280"/>
                <a:gridCol w="1645920"/>
                <a:gridCol w="914400"/>
                <a:gridCol w="1554480"/>
                <a:gridCol w="1554480"/>
              </a:tblGrid>
              <a:tr h="274320">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Source</a:t>
                      </a:r>
                      <a:endParaRPr lang="en-US" sz="11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C2D48"/>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SS</a:t>
                      </a:r>
                      <a:endParaRPr lang="en-US" sz="11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C2D48"/>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df</a:t>
                      </a:r>
                      <a:endParaRPr lang="en-US" sz="11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C2D48"/>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MS</a:t>
                      </a:r>
                      <a:endParaRPr lang="en-US" sz="11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C2D48"/>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F</a:t>
                      </a:r>
                      <a:endParaRPr lang="en-US" sz="11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C2D48"/>
                    </a:solidFill>
                  </a:tcPr>
                </a:tc>
              </a:tr>
              <a:tr h="256032">
                <a:tc>
                  <a:txBody>
                    <a:bodyPr/>
                    <a:lstStyle/>
                    <a:p>
                      <a:pPr algn="ctr" indent="0" marL="0">
                        <a:buNone/>
                      </a:pPr>
                      <a:r>
                        <a:rPr lang="en-US" sz="1100" b="1" dirty="0">
                          <a:solidFill>
                            <a:srgbClr val="1E293B"/>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132.667</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66.333</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33.167</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256032">
                <a:tc>
                  <a:txBody>
                    <a:bodyPr/>
                    <a:lstStyle/>
                    <a:p>
                      <a:pPr algn="ctr" indent="0" marL="0">
                        <a:buNone/>
                      </a:pPr>
                      <a:r>
                        <a:rPr lang="en-US" sz="1100" b="1" dirty="0">
                          <a:solidFill>
                            <a:srgbClr val="1E293B"/>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12.000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12.000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6.000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256032">
                <a:tc>
                  <a:txBody>
                    <a:bodyPr/>
                    <a:lstStyle/>
                    <a:p>
                      <a:pPr algn="ctr" indent="0" marL="0">
                        <a:buNone/>
                      </a:pPr>
                      <a:r>
                        <a:rPr lang="en-US" sz="1100" b="1" dirty="0">
                          <a:solidFill>
                            <a:srgbClr val="1E293B"/>
                          </a:solidFill>
                          <a:latin typeface="Calibri" pitchFamily="34" charset="0"/>
                          <a:ea typeface="Calibri" pitchFamily="34" charset="-122"/>
                          <a:cs typeface="Calibri" pitchFamily="34" charset="-120"/>
                        </a:rPr>
                        <a:t>A×B</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42.000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21.000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10.500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r h="256032">
                <a:tc>
                  <a:txBody>
                    <a:bodyPr/>
                    <a:lstStyle/>
                    <a:p>
                      <a:pPr algn="ctr" indent="0" marL="0">
                        <a:buNone/>
                      </a:pPr>
                      <a:r>
                        <a:rPr lang="en-US" sz="1100" b="1" dirty="0">
                          <a:solidFill>
                            <a:srgbClr val="1E293B"/>
                          </a:solidFill>
                          <a:latin typeface="Calibri" pitchFamily="34" charset="0"/>
                          <a:ea typeface="Calibri" pitchFamily="34" charset="-122"/>
                          <a:cs typeface="Calibri" pitchFamily="34" charset="-120"/>
                        </a:rPr>
                        <a:t>Error</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12.000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256032">
                <a:tc>
                  <a:txBody>
                    <a:bodyPr/>
                    <a:lstStyle/>
                    <a:p>
                      <a:pPr algn="ctr" indent="0" marL="0">
                        <a:buNone/>
                      </a:pPr>
                      <a:r>
                        <a:rPr lang="en-US" sz="1100" b="1" dirty="0">
                          <a:solidFill>
                            <a:srgbClr val="1E293B"/>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198.667</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Step 4: Decision &amp; Interpretation</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 / 36</a:t>
            </a:r>
            <a:endParaRPr lang="en-US" sz="900" dirty="0"/>
          </a:p>
        </p:txBody>
      </p:sp>
      <p:sp>
        <p:nvSpPr>
          <p:cNvPr id="7" name="Text 4"/>
          <p:cNvSpPr/>
          <p:nvPr/>
        </p:nvSpPr>
        <p:spPr>
          <a:xfrm>
            <a:off x="457200" y="914400"/>
            <a:ext cx="822960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Compare each F to its critical value or p-value. Start with the interaction.</a:t>
            </a:r>
            <a:endParaRPr lang="en-US" sz="1400" dirty="0"/>
          </a:p>
        </p:txBody>
      </p:sp>
      <p:sp>
        <p:nvSpPr>
          <p:cNvPr id="8" name="Shape 5"/>
          <p:cNvSpPr/>
          <p:nvPr/>
        </p:nvSpPr>
        <p:spPr>
          <a:xfrm>
            <a:off x="457200" y="1371600"/>
            <a:ext cx="8229600" cy="1005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57200" y="1371600"/>
            <a:ext cx="64008" cy="1005840"/>
          </a:xfrm>
          <a:prstGeom prst="rect">
            <a:avLst/>
          </a:prstGeom>
          <a:solidFill>
            <a:srgbClr val="0EA5E9"/>
          </a:solidFill>
          <a:ln/>
        </p:spPr>
      </p:sp>
      <p:sp>
        <p:nvSpPr>
          <p:cNvPr id="10" name="Text 7"/>
          <p:cNvSpPr/>
          <p:nvPr/>
        </p:nvSpPr>
        <p:spPr>
          <a:xfrm>
            <a:off x="731520" y="1417320"/>
            <a:ext cx="7772400" cy="914400"/>
          </a:xfrm>
          <a:prstGeom prst="rect">
            <a:avLst/>
          </a:prstGeom>
          <a:noFill/>
          <a:ln/>
        </p:spPr>
        <p:txBody>
          <a:bodyPr wrap="square" lIns="0" tIns="0" rIns="0" bIns="0" rtlCol="0" anchor="ctr"/>
          <a:lstStyle/>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Interaction (A×B): </a:t>
            </a:r>
            <a:pPr indent="0" marL="0">
              <a:spcAft>
                <a:spcPts val="400"/>
              </a:spcAft>
              <a:buNone/>
            </a:pPr>
            <a:r>
              <a:rPr lang="en-US" sz="1400" dirty="0">
                <a:solidFill>
                  <a:srgbClr val="1E293B"/>
                </a:solidFill>
                <a:latin typeface="Calibri" pitchFamily="34" charset="0"/>
                <a:ea typeface="Calibri" pitchFamily="34" charset="-122"/>
                <a:cs typeface="Calibri" pitchFamily="34" charset="-120"/>
              </a:rPr>
              <a:t>F = 10.5, df = (2, 6)</a:t>
            </a:r>
            <a:endParaRPr lang="en-US" sz="14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Fₐ.₀₅(2,6) = 5.143. Since 10.5 &gt; 5.143, reject H₀.</a:t>
            </a:r>
            <a:endParaRPr lang="en-US" sz="1400" dirty="0"/>
          </a:p>
          <a:p>
            <a:pPr indent="0" marL="0">
              <a:spcAft>
                <a:spcPts val="400"/>
              </a:spcAft>
              <a:buNone/>
            </a:pPr>
            <a:r>
              <a:rPr lang="en-US" sz="1300" b="1" dirty="0">
                <a:solidFill>
                  <a:srgbClr val="065A82"/>
                </a:solidFill>
                <a:latin typeface="Calibri" pitchFamily="34" charset="0"/>
                <a:ea typeface="Calibri" pitchFamily="34" charset="-122"/>
                <a:cs typeface="Calibri" pitchFamily="34" charset="-120"/>
              </a:rPr>
              <a:t>→ "The effect of Method depends on Time."</a:t>
            </a:r>
            <a:endParaRPr lang="en-US" sz="1400" dirty="0"/>
          </a:p>
        </p:txBody>
      </p:sp>
      <p:sp>
        <p:nvSpPr>
          <p:cNvPr id="11" name="Shape 8"/>
          <p:cNvSpPr/>
          <p:nvPr/>
        </p:nvSpPr>
        <p:spPr>
          <a:xfrm>
            <a:off x="457200" y="2606040"/>
            <a:ext cx="393192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57200" y="2606040"/>
            <a:ext cx="64008" cy="914400"/>
          </a:xfrm>
          <a:prstGeom prst="rect">
            <a:avLst/>
          </a:prstGeom>
          <a:solidFill>
            <a:srgbClr val="065A82"/>
          </a:solidFill>
          <a:ln/>
        </p:spPr>
      </p:sp>
      <p:sp>
        <p:nvSpPr>
          <p:cNvPr id="13" name="Text 10"/>
          <p:cNvSpPr/>
          <p:nvPr/>
        </p:nvSpPr>
        <p:spPr>
          <a:xfrm>
            <a:off x="731520" y="2651760"/>
            <a:ext cx="3474720" cy="822960"/>
          </a:xfrm>
          <a:prstGeom prst="rect">
            <a:avLst/>
          </a:prstGeom>
          <a:noFill/>
          <a:ln/>
        </p:spPr>
        <p:txBody>
          <a:bodyPr wrap="square" lIns="0" tIns="0" rIns="0" bIns="0" rtlCol="0" anchor="ctr"/>
          <a:lstStyle/>
          <a:p>
            <a:pPr indent="0" marL="0">
              <a:spcAft>
                <a:spcPts val="300"/>
              </a:spcAft>
              <a:buNone/>
            </a:pPr>
            <a:r>
              <a:rPr lang="en-US" sz="1400" b="1" dirty="0">
                <a:solidFill>
                  <a:srgbClr val="1E293B"/>
                </a:solidFill>
                <a:latin typeface="Calibri" pitchFamily="34" charset="0"/>
                <a:ea typeface="Calibri" pitchFamily="34" charset="-122"/>
                <a:cs typeface="Calibri" pitchFamily="34" charset="-120"/>
              </a:rPr>
              <a:t>Factor A: </a:t>
            </a:r>
            <a:pPr indent="0" marL="0">
              <a:spcAft>
                <a:spcPts val="300"/>
              </a:spcAft>
              <a:buNone/>
            </a:pPr>
            <a:r>
              <a:rPr lang="en-US" sz="1400" dirty="0">
                <a:solidFill>
                  <a:srgbClr val="1E293B"/>
                </a:solidFill>
                <a:latin typeface="Calibri" pitchFamily="34" charset="0"/>
                <a:ea typeface="Calibri" pitchFamily="34" charset="-122"/>
                <a:cs typeface="Calibri" pitchFamily="34" charset="-120"/>
              </a:rPr>
              <a:t>F = 33.167</a:t>
            </a:r>
            <a:endParaRPr lang="en-US" sz="1400" dirty="0"/>
          </a:p>
          <a:p>
            <a:pPr indent="0" marL="0">
              <a:spcAft>
                <a:spcPts val="300"/>
              </a:spcAft>
              <a:buNone/>
            </a:pPr>
            <a:r>
              <a:rPr lang="en-US" sz="1300" dirty="0">
                <a:solidFill>
                  <a:srgbClr val="1E293B"/>
                </a:solidFill>
                <a:latin typeface="Calibri" pitchFamily="34" charset="0"/>
                <a:ea typeface="Calibri" pitchFamily="34" charset="-122"/>
                <a:cs typeface="Calibri" pitchFamily="34" charset="-120"/>
              </a:rPr>
              <a:t>33.167 &gt; 5.143 → Reject H₀</a:t>
            </a:r>
            <a:endParaRPr lang="en-US" sz="1400" dirty="0"/>
          </a:p>
        </p:txBody>
      </p:sp>
      <p:sp>
        <p:nvSpPr>
          <p:cNvPr id="14" name="Shape 11"/>
          <p:cNvSpPr/>
          <p:nvPr/>
        </p:nvSpPr>
        <p:spPr>
          <a:xfrm>
            <a:off x="4754880" y="2606040"/>
            <a:ext cx="393192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2"/>
          <p:cNvSpPr/>
          <p:nvPr/>
        </p:nvSpPr>
        <p:spPr>
          <a:xfrm>
            <a:off x="4754880" y="2606040"/>
            <a:ext cx="64008" cy="914400"/>
          </a:xfrm>
          <a:prstGeom prst="rect">
            <a:avLst/>
          </a:prstGeom>
          <a:solidFill>
            <a:srgbClr val="1C7293"/>
          </a:solidFill>
          <a:ln/>
        </p:spPr>
      </p:sp>
      <p:sp>
        <p:nvSpPr>
          <p:cNvPr id="16" name="Text 13"/>
          <p:cNvSpPr/>
          <p:nvPr/>
        </p:nvSpPr>
        <p:spPr>
          <a:xfrm>
            <a:off x="4937760" y="2651760"/>
            <a:ext cx="3474720" cy="822960"/>
          </a:xfrm>
          <a:prstGeom prst="rect">
            <a:avLst/>
          </a:prstGeom>
          <a:noFill/>
          <a:ln/>
        </p:spPr>
        <p:txBody>
          <a:bodyPr wrap="square" lIns="0" tIns="0" rIns="0" bIns="0" rtlCol="0" anchor="ctr"/>
          <a:lstStyle/>
          <a:p>
            <a:pPr indent="0" marL="0">
              <a:spcAft>
                <a:spcPts val="300"/>
              </a:spcAft>
              <a:buNone/>
            </a:pPr>
            <a:r>
              <a:rPr lang="en-US" sz="1400" b="1" dirty="0">
                <a:solidFill>
                  <a:srgbClr val="1E293B"/>
                </a:solidFill>
                <a:latin typeface="Calibri" pitchFamily="34" charset="0"/>
                <a:ea typeface="Calibri" pitchFamily="34" charset="-122"/>
                <a:cs typeface="Calibri" pitchFamily="34" charset="-120"/>
              </a:rPr>
              <a:t>Factor B: </a:t>
            </a:r>
            <a:pPr indent="0" marL="0">
              <a:spcAft>
                <a:spcPts val="300"/>
              </a:spcAft>
              <a:buNone/>
            </a:pPr>
            <a:r>
              <a:rPr lang="en-US" sz="1400" dirty="0">
                <a:solidFill>
                  <a:srgbClr val="1E293B"/>
                </a:solidFill>
                <a:latin typeface="Calibri" pitchFamily="34" charset="0"/>
                <a:ea typeface="Calibri" pitchFamily="34" charset="-122"/>
                <a:cs typeface="Calibri" pitchFamily="34" charset="-120"/>
              </a:rPr>
              <a:t>F = 6.0</a:t>
            </a:r>
            <a:endParaRPr lang="en-US" sz="1400" dirty="0"/>
          </a:p>
          <a:p>
            <a:pPr indent="0" marL="0">
              <a:spcAft>
                <a:spcPts val="300"/>
              </a:spcAft>
              <a:buNone/>
            </a:pPr>
            <a:r>
              <a:rPr lang="en-US" sz="1300" dirty="0">
                <a:solidFill>
                  <a:srgbClr val="1E293B"/>
                </a:solidFill>
                <a:latin typeface="Calibri" pitchFamily="34" charset="0"/>
                <a:ea typeface="Calibri" pitchFamily="34" charset="-122"/>
                <a:cs typeface="Calibri" pitchFamily="34" charset="-120"/>
              </a:rPr>
              <a:t>6.0 &gt; 5.987 (F₀.₀₅(1,6)) → Reject H₀</a:t>
            </a:r>
            <a:endParaRPr lang="en-US" sz="1400" dirty="0"/>
          </a:p>
        </p:txBody>
      </p:sp>
      <p:sp>
        <p:nvSpPr>
          <p:cNvPr id="17" name="Shape 14"/>
          <p:cNvSpPr/>
          <p:nvPr/>
        </p:nvSpPr>
        <p:spPr>
          <a:xfrm>
            <a:off x="457200" y="3794760"/>
            <a:ext cx="8229600" cy="1097280"/>
          </a:xfrm>
          <a:prstGeom prst="rect">
            <a:avLst/>
          </a:prstGeom>
          <a:solidFill>
            <a:srgbClr val="E0F2FE"/>
          </a:solidFill>
          <a:ln/>
          <a:effectLst>
            <a:outerShdw sx="100000" sy="100000" kx="0" ky="0" algn="bl" rotWithShape="0" blurRad="76200" dist="25400" dir="8100000">
              <a:srgbClr val="000000">
                <a:alpha val="12000"/>
              </a:srgbClr>
            </a:outerShdw>
          </a:effectLst>
        </p:spPr>
      </p:sp>
      <p:pic>
        <p:nvPicPr>
          <p:cNvPr id="18" name="Image 1" descr="preencoded.png">    </p:cNvPr>
          <p:cNvPicPr>
            <a:picLocks noChangeAspect="1"/>
          </p:cNvPicPr>
          <p:nvPr/>
        </p:nvPicPr>
        <p:blipFill>
          <a:blip r:embed="rId2"/>
          <a:stretch>
            <a:fillRect/>
          </a:stretch>
        </p:blipFill>
        <p:spPr>
          <a:xfrm>
            <a:off x="640080" y="3931920"/>
            <a:ext cx="320040" cy="320040"/>
          </a:xfrm>
          <a:prstGeom prst="rect">
            <a:avLst/>
          </a:prstGeom>
        </p:spPr>
      </p:pic>
      <p:sp>
        <p:nvSpPr>
          <p:cNvPr id="19" name="Text 15"/>
          <p:cNvSpPr/>
          <p:nvPr/>
        </p:nvSpPr>
        <p:spPr>
          <a:xfrm>
            <a:off x="1097280" y="3886200"/>
            <a:ext cx="7315200" cy="914400"/>
          </a:xfrm>
          <a:prstGeom prst="rect">
            <a:avLst/>
          </a:prstGeom>
          <a:noFill/>
          <a:ln/>
        </p:spPr>
        <p:txBody>
          <a:bodyPr wrap="square" lIns="0" tIns="0" rIns="0" bIns="0" rtlCol="0" anchor="ctr"/>
          <a:lstStyle/>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Since interaction IS significant:</a:t>
            </a:r>
            <a:endParaRPr lang="en-US" sz="14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The main effect results are secondary. Focus on simple effects — compare Method within each Time level separately. The overall main effect averages can mask what’s really happening in each cell.</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Assumption Check (This Example)</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 / 36</a:t>
            </a:r>
            <a:endParaRPr lang="en-US" sz="900" dirty="0"/>
          </a:p>
        </p:txBody>
      </p:sp>
      <p:sp>
        <p:nvSpPr>
          <p:cNvPr id="7" name="Shape 4"/>
          <p:cNvSpPr/>
          <p:nvPr/>
        </p:nvSpPr>
        <p:spPr>
          <a:xfrm>
            <a:off x="457200" y="100584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640080" y="1280160"/>
            <a:ext cx="365760" cy="365760"/>
          </a:xfrm>
          <a:prstGeom prst="rect">
            <a:avLst/>
          </a:prstGeom>
        </p:spPr>
      </p:pic>
      <p:sp>
        <p:nvSpPr>
          <p:cNvPr id="9" name="Text 5"/>
          <p:cNvSpPr/>
          <p:nvPr/>
        </p:nvSpPr>
        <p:spPr>
          <a:xfrm>
            <a:off x="1188720" y="1078992"/>
            <a:ext cx="713232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Equal Variances</a:t>
            </a:r>
            <a:endParaRPr lang="en-US" sz="1600" dirty="0"/>
          </a:p>
        </p:txBody>
      </p:sp>
      <p:sp>
        <p:nvSpPr>
          <p:cNvPr id="10" name="Text 6"/>
          <p:cNvSpPr/>
          <p:nvPr/>
        </p:nvSpPr>
        <p:spPr>
          <a:xfrm>
            <a:off x="1188720" y="1463040"/>
            <a:ext cx="713232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Each cell has identical small spread (all cell variances = 2). Levene’s test would be non-significant. ✓ Satisfied.</a:t>
            </a:r>
            <a:endParaRPr lang="en-US" sz="1300" dirty="0"/>
          </a:p>
        </p:txBody>
      </p:sp>
      <p:sp>
        <p:nvSpPr>
          <p:cNvPr id="11" name="Shape 7"/>
          <p:cNvSpPr/>
          <p:nvPr/>
        </p:nvSpPr>
        <p:spPr>
          <a:xfrm>
            <a:off x="457200" y="224028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2" name="Image 2" descr="preencoded.png">    </p:cNvPr>
          <p:cNvPicPr>
            <a:picLocks noChangeAspect="1"/>
          </p:cNvPicPr>
          <p:nvPr/>
        </p:nvPicPr>
        <p:blipFill>
          <a:blip r:embed="rId3"/>
          <a:stretch>
            <a:fillRect/>
          </a:stretch>
        </p:blipFill>
        <p:spPr>
          <a:xfrm>
            <a:off x="640080" y="2514600"/>
            <a:ext cx="365760" cy="365760"/>
          </a:xfrm>
          <a:prstGeom prst="rect">
            <a:avLst/>
          </a:prstGeom>
        </p:spPr>
      </p:pic>
      <p:sp>
        <p:nvSpPr>
          <p:cNvPr id="13" name="Text 8"/>
          <p:cNvSpPr/>
          <p:nvPr/>
        </p:nvSpPr>
        <p:spPr>
          <a:xfrm>
            <a:off x="1188720" y="2313432"/>
            <a:ext cx="713232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Normality</a:t>
            </a:r>
            <a:endParaRPr lang="en-US" sz="1600" dirty="0"/>
          </a:p>
        </p:txBody>
      </p:sp>
      <p:sp>
        <p:nvSpPr>
          <p:cNvPr id="14" name="Text 9"/>
          <p:cNvSpPr/>
          <p:nvPr/>
        </p:nvSpPr>
        <p:spPr>
          <a:xfrm>
            <a:off x="1188720" y="2697480"/>
            <a:ext cx="713232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With only n=2 per cell, we can’t meaningfully assess normality. In practice, use residual plots with larger data. Assumed OK for this exercise.</a:t>
            </a:r>
            <a:endParaRPr lang="en-US" sz="1300" dirty="0"/>
          </a:p>
        </p:txBody>
      </p:sp>
      <p:sp>
        <p:nvSpPr>
          <p:cNvPr id="15" name="Shape 10"/>
          <p:cNvSpPr/>
          <p:nvPr/>
        </p:nvSpPr>
        <p:spPr>
          <a:xfrm>
            <a:off x="457200" y="347472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6" name="Image 3" descr="preencoded.png">    </p:cNvPr>
          <p:cNvPicPr>
            <a:picLocks noChangeAspect="1"/>
          </p:cNvPicPr>
          <p:nvPr/>
        </p:nvPicPr>
        <p:blipFill>
          <a:blip r:embed="rId4"/>
          <a:stretch>
            <a:fillRect/>
          </a:stretch>
        </p:blipFill>
        <p:spPr>
          <a:xfrm>
            <a:off x="640080" y="3749040"/>
            <a:ext cx="365760" cy="365760"/>
          </a:xfrm>
          <a:prstGeom prst="rect">
            <a:avLst/>
          </a:prstGeom>
        </p:spPr>
      </p:pic>
      <p:sp>
        <p:nvSpPr>
          <p:cNvPr id="17" name="Text 11"/>
          <p:cNvSpPr/>
          <p:nvPr/>
        </p:nvSpPr>
        <p:spPr>
          <a:xfrm>
            <a:off x="1188720" y="3547872"/>
            <a:ext cx="713232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Independence</a:t>
            </a:r>
            <a:endParaRPr lang="en-US" sz="1600" dirty="0"/>
          </a:p>
        </p:txBody>
      </p:sp>
      <p:sp>
        <p:nvSpPr>
          <p:cNvPr id="18" name="Text 12"/>
          <p:cNvSpPr/>
          <p:nvPr/>
        </p:nvSpPr>
        <p:spPr>
          <a:xfrm>
            <a:off x="1188720" y="3931920"/>
            <a:ext cx="713232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Depends on study design. If different students took each quiz independently with random assignment → satisfied.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Note on Unbalanced Designs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 / 36</a:t>
            </a:r>
            <a:endParaRPr lang="en-US" sz="900" dirty="0"/>
          </a:p>
        </p:txBody>
      </p:sp>
      <p:sp>
        <p:nvSpPr>
          <p:cNvPr id="7" name="Shape 4"/>
          <p:cNvSpPr/>
          <p:nvPr/>
        </p:nvSpPr>
        <p:spPr>
          <a:xfrm>
            <a:off x="457200" y="1005840"/>
            <a:ext cx="822960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05840"/>
            <a:ext cx="777240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What is an unbalanced design? Different cells have different sample sizes (nᵢⱼ varies).</a:t>
            </a:r>
            <a:endParaRPr lang="en-US" sz="1500" dirty="0"/>
          </a:p>
        </p:txBody>
      </p:sp>
      <p:sp>
        <p:nvSpPr>
          <p:cNvPr id="9" name="Shape 6"/>
          <p:cNvSpPr/>
          <p:nvPr/>
        </p:nvSpPr>
        <p:spPr>
          <a:xfrm>
            <a:off x="457200" y="2103120"/>
            <a:ext cx="822960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57200" y="2103120"/>
            <a:ext cx="64008" cy="1280160"/>
          </a:xfrm>
          <a:prstGeom prst="rect">
            <a:avLst/>
          </a:prstGeom>
          <a:solidFill>
            <a:srgbClr val="F59E0B"/>
          </a:solidFill>
          <a:ln/>
        </p:spPr>
      </p:sp>
      <p:sp>
        <p:nvSpPr>
          <p:cNvPr id="11" name="Text 8"/>
          <p:cNvSpPr/>
          <p:nvPr/>
        </p:nvSpPr>
        <p:spPr>
          <a:xfrm>
            <a:off x="731520" y="2148840"/>
            <a:ext cx="7315200" cy="365760"/>
          </a:xfrm>
          <a:prstGeom prst="rect">
            <a:avLst/>
          </a:prstGeom>
          <a:noFill/>
          <a:ln/>
        </p:spPr>
        <p:txBody>
          <a:bodyPr wrap="square" lIns="0" tIns="0" rIns="0" bIns="0" rtlCol="0" anchor="ctr"/>
          <a:lstStyle/>
          <a:p>
            <a:pPr indent="0" marL="0">
              <a:buNone/>
            </a:pPr>
            <a:r>
              <a:rPr lang="en-US" sz="1600" b="1" dirty="0">
                <a:solidFill>
                  <a:srgbClr val="F59E0B"/>
                </a:solidFill>
                <a:latin typeface="Georgia" pitchFamily="34" charset="0"/>
                <a:ea typeface="Georgia" pitchFamily="34" charset="-122"/>
                <a:cs typeface="Georgia" pitchFamily="34" charset="-120"/>
              </a:rPr>
              <a:t>Why It Matters</a:t>
            </a:r>
            <a:endParaRPr lang="en-US" sz="1600" dirty="0"/>
          </a:p>
        </p:txBody>
      </p:sp>
      <p:sp>
        <p:nvSpPr>
          <p:cNvPr id="12" name="Text 9"/>
          <p:cNvSpPr/>
          <p:nvPr/>
        </p:nvSpPr>
        <p:spPr>
          <a:xfrm>
            <a:off x="731520" y="2560320"/>
            <a:ext cx="7680960" cy="777240"/>
          </a:xfrm>
          <a:prstGeom prst="rect">
            <a:avLst/>
          </a:prstGeom>
          <a:noFill/>
          <a:ln/>
        </p:spPr>
        <p:txBody>
          <a:bodyPr wrap="square" lIns="0" tIns="0" rIns="0" bIns="0" rtlCol="0" anchor="ctr"/>
          <a:lstStyle/>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When cell sizes differ, SSₐ, SSᵇ, and SSₐᵇ no longer add up neatly to SSₜ.</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The order in which factors enter the model changes the sums of squares.</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This gives rise to different "Types" of sums of squares.</a:t>
            </a:r>
            <a:endParaRPr lang="en-US" sz="1300" dirty="0"/>
          </a:p>
        </p:txBody>
      </p:sp>
      <p:sp>
        <p:nvSpPr>
          <p:cNvPr id="13" name="Shape 10"/>
          <p:cNvSpPr/>
          <p:nvPr/>
        </p:nvSpPr>
        <p:spPr>
          <a:xfrm>
            <a:off x="457200" y="3611880"/>
            <a:ext cx="39319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457200" y="3611880"/>
            <a:ext cx="3931920" cy="411480"/>
          </a:xfrm>
          <a:prstGeom prst="rect">
            <a:avLst/>
          </a:prstGeom>
          <a:solidFill>
            <a:srgbClr val="1C7293"/>
          </a:solidFill>
          <a:ln/>
        </p:spPr>
      </p:sp>
      <p:sp>
        <p:nvSpPr>
          <p:cNvPr id="15" name="Text 12"/>
          <p:cNvSpPr/>
          <p:nvPr/>
        </p:nvSpPr>
        <p:spPr>
          <a:xfrm>
            <a:off x="457200" y="3611880"/>
            <a:ext cx="393192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Type I SS (Sequential)</a:t>
            </a:r>
            <a:endParaRPr lang="en-US" sz="1400" dirty="0"/>
          </a:p>
        </p:txBody>
      </p:sp>
      <p:sp>
        <p:nvSpPr>
          <p:cNvPr id="16" name="Text 13"/>
          <p:cNvSpPr/>
          <p:nvPr/>
        </p:nvSpPr>
        <p:spPr>
          <a:xfrm>
            <a:off x="640080" y="4114800"/>
            <a:ext cx="3566160" cy="7772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Order-dependent. SS for each factor is computed after the previous factors. Results change if you swap A and B.</a:t>
            </a:r>
            <a:endParaRPr lang="en-US" sz="1200" dirty="0"/>
          </a:p>
        </p:txBody>
      </p:sp>
      <p:sp>
        <p:nvSpPr>
          <p:cNvPr id="17" name="Shape 14"/>
          <p:cNvSpPr/>
          <p:nvPr/>
        </p:nvSpPr>
        <p:spPr>
          <a:xfrm>
            <a:off x="4754880" y="3611880"/>
            <a:ext cx="39319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5"/>
          <p:cNvSpPr/>
          <p:nvPr/>
        </p:nvSpPr>
        <p:spPr>
          <a:xfrm>
            <a:off x="4754880" y="3611880"/>
            <a:ext cx="3931920" cy="411480"/>
          </a:xfrm>
          <a:prstGeom prst="rect">
            <a:avLst/>
          </a:prstGeom>
          <a:solidFill>
            <a:srgbClr val="065A82"/>
          </a:solidFill>
          <a:ln/>
        </p:spPr>
      </p:sp>
      <p:sp>
        <p:nvSpPr>
          <p:cNvPr id="19" name="Text 16"/>
          <p:cNvSpPr/>
          <p:nvPr/>
        </p:nvSpPr>
        <p:spPr>
          <a:xfrm>
            <a:off x="4754880" y="3611880"/>
            <a:ext cx="3931920" cy="41148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Type III SS (Partial)</a:t>
            </a:r>
            <a:endParaRPr lang="en-US" sz="1400" dirty="0"/>
          </a:p>
        </p:txBody>
      </p:sp>
      <p:sp>
        <p:nvSpPr>
          <p:cNvPr id="20" name="Text 17"/>
          <p:cNvSpPr/>
          <p:nvPr/>
        </p:nvSpPr>
        <p:spPr>
          <a:xfrm>
            <a:off x="4937760" y="4114800"/>
            <a:ext cx="3566160" cy="7772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Order-independent. Each factor’s SS is computed adjusted for all other factors. Most common default in software (SPSS, 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2D48"/>
        </a:solidFill>
      </p:bgPr>
    </p:bg>
    <p:spTree>
      <p:nvGrpSpPr>
        <p:cNvPr id="1" name=""/>
        <p:cNvGrpSpPr/>
        <p:nvPr/>
      </p:nvGrpSpPr>
      <p:grpSpPr>
        <a:xfrm>
          <a:off x="0" y="0"/>
          <a:ext cx="0" cy="0"/>
          <a:chOff x="0" y="0"/>
          <a:chExt cx="0" cy="0"/>
        </a:xfrm>
      </p:grpSpPr>
      <p:sp>
        <p:nvSpPr>
          <p:cNvPr id="2" name="Shape 0"/>
          <p:cNvSpPr/>
          <p:nvPr/>
        </p:nvSpPr>
        <p:spPr>
          <a:xfrm>
            <a:off x="4023360" y="1188720"/>
            <a:ext cx="1097280" cy="109728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4242816" y="1408176"/>
            <a:ext cx="658368" cy="658368"/>
          </a:xfrm>
          <a:prstGeom prst="rect">
            <a:avLst/>
          </a:prstGeom>
        </p:spPr>
      </p:pic>
      <p:sp>
        <p:nvSpPr>
          <p:cNvPr id="4" name="Text 1"/>
          <p:cNvSpPr/>
          <p:nvPr/>
        </p:nvSpPr>
        <p:spPr>
          <a:xfrm>
            <a:off x="457200" y="246888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Writing Conclusions</a:t>
            </a:r>
            <a:endParaRPr lang="en-US" sz="3600" dirty="0"/>
          </a:p>
        </p:txBody>
      </p:sp>
      <p:sp>
        <p:nvSpPr>
          <p:cNvPr id="5" name="Text 2"/>
          <p:cNvSpPr/>
          <p:nvPr/>
        </p:nvSpPr>
        <p:spPr>
          <a:xfrm>
            <a:off x="914400" y="3200400"/>
            <a:ext cx="7315200" cy="457200"/>
          </a:xfrm>
          <a:prstGeom prst="rect">
            <a:avLst/>
          </a:prstGeom>
          <a:noFill/>
          <a:ln/>
        </p:spPr>
        <p:txBody>
          <a:bodyPr wrap="square" rtlCol="0" anchor="ctr"/>
          <a:lstStyle/>
          <a:p>
            <a:pPr algn="ctr" indent="0" marL="0">
              <a:buNone/>
            </a:pPr>
            <a:r>
              <a:rPr lang="en-US" sz="1600" dirty="0">
                <a:solidFill>
                  <a:srgbClr val="BAE6FD"/>
                </a:solidFill>
                <a:latin typeface="Calibri" pitchFamily="34" charset="0"/>
                <a:ea typeface="Calibri" pitchFamily="34" charset="-122"/>
                <a:cs typeface="Calibri" pitchFamily="34" charset="-120"/>
              </a:rPr>
              <a:t>Templates and common mistakes</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 / 36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Conclusion Sentence Templates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 / 36</a:t>
            </a:r>
            <a:endParaRPr lang="en-US" sz="900" dirty="0"/>
          </a:p>
        </p:txBody>
      </p:sp>
      <p:sp>
        <p:nvSpPr>
          <p:cNvPr id="7" name="Shape 4"/>
          <p:cNvSpPr/>
          <p:nvPr/>
        </p:nvSpPr>
        <p:spPr>
          <a:xfrm>
            <a:off x="457200" y="1005840"/>
            <a:ext cx="822960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457200" y="1005840"/>
            <a:ext cx="8229600" cy="365760"/>
          </a:xfrm>
          <a:prstGeom prst="rect">
            <a:avLst/>
          </a:prstGeom>
          <a:solidFill>
            <a:srgbClr val="0EA5E9"/>
          </a:solidFill>
          <a:ln/>
        </p:spPr>
      </p:sp>
      <p:sp>
        <p:nvSpPr>
          <p:cNvPr id="9" name="Text 6"/>
          <p:cNvSpPr/>
          <p:nvPr/>
        </p:nvSpPr>
        <p:spPr>
          <a:xfrm>
            <a:off x="457200" y="1005840"/>
            <a:ext cx="8229600" cy="365760"/>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Interaction</a:t>
            </a:r>
            <a:endParaRPr lang="en-US" sz="1500" dirty="0"/>
          </a:p>
        </p:txBody>
      </p:sp>
      <p:sp>
        <p:nvSpPr>
          <p:cNvPr id="10" name="Text 7"/>
          <p:cNvSpPr/>
          <p:nvPr/>
        </p:nvSpPr>
        <p:spPr>
          <a:xfrm>
            <a:off x="640080" y="1463040"/>
            <a:ext cx="7772400" cy="914400"/>
          </a:xfrm>
          <a:prstGeom prst="rect">
            <a:avLst/>
          </a:prstGeom>
          <a:noFill/>
          <a:ln/>
        </p:spPr>
        <p:txBody>
          <a:bodyPr wrap="square" lIns="0" tIns="0" rIns="0" bIns="0" rtlCol="0" anchor="ctr"/>
          <a:lstStyle/>
          <a:p>
            <a:pPr indent="0" marL="0">
              <a:spcAft>
                <a:spcPts val="600"/>
              </a:spcAft>
              <a:buNone/>
            </a:pPr>
            <a:r>
              <a:rPr lang="en-US" sz="1200" b="1" dirty="0">
                <a:solidFill>
                  <a:srgbClr val="10B981"/>
                </a:solidFill>
                <a:latin typeface="Calibri" pitchFamily="34" charset="0"/>
                <a:ea typeface="Calibri" pitchFamily="34" charset="-122"/>
                <a:cs typeface="Calibri" pitchFamily="34" charset="-120"/>
              </a:rPr>
              <a:t>Reject H₀: </a:t>
            </a:r>
            <a:pPr indent="0" marL="0">
              <a:spcAft>
                <a:spcPts val="600"/>
              </a:spcAft>
              <a:buNone/>
            </a:pPr>
            <a:r>
              <a:rPr lang="en-US" sz="1200" i="1" dirty="0">
                <a:solidFill>
                  <a:srgbClr val="1E293B"/>
                </a:solidFill>
                <a:latin typeface="Calibri" pitchFamily="34" charset="0"/>
                <a:ea typeface="Calibri" pitchFamily="34" charset="-122"/>
                <a:cs typeface="Calibri" pitchFamily="34" charset="-120"/>
              </a:rPr>
              <a:t>"At α=0.05, there is evidence of an interaction between A and B on [response]. The effect of A depends on the level of B."</a:t>
            </a:r>
            <a:endParaRPr lang="en-US" sz="1200" dirty="0"/>
          </a:p>
          <a:p>
            <a:pPr indent="0" marL="0">
              <a:spcAft>
                <a:spcPts val="600"/>
              </a:spcAft>
              <a:buNone/>
            </a:pPr>
            <a:r>
              <a:rPr lang="en-US" sz="1200" b="1" dirty="0">
                <a:solidFill>
                  <a:srgbClr val="64748B"/>
                </a:solidFill>
                <a:latin typeface="Calibri" pitchFamily="34" charset="0"/>
                <a:ea typeface="Calibri" pitchFamily="34" charset="-122"/>
                <a:cs typeface="Calibri" pitchFamily="34" charset="-120"/>
              </a:rPr>
              <a:t>Fail to reject H₀: </a:t>
            </a:r>
            <a:pPr indent="0" marL="0">
              <a:spcAft>
                <a:spcPts val="600"/>
              </a:spcAft>
              <a:buNone/>
            </a:pPr>
            <a:r>
              <a:rPr lang="en-US" sz="1200" i="1" dirty="0">
                <a:solidFill>
                  <a:srgbClr val="1E293B"/>
                </a:solidFill>
                <a:latin typeface="Calibri" pitchFamily="34" charset="0"/>
                <a:ea typeface="Calibri" pitchFamily="34" charset="-122"/>
                <a:cs typeface="Calibri" pitchFamily="34" charset="-120"/>
              </a:rPr>
              <a:t>"At α=0.05, there is insufficient evidence of an interaction between A and B on [response]."</a:t>
            </a:r>
            <a:endParaRPr lang="en-US" sz="1200" dirty="0"/>
          </a:p>
        </p:txBody>
      </p:sp>
      <p:sp>
        <p:nvSpPr>
          <p:cNvPr id="11" name="Shape 8"/>
          <p:cNvSpPr/>
          <p:nvPr/>
        </p:nvSpPr>
        <p:spPr>
          <a:xfrm>
            <a:off x="457200" y="2651760"/>
            <a:ext cx="393192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57200" y="2651760"/>
            <a:ext cx="3931920" cy="320040"/>
          </a:xfrm>
          <a:prstGeom prst="rect">
            <a:avLst/>
          </a:prstGeom>
          <a:solidFill>
            <a:srgbClr val="065A82"/>
          </a:solidFill>
          <a:ln/>
        </p:spPr>
      </p:sp>
      <p:sp>
        <p:nvSpPr>
          <p:cNvPr id="13" name="Text 10"/>
          <p:cNvSpPr/>
          <p:nvPr/>
        </p:nvSpPr>
        <p:spPr>
          <a:xfrm>
            <a:off x="457200" y="2651760"/>
            <a:ext cx="3931920" cy="3200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Main Effect of A</a:t>
            </a:r>
            <a:endParaRPr lang="en-US" sz="1300" dirty="0"/>
          </a:p>
        </p:txBody>
      </p:sp>
      <p:sp>
        <p:nvSpPr>
          <p:cNvPr id="14" name="Text 11"/>
          <p:cNvSpPr/>
          <p:nvPr/>
        </p:nvSpPr>
        <p:spPr>
          <a:xfrm>
            <a:off x="640080" y="3063240"/>
            <a:ext cx="3566160" cy="640080"/>
          </a:xfrm>
          <a:prstGeom prst="rect">
            <a:avLst/>
          </a:prstGeom>
          <a:noFill/>
          <a:ln/>
        </p:spPr>
        <p:txBody>
          <a:bodyPr wrap="square" lIns="0" tIns="0" rIns="0" bIns="0" rtlCol="0" anchor="ctr"/>
          <a:lstStyle/>
          <a:p>
            <a:pPr indent="0" marL="0">
              <a:spcAft>
                <a:spcPts val="400"/>
              </a:spcAft>
              <a:buNone/>
            </a:pPr>
            <a:r>
              <a:rPr lang="en-US" sz="1100" b="1" dirty="0">
                <a:solidFill>
                  <a:srgbClr val="10B981"/>
                </a:solidFill>
                <a:latin typeface="Calibri" pitchFamily="34" charset="0"/>
                <a:ea typeface="Calibri" pitchFamily="34" charset="-122"/>
                <a:cs typeface="Calibri" pitchFamily="34" charset="-120"/>
              </a:rPr>
              <a:t>Reject: </a:t>
            </a:r>
            <a:pPr indent="0" marL="0">
              <a:spcAft>
                <a:spcPts val="400"/>
              </a:spcAft>
              <a:buNone/>
            </a:pPr>
            <a:r>
              <a:rPr lang="en-US" sz="1100" i="1" dirty="0">
                <a:solidFill>
                  <a:srgbClr val="1E293B"/>
                </a:solidFill>
                <a:latin typeface="Calibri" pitchFamily="34" charset="0"/>
                <a:ea typeface="Calibri" pitchFamily="34" charset="-122"/>
                <a:cs typeface="Calibri" pitchFamily="34" charset="-120"/>
              </a:rPr>
              <a:t>"Mean [response] differs across levels of A."</a:t>
            </a:r>
            <a:endParaRPr lang="en-US" sz="1100" dirty="0"/>
          </a:p>
          <a:p>
            <a:pPr indent="0" marL="0">
              <a:spcAft>
                <a:spcPts val="400"/>
              </a:spcAft>
              <a:buNone/>
            </a:pPr>
            <a:r>
              <a:rPr lang="en-US" sz="1100" b="1" dirty="0">
                <a:solidFill>
                  <a:srgbClr val="64748B"/>
                </a:solidFill>
                <a:latin typeface="Calibri" pitchFamily="34" charset="0"/>
                <a:ea typeface="Calibri" pitchFamily="34" charset="-122"/>
                <a:cs typeface="Calibri" pitchFamily="34" charset="-120"/>
              </a:rPr>
              <a:t>Fail: </a:t>
            </a:r>
            <a:pPr indent="0" marL="0">
              <a:spcAft>
                <a:spcPts val="400"/>
              </a:spcAft>
              <a:buNone/>
            </a:pPr>
            <a:r>
              <a:rPr lang="en-US" sz="1100" i="1" dirty="0">
                <a:solidFill>
                  <a:srgbClr val="1E293B"/>
                </a:solidFill>
                <a:latin typeface="Calibri" pitchFamily="34" charset="0"/>
                <a:ea typeface="Calibri" pitchFamily="34" charset="-122"/>
                <a:cs typeface="Calibri" pitchFamily="34" charset="-120"/>
              </a:rPr>
              <a:t>"Insufficient evidence that mean [response] differs across A."</a:t>
            </a:r>
            <a:endParaRPr lang="en-US" sz="1100" dirty="0"/>
          </a:p>
        </p:txBody>
      </p:sp>
      <p:sp>
        <p:nvSpPr>
          <p:cNvPr id="15" name="Shape 12"/>
          <p:cNvSpPr/>
          <p:nvPr/>
        </p:nvSpPr>
        <p:spPr>
          <a:xfrm>
            <a:off x="4754880" y="2651760"/>
            <a:ext cx="393192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4754880" y="2651760"/>
            <a:ext cx="3931920" cy="320040"/>
          </a:xfrm>
          <a:prstGeom prst="rect">
            <a:avLst/>
          </a:prstGeom>
          <a:solidFill>
            <a:srgbClr val="1C7293"/>
          </a:solidFill>
          <a:ln/>
        </p:spPr>
      </p:sp>
      <p:sp>
        <p:nvSpPr>
          <p:cNvPr id="17" name="Text 14"/>
          <p:cNvSpPr/>
          <p:nvPr/>
        </p:nvSpPr>
        <p:spPr>
          <a:xfrm>
            <a:off x="4754880" y="2651760"/>
            <a:ext cx="3931920" cy="3200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Main Effect of B</a:t>
            </a:r>
            <a:endParaRPr lang="en-US" sz="1300" dirty="0"/>
          </a:p>
        </p:txBody>
      </p:sp>
      <p:sp>
        <p:nvSpPr>
          <p:cNvPr id="18" name="Text 15"/>
          <p:cNvSpPr/>
          <p:nvPr/>
        </p:nvSpPr>
        <p:spPr>
          <a:xfrm>
            <a:off x="4937760" y="3063240"/>
            <a:ext cx="3566160" cy="640080"/>
          </a:xfrm>
          <a:prstGeom prst="rect">
            <a:avLst/>
          </a:prstGeom>
          <a:noFill/>
          <a:ln/>
        </p:spPr>
        <p:txBody>
          <a:bodyPr wrap="square" lIns="0" tIns="0" rIns="0" bIns="0" rtlCol="0" anchor="ctr"/>
          <a:lstStyle/>
          <a:p>
            <a:pPr indent="0" marL="0">
              <a:spcAft>
                <a:spcPts val="400"/>
              </a:spcAft>
              <a:buNone/>
            </a:pPr>
            <a:r>
              <a:rPr lang="en-US" sz="1100" b="1" dirty="0">
                <a:solidFill>
                  <a:srgbClr val="10B981"/>
                </a:solidFill>
                <a:latin typeface="Calibri" pitchFamily="34" charset="0"/>
                <a:ea typeface="Calibri" pitchFamily="34" charset="-122"/>
                <a:cs typeface="Calibri" pitchFamily="34" charset="-120"/>
              </a:rPr>
              <a:t>Reject: </a:t>
            </a:r>
            <a:pPr indent="0" marL="0">
              <a:spcAft>
                <a:spcPts val="400"/>
              </a:spcAft>
              <a:buNone/>
            </a:pPr>
            <a:r>
              <a:rPr lang="en-US" sz="1100" i="1" dirty="0">
                <a:solidFill>
                  <a:srgbClr val="1E293B"/>
                </a:solidFill>
                <a:latin typeface="Calibri" pitchFamily="34" charset="0"/>
                <a:ea typeface="Calibri" pitchFamily="34" charset="-122"/>
                <a:cs typeface="Calibri" pitchFamily="34" charset="-120"/>
              </a:rPr>
              <a:t>"Mean [response] differs across levels of B."</a:t>
            </a:r>
            <a:endParaRPr lang="en-US" sz="1100" dirty="0"/>
          </a:p>
          <a:p>
            <a:pPr indent="0" marL="0">
              <a:spcAft>
                <a:spcPts val="400"/>
              </a:spcAft>
              <a:buNone/>
            </a:pPr>
            <a:r>
              <a:rPr lang="en-US" sz="1100" b="1" dirty="0">
                <a:solidFill>
                  <a:srgbClr val="64748B"/>
                </a:solidFill>
                <a:latin typeface="Calibri" pitchFamily="34" charset="0"/>
                <a:ea typeface="Calibri" pitchFamily="34" charset="-122"/>
                <a:cs typeface="Calibri" pitchFamily="34" charset="-120"/>
              </a:rPr>
              <a:t>Fail: </a:t>
            </a:r>
            <a:pPr indent="0" marL="0">
              <a:spcAft>
                <a:spcPts val="400"/>
              </a:spcAft>
              <a:buNone/>
            </a:pPr>
            <a:r>
              <a:rPr lang="en-US" sz="1100" i="1" dirty="0">
                <a:solidFill>
                  <a:srgbClr val="1E293B"/>
                </a:solidFill>
                <a:latin typeface="Calibri" pitchFamily="34" charset="0"/>
                <a:ea typeface="Calibri" pitchFamily="34" charset="-122"/>
                <a:cs typeface="Calibri" pitchFamily="34" charset="-120"/>
              </a:rPr>
              <a:t>"Insufficient evidence that mean [response] differs across B."</a:t>
            </a:r>
            <a:endParaRPr lang="en-US" sz="1100" dirty="0"/>
          </a:p>
        </p:txBody>
      </p:sp>
      <p:sp>
        <p:nvSpPr>
          <p:cNvPr id="19" name="Shape 16"/>
          <p:cNvSpPr/>
          <p:nvPr/>
        </p:nvSpPr>
        <p:spPr>
          <a:xfrm>
            <a:off x="457200" y="3977640"/>
            <a:ext cx="8229600" cy="50292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20" name="Text 17"/>
          <p:cNvSpPr/>
          <p:nvPr/>
        </p:nvSpPr>
        <p:spPr>
          <a:xfrm>
            <a:off x="640080" y="3977640"/>
            <a:ext cx="7772400" cy="502920"/>
          </a:xfrm>
          <a:prstGeom prst="rect">
            <a:avLst/>
          </a:prstGeom>
          <a:noFill/>
          <a:ln/>
        </p:spPr>
        <p:txBody>
          <a:bodyPr wrap="square" rtlCol="0" anchor="ctr"/>
          <a:lstStyle/>
          <a:p>
            <a:pPr algn="ctr" indent="0" marL="0">
              <a:buNone/>
            </a:pPr>
            <a:r>
              <a:rPr lang="en-US" sz="1400" b="1" i="1" dirty="0">
                <a:solidFill>
                  <a:srgbClr val="065A82"/>
                </a:solidFill>
                <a:latin typeface="Calibri" pitchFamily="34" charset="0"/>
                <a:ea typeface="Calibri" pitchFamily="34" charset="-122"/>
                <a:cs typeface="Calibri" pitchFamily="34" charset="-120"/>
              </a:rPr>
              <a:t>Only interpret main effects cleanly when interaction is NOT significant</a:t>
            </a:r>
            <a:endParaRPr lang="en-US" sz="1400" dirty="0"/>
          </a:p>
        </p:txBody>
      </p:sp>
      <p:sp>
        <p:nvSpPr>
          <p:cNvPr id="21" name="Text 18"/>
          <p:cNvSpPr/>
          <p:nvPr/>
        </p:nvSpPr>
        <p:spPr>
          <a:xfrm>
            <a:off x="457200" y="4617720"/>
            <a:ext cx="822960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Always replace [response] with the actual variable name (e.g., "quiz score")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Common Mistakes (and Fixes)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 / 36</a:t>
            </a:r>
            <a:endParaRPr lang="en-US" sz="900" dirty="0"/>
          </a:p>
        </p:txBody>
      </p:sp>
      <p:sp>
        <p:nvSpPr>
          <p:cNvPr id="7" name="Shape 4"/>
          <p:cNvSpPr/>
          <p:nvPr/>
        </p:nvSpPr>
        <p:spPr>
          <a:xfrm>
            <a:off x="457200" y="960120"/>
            <a:ext cx="8229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594360" y="1106424"/>
            <a:ext cx="320040" cy="320040"/>
          </a:xfrm>
          <a:prstGeom prst="rect">
            <a:avLst/>
          </a:prstGeom>
        </p:spPr>
      </p:pic>
      <p:sp>
        <p:nvSpPr>
          <p:cNvPr id="9" name="Text 5"/>
          <p:cNvSpPr/>
          <p:nvPr/>
        </p:nvSpPr>
        <p:spPr>
          <a:xfrm>
            <a:off x="1051560" y="1005840"/>
            <a:ext cx="36576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Ignoring interaction</a:t>
            </a:r>
            <a:endParaRPr lang="en-US" sz="1300" dirty="0"/>
          </a:p>
        </p:txBody>
      </p:sp>
      <p:pic>
        <p:nvPicPr>
          <p:cNvPr id="10" name="Image 2" descr="preencoded.png">    </p:cNvPr>
          <p:cNvPicPr>
            <a:picLocks noChangeAspect="1"/>
          </p:cNvPicPr>
          <p:nvPr/>
        </p:nvPicPr>
        <p:blipFill>
          <a:blip r:embed="rId3"/>
          <a:stretch>
            <a:fillRect/>
          </a:stretch>
        </p:blipFill>
        <p:spPr>
          <a:xfrm>
            <a:off x="4846320" y="1106424"/>
            <a:ext cx="320040" cy="320040"/>
          </a:xfrm>
          <a:prstGeom prst="rect">
            <a:avLst/>
          </a:prstGeom>
        </p:spPr>
      </p:pic>
      <p:sp>
        <p:nvSpPr>
          <p:cNvPr id="11" name="Text 6"/>
          <p:cNvSpPr/>
          <p:nvPr/>
        </p:nvSpPr>
        <p:spPr>
          <a:xfrm>
            <a:off x="5303520" y="1005840"/>
            <a:ext cx="3200400" cy="5486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Always test interaction FIRST</a:t>
            </a:r>
            <a:endParaRPr lang="en-US" sz="1300" dirty="0"/>
          </a:p>
        </p:txBody>
      </p:sp>
      <p:sp>
        <p:nvSpPr>
          <p:cNvPr id="12" name="Shape 7"/>
          <p:cNvSpPr/>
          <p:nvPr/>
        </p:nvSpPr>
        <p:spPr>
          <a:xfrm>
            <a:off x="457200" y="1737360"/>
            <a:ext cx="8229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3" descr="preencoded.png">    </p:cNvPr>
          <p:cNvPicPr>
            <a:picLocks noChangeAspect="1"/>
          </p:cNvPicPr>
          <p:nvPr/>
        </p:nvPicPr>
        <p:blipFill>
          <a:blip r:embed="rId4"/>
          <a:stretch>
            <a:fillRect/>
          </a:stretch>
        </p:blipFill>
        <p:spPr>
          <a:xfrm>
            <a:off x="594360" y="1883664"/>
            <a:ext cx="320040" cy="320040"/>
          </a:xfrm>
          <a:prstGeom prst="rect">
            <a:avLst/>
          </a:prstGeom>
        </p:spPr>
      </p:pic>
      <p:sp>
        <p:nvSpPr>
          <p:cNvPr id="14" name="Text 8"/>
          <p:cNvSpPr/>
          <p:nvPr/>
        </p:nvSpPr>
        <p:spPr>
          <a:xfrm>
            <a:off x="1051560" y="1783080"/>
            <a:ext cx="36576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Saying "accept H₀"</a:t>
            </a:r>
            <a:endParaRPr lang="en-US" sz="1300" dirty="0"/>
          </a:p>
        </p:txBody>
      </p:sp>
      <p:pic>
        <p:nvPicPr>
          <p:cNvPr id="15" name="Image 4" descr="preencoded.png">    </p:cNvPr>
          <p:cNvPicPr>
            <a:picLocks noChangeAspect="1"/>
          </p:cNvPicPr>
          <p:nvPr/>
        </p:nvPicPr>
        <p:blipFill>
          <a:blip r:embed="rId5"/>
          <a:stretch>
            <a:fillRect/>
          </a:stretch>
        </p:blipFill>
        <p:spPr>
          <a:xfrm>
            <a:off x="4846320" y="1883664"/>
            <a:ext cx="320040" cy="320040"/>
          </a:xfrm>
          <a:prstGeom prst="rect">
            <a:avLst/>
          </a:prstGeom>
        </p:spPr>
      </p:pic>
      <p:sp>
        <p:nvSpPr>
          <p:cNvPr id="16" name="Text 9"/>
          <p:cNvSpPr/>
          <p:nvPr/>
        </p:nvSpPr>
        <p:spPr>
          <a:xfrm>
            <a:off x="5303520" y="1783080"/>
            <a:ext cx="3200400" cy="5486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Say "fail to reject H₀"</a:t>
            </a:r>
            <a:endParaRPr lang="en-US" sz="1300" dirty="0"/>
          </a:p>
        </p:txBody>
      </p:sp>
      <p:sp>
        <p:nvSpPr>
          <p:cNvPr id="17" name="Shape 10"/>
          <p:cNvSpPr/>
          <p:nvPr/>
        </p:nvSpPr>
        <p:spPr>
          <a:xfrm>
            <a:off x="457200" y="2514600"/>
            <a:ext cx="8229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8" name="Image 5" descr="preencoded.png">    </p:cNvPr>
          <p:cNvPicPr>
            <a:picLocks noChangeAspect="1"/>
          </p:cNvPicPr>
          <p:nvPr/>
        </p:nvPicPr>
        <p:blipFill>
          <a:blip r:embed="rId6"/>
          <a:stretch>
            <a:fillRect/>
          </a:stretch>
        </p:blipFill>
        <p:spPr>
          <a:xfrm>
            <a:off x="594360" y="2660904"/>
            <a:ext cx="320040" cy="320040"/>
          </a:xfrm>
          <a:prstGeom prst="rect">
            <a:avLst/>
          </a:prstGeom>
        </p:spPr>
      </p:pic>
      <p:sp>
        <p:nvSpPr>
          <p:cNvPr id="19" name="Text 11"/>
          <p:cNvSpPr/>
          <p:nvPr/>
        </p:nvSpPr>
        <p:spPr>
          <a:xfrm>
            <a:off x="1051560" y="2560320"/>
            <a:ext cx="36576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Interpreting main effects when interaction is significant</a:t>
            </a:r>
            <a:endParaRPr lang="en-US" sz="1300" dirty="0"/>
          </a:p>
        </p:txBody>
      </p:sp>
      <p:pic>
        <p:nvPicPr>
          <p:cNvPr id="20" name="Image 6" descr="preencoded.png">    </p:cNvPr>
          <p:cNvPicPr>
            <a:picLocks noChangeAspect="1"/>
          </p:cNvPicPr>
          <p:nvPr/>
        </p:nvPicPr>
        <p:blipFill>
          <a:blip r:embed="rId7"/>
          <a:stretch>
            <a:fillRect/>
          </a:stretch>
        </p:blipFill>
        <p:spPr>
          <a:xfrm>
            <a:off x="4846320" y="2660904"/>
            <a:ext cx="320040" cy="320040"/>
          </a:xfrm>
          <a:prstGeom prst="rect">
            <a:avLst/>
          </a:prstGeom>
        </p:spPr>
      </p:pic>
      <p:sp>
        <p:nvSpPr>
          <p:cNvPr id="21" name="Text 12"/>
          <p:cNvSpPr/>
          <p:nvPr/>
        </p:nvSpPr>
        <p:spPr>
          <a:xfrm>
            <a:off x="5303520" y="2560320"/>
            <a:ext cx="3200400" cy="5486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Use simple effects instead</a:t>
            </a:r>
            <a:endParaRPr lang="en-US" sz="1300" dirty="0"/>
          </a:p>
        </p:txBody>
      </p:sp>
      <p:sp>
        <p:nvSpPr>
          <p:cNvPr id="22" name="Shape 13"/>
          <p:cNvSpPr/>
          <p:nvPr/>
        </p:nvSpPr>
        <p:spPr>
          <a:xfrm>
            <a:off x="457200" y="3291840"/>
            <a:ext cx="8229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3" name="Image 7" descr="preencoded.png">    </p:cNvPr>
          <p:cNvPicPr>
            <a:picLocks noChangeAspect="1"/>
          </p:cNvPicPr>
          <p:nvPr/>
        </p:nvPicPr>
        <p:blipFill>
          <a:blip r:embed="rId8"/>
          <a:stretch>
            <a:fillRect/>
          </a:stretch>
        </p:blipFill>
        <p:spPr>
          <a:xfrm>
            <a:off x="594360" y="3438144"/>
            <a:ext cx="320040" cy="320040"/>
          </a:xfrm>
          <a:prstGeom prst="rect">
            <a:avLst/>
          </a:prstGeom>
        </p:spPr>
      </p:pic>
      <p:sp>
        <p:nvSpPr>
          <p:cNvPr id="24" name="Text 14"/>
          <p:cNvSpPr/>
          <p:nvPr/>
        </p:nvSpPr>
        <p:spPr>
          <a:xfrm>
            <a:off x="1051560" y="3337560"/>
            <a:ext cx="36576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Not stating assumptions</a:t>
            </a:r>
            <a:endParaRPr lang="en-US" sz="1300" dirty="0"/>
          </a:p>
        </p:txBody>
      </p:sp>
      <p:pic>
        <p:nvPicPr>
          <p:cNvPr id="25" name="Image 8" descr="preencoded.png">    </p:cNvPr>
          <p:cNvPicPr>
            <a:picLocks noChangeAspect="1"/>
          </p:cNvPicPr>
          <p:nvPr/>
        </p:nvPicPr>
        <p:blipFill>
          <a:blip r:embed="rId9"/>
          <a:stretch>
            <a:fillRect/>
          </a:stretch>
        </p:blipFill>
        <p:spPr>
          <a:xfrm>
            <a:off x="4846320" y="3438144"/>
            <a:ext cx="320040" cy="320040"/>
          </a:xfrm>
          <a:prstGeom prst="rect">
            <a:avLst/>
          </a:prstGeom>
        </p:spPr>
      </p:pic>
      <p:sp>
        <p:nvSpPr>
          <p:cNvPr id="26" name="Text 15"/>
          <p:cNvSpPr/>
          <p:nvPr/>
        </p:nvSpPr>
        <p:spPr>
          <a:xfrm>
            <a:off x="5303520" y="3337560"/>
            <a:ext cx="3200400" cy="5486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Use a quick checklist every time</a:t>
            </a:r>
            <a:endParaRPr lang="en-US" sz="1300" dirty="0"/>
          </a:p>
        </p:txBody>
      </p:sp>
      <p:sp>
        <p:nvSpPr>
          <p:cNvPr id="27" name="Shape 16"/>
          <p:cNvSpPr/>
          <p:nvPr/>
        </p:nvSpPr>
        <p:spPr>
          <a:xfrm>
            <a:off x="457200" y="4069080"/>
            <a:ext cx="8229600" cy="658368"/>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8" name="Image 9" descr="preencoded.png">    </p:cNvPr>
          <p:cNvPicPr>
            <a:picLocks noChangeAspect="1"/>
          </p:cNvPicPr>
          <p:nvPr/>
        </p:nvPicPr>
        <p:blipFill>
          <a:blip r:embed="rId10"/>
          <a:stretch>
            <a:fillRect/>
          </a:stretch>
        </p:blipFill>
        <p:spPr>
          <a:xfrm>
            <a:off x="594360" y="4215384"/>
            <a:ext cx="320040" cy="320040"/>
          </a:xfrm>
          <a:prstGeom prst="rect">
            <a:avLst/>
          </a:prstGeom>
        </p:spPr>
      </p:pic>
      <p:sp>
        <p:nvSpPr>
          <p:cNvPr id="29" name="Text 17"/>
          <p:cNvSpPr/>
          <p:nvPr/>
        </p:nvSpPr>
        <p:spPr>
          <a:xfrm>
            <a:off x="1051560" y="4114800"/>
            <a:ext cx="365760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"Significant" = all groups differ</a:t>
            </a:r>
            <a:endParaRPr lang="en-US" sz="1300" dirty="0"/>
          </a:p>
        </p:txBody>
      </p:sp>
      <p:pic>
        <p:nvPicPr>
          <p:cNvPr id="30" name="Image 10" descr="preencoded.png">    </p:cNvPr>
          <p:cNvPicPr>
            <a:picLocks noChangeAspect="1"/>
          </p:cNvPicPr>
          <p:nvPr/>
        </p:nvPicPr>
        <p:blipFill>
          <a:blip r:embed="rId11"/>
          <a:stretch>
            <a:fillRect/>
          </a:stretch>
        </p:blipFill>
        <p:spPr>
          <a:xfrm>
            <a:off x="4846320" y="4215384"/>
            <a:ext cx="320040" cy="320040"/>
          </a:xfrm>
          <a:prstGeom prst="rect">
            <a:avLst/>
          </a:prstGeom>
        </p:spPr>
      </p:pic>
      <p:sp>
        <p:nvSpPr>
          <p:cNvPr id="31" name="Text 18"/>
          <p:cNvSpPr/>
          <p:nvPr/>
        </p:nvSpPr>
        <p:spPr>
          <a:xfrm>
            <a:off x="5303520" y="4114800"/>
            <a:ext cx="3200400" cy="5486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Significant = at least one mean differs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After a Significant Result (3+ Levels)</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 / 36</a:t>
            </a:r>
            <a:endParaRPr lang="en-US" sz="900" dirty="0"/>
          </a:p>
        </p:txBody>
      </p:sp>
      <p:sp>
        <p:nvSpPr>
          <p:cNvPr id="7" name="Shape 4"/>
          <p:cNvSpPr/>
          <p:nvPr/>
        </p:nvSpPr>
        <p:spPr>
          <a:xfrm>
            <a:off x="457200" y="1005840"/>
            <a:ext cx="822960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51560"/>
            <a:ext cx="7772400" cy="1280160"/>
          </a:xfrm>
          <a:prstGeom prst="rect">
            <a:avLst/>
          </a:prstGeom>
          <a:noFill/>
          <a:ln/>
        </p:spPr>
        <p:txBody>
          <a:bodyPr wrap="square" lIns="0" tIns="0" rIns="0" bIns="0" rtlCol="0" anchor="ctr"/>
          <a:lstStyle/>
          <a:p>
            <a:pPr indent="0" marL="0">
              <a:spcAft>
                <a:spcPts val="600"/>
              </a:spcAft>
              <a:buNone/>
            </a:pPr>
            <a:r>
              <a:rPr lang="en-US" sz="1500" b="1" dirty="0">
                <a:solidFill>
                  <a:srgbClr val="1E293B"/>
                </a:solidFill>
                <a:latin typeface="Calibri" pitchFamily="34" charset="0"/>
                <a:ea typeface="Calibri" pitchFamily="34" charset="-122"/>
                <a:cs typeface="Calibri" pitchFamily="34" charset="-120"/>
              </a:rPr>
              <a:t>If Factor A or B is significant and has 3+ levels:</a:t>
            </a:r>
            <a:endParaRPr lang="en-US" sz="1500" dirty="0"/>
          </a:p>
          <a:p>
            <a:pPr indent="0" marL="0">
              <a:spcAft>
                <a:spcPts val="600"/>
              </a:spcAft>
              <a:buNone/>
            </a:pPr>
            <a:endParaRPr lang="en-US" sz="1500" dirty="0"/>
          </a:p>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ANOVA only tells you that at least one mean differs.</a:t>
            </a:r>
            <a:endParaRPr lang="en-US" sz="1500" dirty="0"/>
          </a:p>
          <a:p>
            <a:pPr indent="0" marL="0">
              <a:spcAft>
                <a:spcPts val="600"/>
              </a:spcAft>
              <a:buNone/>
            </a:pPr>
            <a:r>
              <a:rPr lang="en-US" sz="1400" b="1" dirty="0">
                <a:solidFill>
                  <a:srgbClr val="EF4444"/>
                </a:solidFill>
                <a:latin typeface="Calibri" pitchFamily="34" charset="0"/>
                <a:ea typeface="Calibri" pitchFamily="34" charset="-122"/>
                <a:cs typeface="Calibri" pitchFamily="34" charset="-120"/>
              </a:rPr>
              <a:t>It does NOT tell you which specific pairs of means are different.</a:t>
            </a:r>
            <a:endParaRPr lang="en-US" sz="1500" dirty="0"/>
          </a:p>
        </p:txBody>
      </p:sp>
      <p:sp>
        <p:nvSpPr>
          <p:cNvPr id="9" name="Shape 6"/>
          <p:cNvSpPr/>
          <p:nvPr/>
        </p:nvSpPr>
        <p:spPr>
          <a:xfrm>
            <a:off x="457200" y="2651760"/>
            <a:ext cx="822960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7"/>
          <p:cNvSpPr/>
          <p:nvPr/>
        </p:nvSpPr>
        <p:spPr>
          <a:xfrm>
            <a:off x="457200" y="2651760"/>
            <a:ext cx="64008" cy="1371600"/>
          </a:xfrm>
          <a:prstGeom prst="rect">
            <a:avLst/>
          </a:prstGeom>
          <a:solidFill>
            <a:srgbClr val="0EA5E9"/>
          </a:solidFill>
          <a:ln/>
        </p:spPr>
      </p:sp>
      <p:sp>
        <p:nvSpPr>
          <p:cNvPr id="11" name="Text 8"/>
          <p:cNvSpPr/>
          <p:nvPr/>
        </p:nvSpPr>
        <p:spPr>
          <a:xfrm>
            <a:off x="731520" y="2697480"/>
            <a:ext cx="7315200" cy="365760"/>
          </a:xfrm>
          <a:prstGeom prst="rect">
            <a:avLst/>
          </a:prstGeom>
          <a:noFill/>
          <a:ln/>
        </p:spPr>
        <p:txBody>
          <a:bodyPr wrap="square" lIns="0" tIns="0" rIns="0" bIns="0"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Follow-Up: Multiple Comparisons</a:t>
            </a:r>
            <a:endParaRPr lang="en-US" sz="1600" dirty="0"/>
          </a:p>
        </p:txBody>
      </p:sp>
      <p:sp>
        <p:nvSpPr>
          <p:cNvPr id="12" name="Text 9"/>
          <p:cNvSpPr/>
          <p:nvPr/>
        </p:nvSpPr>
        <p:spPr>
          <a:xfrm>
            <a:off x="731520" y="3108960"/>
            <a:ext cx="7680960" cy="822960"/>
          </a:xfrm>
          <a:prstGeom prst="rect">
            <a:avLst/>
          </a:prstGeom>
          <a:noFill/>
          <a:ln/>
        </p:spPr>
        <p:txBody>
          <a:bodyPr wrap="square" lIns="0" tIns="0" rIns="0" bIns="0" rtlCol="0" anchor="ctr"/>
          <a:lstStyle/>
          <a:p>
            <a:pPr indent="0" marL="0">
              <a:spcAft>
                <a:spcPts val="600"/>
              </a:spcAft>
              <a:buNone/>
            </a:pPr>
            <a:r>
              <a:rPr lang="en-US" sz="1400" dirty="0">
                <a:solidFill>
                  <a:srgbClr val="1E293B"/>
                </a:solidFill>
                <a:latin typeface="Calibri" pitchFamily="34" charset="0"/>
                <a:ea typeface="Calibri" pitchFamily="34" charset="-122"/>
                <a:cs typeface="Calibri" pitchFamily="34" charset="-120"/>
              </a:rPr>
              <a:t>Tukey’s HSD (Honestly Significant Difference): pairwise comparisons while controlling the familywise error rate.</a:t>
            </a:r>
            <a:endParaRPr lang="en-US" sz="1400" dirty="0"/>
          </a:p>
          <a:p>
            <a:pPr indent="0" marL="0">
              <a:spcAft>
                <a:spcPts val="600"/>
              </a:spcAft>
              <a:buNone/>
            </a:pPr>
            <a:endParaRPr lang="en-US" sz="1400" dirty="0"/>
          </a:p>
          <a:p>
            <a:pPr indent="0" marL="0">
              <a:spcAft>
                <a:spcPts val="600"/>
              </a:spcAft>
              <a:buNone/>
            </a:pPr>
            <a:r>
              <a:rPr lang="en-US" sz="1400" i="1" dirty="0">
                <a:solidFill>
                  <a:srgbClr val="1E293B"/>
                </a:solidFill>
                <a:latin typeface="Calibri" pitchFamily="34" charset="0"/>
                <a:ea typeface="Calibri" pitchFamily="34" charset="-122"/>
                <a:cs typeface="Calibri" pitchFamily="34" charset="-120"/>
              </a:rPr>
              <a:t>Think of it as: ANOVA is the screening test, Tukey is the follow-up that pinpoints where the differences are.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Wrap-Up Checklist (Exam Ready)</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 / 36</a:t>
            </a:r>
            <a:endParaRPr lang="en-US" sz="900" dirty="0"/>
          </a:p>
        </p:txBody>
      </p:sp>
      <p:sp>
        <p:nvSpPr>
          <p:cNvPr id="7" name="Shape 4"/>
          <p:cNvSpPr/>
          <p:nvPr/>
        </p:nvSpPr>
        <p:spPr>
          <a:xfrm>
            <a:off x="457200" y="960120"/>
            <a:ext cx="822960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640080" y="1051560"/>
            <a:ext cx="365760" cy="365760"/>
          </a:xfrm>
          <a:prstGeom prst="ellipse">
            <a:avLst/>
          </a:prstGeom>
          <a:solidFill>
            <a:srgbClr val="065A82"/>
          </a:solidFill>
          <a:ln/>
        </p:spPr>
      </p:sp>
      <p:sp>
        <p:nvSpPr>
          <p:cNvPr id="9" name="Text 6"/>
          <p:cNvSpPr/>
          <p:nvPr/>
        </p:nvSpPr>
        <p:spPr>
          <a:xfrm>
            <a:off x="640080" y="1051560"/>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0" name="Text 7"/>
          <p:cNvSpPr/>
          <p:nvPr/>
        </p:nvSpPr>
        <p:spPr>
          <a:xfrm>
            <a:off x="1188720" y="1005840"/>
            <a:ext cx="722376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Identify: response variable, factors, levels, cells</a:t>
            </a:r>
            <a:endParaRPr lang="en-US" sz="1400" dirty="0"/>
          </a:p>
        </p:txBody>
      </p:sp>
      <p:sp>
        <p:nvSpPr>
          <p:cNvPr id="11" name="Shape 8"/>
          <p:cNvSpPr/>
          <p:nvPr/>
        </p:nvSpPr>
        <p:spPr>
          <a:xfrm>
            <a:off x="457200" y="1618488"/>
            <a:ext cx="822960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640080" y="1709928"/>
            <a:ext cx="365760" cy="365760"/>
          </a:xfrm>
          <a:prstGeom prst="ellipse">
            <a:avLst/>
          </a:prstGeom>
          <a:solidFill>
            <a:srgbClr val="065A82"/>
          </a:solidFill>
          <a:ln/>
        </p:spPr>
      </p:sp>
      <p:sp>
        <p:nvSpPr>
          <p:cNvPr id="13" name="Text 10"/>
          <p:cNvSpPr/>
          <p:nvPr/>
        </p:nvSpPr>
        <p:spPr>
          <a:xfrm>
            <a:off x="640080" y="1709928"/>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4" name="Text 11"/>
          <p:cNvSpPr/>
          <p:nvPr/>
        </p:nvSpPr>
        <p:spPr>
          <a:xfrm>
            <a:off x="1188720" y="1664208"/>
            <a:ext cx="722376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Write hypotheses for: interaction, Factor A, Factor B</a:t>
            </a:r>
            <a:endParaRPr lang="en-US" sz="1400" dirty="0"/>
          </a:p>
        </p:txBody>
      </p:sp>
      <p:sp>
        <p:nvSpPr>
          <p:cNvPr id="15" name="Shape 12"/>
          <p:cNvSpPr/>
          <p:nvPr/>
        </p:nvSpPr>
        <p:spPr>
          <a:xfrm>
            <a:off x="457200" y="2276856"/>
            <a:ext cx="822960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3"/>
          <p:cNvSpPr/>
          <p:nvPr/>
        </p:nvSpPr>
        <p:spPr>
          <a:xfrm>
            <a:off x="640080" y="2368296"/>
            <a:ext cx="365760" cy="365760"/>
          </a:xfrm>
          <a:prstGeom prst="ellipse">
            <a:avLst/>
          </a:prstGeom>
          <a:solidFill>
            <a:srgbClr val="065A82"/>
          </a:solidFill>
          <a:ln/>
        </p:spPr>
      </p:sp>
      <p:sp>
        <p:nvSpPr>
          <p:cNvPr id="17" name="Text 14"/>
          <p:cNvSpPr/>
          <p:nvPr/>
        </p:nvSpPr>
        <p:spPr>
          <a:xfrm>
            <a:off x="640080" y="2368296"/>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8" name="Text 15"/>
          <p:cNvSpPr/>
          <p:nvPr/>
        </p:nvSpPr>
        <p:spPr>
          <a:xfrm>
            <a:off x="1188720" y="2322576"/>
            <a:ext cx="722376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Check assumptions + state HOW you checked them</a:t>
            </a:r>
            <a:endParaRPr lang="en-US" sz="1400" dirty="0"/>
          </a:p>
        </p:txBody>
      </p:sp>
      <p:sp>
        <p:nvSpPr>
          <p:cNvPr id="19" name="Shape 16"/>
          <p:cNvSpPr/>
          <p:nvPr/>
        </p:nvSpPr>
        <p:spPr>
          <a:xfrm>
            <a:off x="457200" y="2935224"/>
            <a:ext cx="822960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7"/>
          <p:cNvSpPr/>
          <p:nvPr/>
        </p:nvSpPr>
        <p:spPr>
          <a:xfrm>
            <a:off x="640080" y="3026664"/>
            <a:ext cx="365760" cy="365760"/>
          </a:xfrm>
          <a:prstGeom prst="ellipse">
            <a:avLst/>
          </a:prstGeom>
          <a:solidFill>
            <a:srgbClr val="065A82"/>
          </a:solidFill>
          <a:ln/>
        </p:spPr>
      </p:sp>
      <p:sp>
        <p:nvSpPr>
          <p:cNvPr id="21" name="Text 18"/>
          <p:cNvSpPr/>
          <p:nvPr/>
        </p:nvSpPr>
        <p:spPr>
          <a:xfrm>
            <a:off x="640080" y="3026664"/>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2" name="Text 19"/>
          <p:cNvSpPr/>
          <p:nvPr/>
        </p:nvSpPr>
        <p:spPr>
          <a:xfrm>
            <a:off x="1188720" y="2980944"/>
            <a:ext cx="722376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Read ANOVA table: df, MS, F, p-value</a:t>
            </a:r>
            <a:endParaRPr lang="en-US" sz="1400" dirty="0"/>
          </a:p>
        </p:txBody>
      </p:sp>
      <p:sp>
        <p:nvSpPr>
          <p:cNvPr id="23" name="Shape 20"/>
          <p:cNvSpPr/>
          <p:nvPr/>
        </p:nvSpPr>
        <p:spPr>
          <a:xfrm>
            <a:off x="457200" y="3593592"/>
            <a:ext cx="822960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21"/>
          <p:cNvSpPr/>
          <p:nvPr/>
        </p:nvSpPr>
        <p:spPr>
          <a:xfrm>
            <a:off x="640080" y="3685032"/>
            <a:ext cx="365760" cy="365760"/>
          </a:xfrm>
          <a:prstGeom prst="ellipse">
            <a:avLst/>
          </a:prstGeom>
          <a:solidFill>
            <a:srgbClr val="065A82"/>
          </a:solidFill>
          <a:ln/>
        </p:spPr>
      </p:sp>
      <p:sp>
        <p:nvSpPr>
          <p:cNvPr id="25" name="Text 22"/>
          <p:cNvSpPr/>
          <p:nvPr/>
        </p:nvSpPr>
        <p:spPr>
          <a:xfrm>
            <a:off x="640080" y="36850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6" name="Text 23"/>
          <p:cNvSpPr/>
          <p:nvPr/>
        </p:nvSpPr>
        <p:spPr>
          <a:xfrm>
            <a:off x="1188720" y="3639312"/>
            <a:ext cx="722376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Correct interpretation: interaction first → then main effects</a:t>
            </a:r>
            <a:endParaRPr lang="en-US" sz="1400" dirty="0"/>
          </a:p>
        </p:txBody>
      </p:sp>
      <p:sp>
        <p:nvSpPr>
          <p:cNvPr id="27" name="Shape 24"/>
          <p:cNvSpPr/>
          <p:nvPr/>
        </p:nvSpPr>
        <p:spPr>
          <a:xfrm>
            <a:off x="457200" y="4251960"/>
            <a:ext cx="8229600" cy="5486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8" name="Shape 25"/>
          <p:cNvSpPr/>
          <p:nvPr/>
        </p:nvSpPr>
        <p:spPr>
          <a:xfrm>
            <a:off x="640080" y="4343400"/>
            <a:ext cx="365760" cy="365760"/>
          </a:xfrm>
          <a:prstGeom prst="ellipse">
            <a:avLst/>
          </a:prstGeom>
          <a:solidFill>
            <a:srgbClr val="065A82"/>
          </a:solidFill>
          <a:ln/>
        </p:spPr>
      </p:sp>
      <p:sp>
        <p:nvSpPr>
          <p:cNvPr id="29" name="Text 26"/>
          <p:cNvSpPr/>
          <p:nvPr/>
        </p:nvSpPr>
        <p:spPr>
          <a:xfrm>
            <a:off x="640080" y="4343400"/>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30" name="Text 27"/>
          <p:cNvSpPr/>
          <p:nvPr/>
        </p:nvSpPr>
        <p:spPr>
          <a:xfrm>
            <a:off x="1188720" y="4297680"/>
            <a:ext cx="7223760" cy="4572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Write conclusion in context (use variable names, not “A” and “B”)</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2D48"/>
        </a:solidFill>
      </p:bgPr>
    </p:bg>
    <p:spTree>
      <p:nvGrpSpPr>
        <p:cNvPr id="1" name=""/>
        <p:cNvGrpSpPr/>
        <p:nvPr/>
      </p:nvGrpSpPr>
      <p:grpSpPr>
        <a:xfrm>
          <a:off x="0" y="0"/>
          <a:ext cx="0" cy="0"/>
          <a:chOff x="0" y="0"/>
          <a:chExt cx="0" cy="0"/>
        </a:xfrm>
      </p:grpSpPr>
      <p:sp>
        <p:nvSpPr>
          <p:cNvPr id="2" name="Shape 0"/>
          <p:cNvSpPr/>
          <p:nvPr/>
        </p:nvSpPr>
        <p:spPr>
          <a:xfrm>
            <a:off x="4023360" y="1188720"/>
            <a:ext cx="1097280" cy="1097280"/>
          </a:xfrm>
          <a:prstGeom prst="ellipse">
            <a:avLst/>
          </a:prstGeom>
          <a:solidFill>
            <a:srgbClr val="1C7293"/>
          </a:solidFill>
          <a:ln/>
        </p:spPr>
      </p:sp>
      <p:pic>
        <p:nvPicPr>
          <p:cNvPr id="3" name="Image 0" descr="preencoded.png">    </p:cNvPr>
          <p:cNvPicPr>
            <a:picLocks noChangeAspect="1"/>
          </p:cNvPicPr>
          <p:nvPr/>
        </p:nvPicPr>
        <p:blipFill>
          <a:blip r:embed="rId1"/>
          <a:stretch>
            <a:fillRect/>
          </a:stretch>
        </p:blipFill>
        <p:spPr>
          <a:xfrm>
            <a:off x="4242816" y="1408176"/>
            <a:ext cx="658368" cy="658368"/>
          </a:xfrm>
          <a:prstGeom prst="rect">
            <a:avLst/>
          </a:prstGeom>
        </p:spPr>
      </p:pic>
      <p:sp>
        <p:nvSpPr>
          <p:cNvPr id="4" name="Text 1"/>
          <p:cNvSpPr/>
          <p:nvPr/>
        </p:nvSpPr>
        <p:spPr>
          <a:xfrm>
            <a:off x="457200" y="2468880"/>
            <a:ext cx="82296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Practice Questions</a:t>
            </a:r>
            <a:endParaRPr lang="en-US" sz="3600" dirty="0"/>
          </a:p>
        </p:txBody>
      </p:sp>
      <p:sp>
        <p:nvSpPr>
          <p:cNvPr id="5" name="Text 2"/>
          <p:cNvSpPr/>
          <p:nvPr/>
        </p:nvSpPr>
        <p:spPr>
          <a:xfrm>
            <a:off x="914400" y="3200400"/>
            <a:ext cx="7315200" cy="457200"/>
          </a:xfrm>
          <a:prstGeom prst="rect">
            <a:avLst/>
          </a:prstGeom>
          <a:noFill/>
          <a:ln/>
        </p:spPr>
        <p:txBody>
          <a:bodyPr wrap="square" rtlCol="0" anchor="ctr"/>
          <a:lstStyle/>
          <a:p>
            <a:pPr algn="ctr" indent="0" marL="0">
              <a:buNone/>
            </a:pPr>
            <a:r>
              <a:rPr lang="en-US" sz="1600" dirty="0">
                <a:solidFill>
                  <a:srgbClr val="BAE6FD"/>
                </a:solidFill>
                <a:latin typeface="Calibri" pitchFamily="34" charset="0"/>
                <a:ea typeface="Calibri" pitchFamily="34" charset="-122"/>
                <a:cs typeface="Calibri" pitchFamily="34" charset="-120"/>
              </a:rPr>
              <a:t>Test your understanding</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 / 36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Practice Question 1</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 / 36</a:t>
            </a:r>
            <a:endParaRPr lang="en-US" sz="900" dirty="0"/>
          </a:p>
        </p:txBody>
      </p:sp>
      <p:sp>
        <p:nvSpPr>
          <p:cNvPr id="7" name="Shape 4"/>
          <p:cNvSpPr/>
          <p:nvPr/>
        </p:nvSpPr>
        <p:spPr>
          <a:xfrm>
            <a:off x="457200" y="1005840"/>
            <a:ext cx="822960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51560"/>
            <a:ext cx="777240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Given this partial ANOVA output, fill in the missing values:</a:t>
            </a:r>
            <a:endParaRPr lang="en-US" sz="15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914400" y="1463040"/>
          <a:ext cx="7315200" cy="914400"/>
        </p:xfrm>
        <a:graphic>
          <a:graphicData uri="http://schemas.openxmlformats.org/drawingml/2006/table">
            <a:tbl>
              <a:tblPr/>
              <a:tblGrid>
                <a:gridCol w="1097280"/>
                <a:gridCol w="1371600"/>
                <a:gridCol w="1097280"/>
                <a:gridCol w="1371600"/>
                <a:gridCol w="1371600"/>
              </a:tblGrid>
              <a:tr h="365760">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Source</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SS</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df</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MS</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F</a:t>
                      </a:r>
                      <a:endParaRPr lang="en-US" sz="1200" dirty="0">
                        <a:latin typeface="Georgia" charset="0"/>
                        <a:ea typeface="Georgia" charset="0"/>
                        <a:cs typeface="Georgia"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065A82"/>
                    </a:solidFill>
                  </a:tcPr>
                </a:tc>
              </a:tr>
              <a:tr h="32004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r h="32004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r h="32004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A×B</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r>
              <a:tr h="32004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Error</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0F9FF"/>
                    </a:solidFill>
                  </a:tcPr>
                </a:tc>
              </a:tr>
              <a:tr h="320040">
                <a:tc>
                  <a:txBody>
                    <a:bodyPr/>
                    <a:lstStyle/>
                    <a:p>
                      <a:pPr algn="ctr" indent="0" marL="0">
                        <a:buNone/>
                      </a:pPr>
                      <a:r>
                        <a:rPr lang="en-US" sz="1200" b="1" dirty="0">
                          <a:solidFill>
                            <a:srgbClr val="1E293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r>
                        <a:rPr lang="en-US" sz="1200" b="1" dirty="0">
                          <a:solidFill>
                            <a:srgbClr val="EF44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E0F2F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BAE6FD"/>
                      </a:solidFill>
                      <a:prstDash val="solid"/>
                      <a:round/>
                      <a:headEnd type="none" w="med" len="med"/>
                      <a:tailEnd type="none" w="med" len="med"/>
                    </a:lnL>
                    <a:lnR w="12700" cap="flat" cmpd="sng" algn="ctr">
                      <a:solidFill>
                        <a:srgbClr val="BAE6FD"/>
                      </a:solidFill>
                      <a:prstDash val="solid"/>
                      <a:round/>
                      <a:headEnd type="none" w="med" len="med"/>
                      <a:tailEnd type="none" w="med" len="med"/>
                    </a:lnR>
                    <a:lnT w="12700" cap="flat" cmpd="sng" algn="ctr">
                      <a:solidFill>
                        <a:srgbClr val="BAE6FD"/>
                      </a:solidFill>
                      <a:prstDash val="solid"/>
                      <a:round/>
                      <a:headEnd type="none" w="med" len="med"/>
                      <a:tailEnd type="none" w="med" len="med"/>
                    </a:lnT>
                    <a:lnB w="12700" cap="flat" cmpd="sng" algn="ctr">
                      <a:solidFill>
                        <a:srgbClr val="BAE6FD"/>
                      </a:solidFill>
                      <a:prstDash val="solid"/>
                      <a:round/>
                      <a:headEnd type="none" w="med" len="med"/>
                      <a:tailEnd type="none" w="med" len="med"/>
                    </a:lnB>
                    <a:solidFill>
                      <a:srgbClr val="FFFFFF"/>
                    </a:solidFill>
                  </a:tcPr>
                </a:tc>
              </a:tr>
            </a:tbl>
          </a:graphicData>
        </a:graphic>
      </p:graphicFrame>
      <p:sp>
        <p:nvSpPr>
          <p:cNvPr id="10" name="Text 6"/>
          <p:cNvSpPr/>
          <p:nvPr/>
        </p:nvSpPr>
        <p:spPr>
          <a:xfrm>
            <a:off x="457200" y="3840480"/>
            <a:ext cx="8229600" cy="365760"/>
          </a:xfrm>
          <a:prstGeom prst="rect">
            <a:avLst/>
          </a:prstGeom>
          <a:noFill/>
          <a:ln/>
        </p:spPr>
        <p:txBody>
          <a:bodyPr wrap="square"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Hint: MS = SS/df, F = MS/MSᵉ, and dfₐᵇ = (a−1)(b−1)</a:t>
            </a:r>
            <a:endParaRPr lang="en-US" sz="1300" dirty="0"/>
          </a:p>
        </p:txBody>
      </p:sp>
      <p:sp>
        <p:nvSpPr>
          <p:cNvPr id="11" name="Shape 7"/>
          <p:cNvSpPr/>
          <p:nvPr/>
        </p:nvSpPr>
        <p:spPr>
          <a:xfrm>
            <a:off x="457200" y="4297680"/>
            <a:ext cx="8229600" cy="73152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2" name="Text 8"/>
          <p:cNvSpPr/>
          <p:nvPr/>
        </p:nvSpPr>
        <p:spPr>
          <a:xfrm>
            <a:off x="640080" y="4343400"/>
            <a:ext cx="7772400" cy="64008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Answers: </a:t>
            </a:r>
            <a:pPr indent="0" marL="0">
              <a:buNone/>
            </a:pPr>
            <a:r>
              <a:rPr lang="en-US" sz="1200" dirty="0">
                <a:solidFill>
                  <a:srgbClr val="1E293B"/>
                </a:solidFill>
                <a:latin typeface="Calibri" pitchFamily="34" charset="0"/>
                <a:ea typeface="Calibri" pitchFamily="34" charset="-122"/>
                <a:cs typeface="Calibri" pitchFamily="34" charset="-120"/>
              </a:rPr>
              <a:t>MSₐ=40, Fₐ=8. SSᵇ=45, Fᵇ=3. dfₐᵇ=6, MSₐᵇ=10, Fₐᵇ=2. MSᵉ=5. SSₜ=305, dfₜ=35.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p:spPr>
      </p:sp>
      <p:sp>
        <p:nvSpPr>
          <p:cNvPr id="3" name="Shape 1"/>
          <p:cNvSpPr/>
          <p:nvPr/>
        </p:nvSpPr>
        <p:spPr>
          <a:xfrm>
            <a:off x="457200" y="274320"/>
            <a:ext cx="457200" cy="457200"/>
          </a:xfrm>
          <a:prstGeom prst="ellipse">
            <a:avLst/>
          </a:prstGeom>
          <a:solidFill>
            <a:srgbClr val="065A82"/>
          </a:solidFill>
          <a:ln/>
        </p:spPr>
      </p:sp>
      <p:pic>
        <p:nvPicPr>
          <p:cNvPr id="4" name="Image 0" descr="preencoded.png">    </p:cNvPr>
          <p:cNvPicPr>
            <a:picLocks noChangeAspect="1"/>
          </p:cNvPicPr>
          <p:nvPr/>
        </p:nvPicPr>
        <p:blipFill>
          <a:blip r:embed="rId1"/>
          <a:stretch>
            <a:fillRect/>
          </a:stretch>
        </p:blipFill>
        <p:spPr>
          <a:xfrm>
            <a:off x="548640" y="365760"/>
            <a:ext cx="274320" cy="274320"/>
          </a:xfrm>
          <a:prstGeom prst="rect">
            <a:avLst/>
          </a:prstGeom>
        </p:spPr>
      </p:pic>
      <p:sp>
        <p:nvSpPr>
          <p:cNvPr id="5" name="Text 2"/>
          <p:cNvSpPr/>
          <p:nvPr/>
        </p:nvSpPr>
        <p:spPr>
          <a:xfrm>
            <a:off x="1051560" y="274320"/>
            <a:ext cx="73152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Practice Question 2</a:t>
            </a:r>
            <a:endParaRPr lang="en-US" sz="24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 / 36</a:t>
            </a:r>
            <a:endParaRPr lang="en-US" sz="900" dirty="0"/>
          </a:p>
        </p:txBody>
      </p:sp>
      <p:sp>
        <p:nvSpPr>
          <p:cNvPr id="7" name="Shape 4"/>
          <p:cNvSpPr/>
          <p:nvPr/>
        </p:nvSpPr>
        <p:spPr>
          <a:xfrm>
            <a:off x="457200" y="1005840"/>
            <a:ext cx="8229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5"/>
          <p:cNvSpPr/>
          <p:nvPr/>
        </p:nvSpPr>
        <p:spPr>
          <a:xfrm>
            <a:off x="640080" y="1051560"/>
            <a:ext cx="777240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 researcher studies the effect of Exercise Type (cardio, strength, yoga) and Diet (low-carb, balanced) on weight loss (lbs). The ANOVA results at α = 0.05 are:</a:t>
            </a:r>
            <a:endParaRPr lang="en-US" sz="1400" dirty="0"/>
          </a:p>
        </p:txBody>
      </p:sp>
      <p:sp>
        <p:nvSpPr>
          <p:cNvPr id="9" name="Text 6"/>
          <p:cNvSpPr/>
          <p:nvPr/>
        </p:nvSpPr>
        <p:spPr>
          <a:xfrm>
            <a:off x="1097280" y="1737360"/>
            <a:ext cx="6858000" cy="914400"/>
          </a:xfrm>
          <a:prstGeom prst="rect">
            <a:avLst/>
          </a:prstGeom>
          <a:noFill/>
          <a:ln/>
        </p:spPr>
        <p:txBody>
          <a:bodyPr wrap="square" lIns="0" tIns="0" rIns="0" bIns="0" rtlCol="0" anchor="ctr"/>
          <a:lstStyle/>
          <a:p>
            <a:pPr indent="0" marL="0">
              <a:spcAft>
                <a:spcPts val="600"/>
              </a:spcAft>
              <a:buNone/>
            </a:pPr>
            <a:r>
              <a:rPr lang="en-US" sz="1400" b="1" dirty="0">
                <a:solidFill>
                  <a:srgbClr val="1E293B"/>
                </a:solidFill>
                <a:latin typeface="Calibri" pitchFamily="34" charset="0"/>
                <a:ea typeface="Calibri" pitchFamily="34" charset="-122"/>
                <a:cs typeface="Calibri" pitchFamily="34" charset="-120"/>
              </a:rPr>
              <a:t>Interaction: F = 5.12, p = 0.009</a:t>
            </a:r>
            <a:endParaRPr lang="en-US" sz="1400" dirty="0"/>
          </a:p>
          <a:p>
            <a:pPr indent="0" marL="0">
              <a:spcAft>
                <a:spcPts val="600"/>
              </a:spcAft>
              <a:buNone/>
            </a:pPr>
            <a:r>
              <a:rPr lang="en-US" sz="1400" b="1" dirty="0">
                <a:solidFill>
                  <a:srgbClr val="1E293B"/>
                </a:solidFill>
                <a:latin typeface="Calibri" pitchFamily="34" charset="0"/>
                <a:ea typeface="Calibri" pitchFamily="34" charset="-122"/>
                <a:cs typeface="Calibri" pitchFamily="34" charset="-120"/>
              </a:rPr>
              <a:t>Exercise Type: F = 12.45, p &lt; 0.001</a:t>
            </a:r>
            <a:endParaRPr lang="en-US" sz="1400" dirty="0"/>
          </a:p>
          <a:p>
            <a:pPr indent="0" marL="0">
              <a:spcAft>
                <a:spcPts val="600"/>
              </a:spcAft>
              <a:buNone/>
            </a:pPr>
            <a:r>
              <a:rPr lang="en-US" sz="1400" b="1" dirty="0">
                <a:solidFill>
                  <a:srgbClr val="1E293B"/>
                </a:solidFill>
                <a:latin typeface="Calibri" pitchFamily="34" charset="0"/>
                <a:ea typeface="Calibri" pitchFamily="34" charset="-122"/>
                <a:cs typeface="Calibri" pitchFamily="34" charset="-120"/>
              </a:rPr>
              <a:t>Diet: F = 3.87, p = 0.054</a:t>
            </a:r>
            <a:endParaRPr lang="en-US" sz="1400" dirty="0"/>
          </a:p>
        </p:txBody>
      </p:sp>
      <p:sp>
        <p:nvSpPr>
          <p:cNvPr id="10" name="Text 7"/>
          <p:cNvSpPr/>
          <p:nvPr/>
        </p:nvSpPr>
        <p:spPr>
          <a:xfrm>
            <a:off x="640080" y="3017520"/>
            <a:ext cx="7772400" cy="914400"/>
          </a:xfrm>
          <a:prstGeom prst="rect">
            <a:avLst/>
          </a:prstGeom>
          <a:noFill/>
          <a:ln/>
        </p:spPr>
        <p:txBody>
          <a:bodyPr wrap="square" lIns="0" tIns="0" rIns="0" bIns="0" rtlCol="0" anchor="ctr"/>
          <a:lstStyle/>
          <a:p>
            <a:pPr indent="0" marL="0">
              <a:spcAft>
                <a:spcPts val="600"/>
              </a:spcAft>
              <a:buNone/>
            </a:pPr>
            <a:r>
              <a:rPr lang="en-US" sz="1400" b="1" dirty="0">
                <a:solidFill>
                  <a:srgbClr val="065A82"/>
                </a:solidFill>
                <a:latin typeface="Calibri" pitchFamily="34" charset="0"/>
                <a:ea typeface="Calibri" pitchFamily="34" charset="-122"/>
                <a:cs typeface="Calibri" pitchFamily="34" charset="-120"/>
              </a:rPr>
              <a:t>(a) </a:t>
            </a:r>
            <a:pPr indent="0" marL="0">
              <a:spcAft>
                <a:spcPts val="600"/>
              </a:spcAft>
              <a:buNone/>
            </a:pPr>
            <a:r>
              <a:rPr lang="en-US" sz="1400" dirty="0">
                <a:solidFill>
                  <a:srgbClr val="1E293B"/>
                </a:solidFill>
                <a:latin typeface="Calibri" pitchFamily="34" charset="0"/>
                <a:ea typeface="Calibri" pitchFamily="34" charset="-122"/>
                <a:cs typeface="Calibri" pitchFamily="34" charset="-120"/>
              </a:rPr>
              <a:t>Is the interaction significant? What does this mean in context?</a:t>
            </a:r>
            <a:endParaRPr lang="en-US" sz="1400" dirty="0"/>
          </a:p>
          <a:p>
            <a:pPr indent="0" marL="0">
              <a:spcAft>
                <a:spcPts val="600"/>
              </a:spcAft>
              <a:buNone/>
            </a:pPr>
            <a:r>
              <a:rPr lang="en-US" sz="1400" b="1" dirty="0">
                <a:solidFill>
                  <a:srgbClr val="065A82"/>
                </a:solidFill>
                <a:latin typeface="Calibri" pitchFamily="34" charset="0"/>
                <a:ea typeface="Calibri" pitchFamily="34" charset="-122"/>
                <a:cs typeface="Calibri" pitchFamily="34" charset="-120"/>
              </a:rPr>
              <a:t>(b) </a:t>
            </a:r>
            <a:pPr indent="0" marL="0">
              <a:spcAft>
                <a:spcPts val="600"/>
              </a:spcAft>
              <a:buNone/>
            </a:pPr>
            <a:r>
              <a:rPr lang="en-US" sz="1400" dirty="0">
                <a:solidFill>
                  <a:srgbClr val="1E293B"/>
                </a:solidFill>
                <a:latin typeface="Calibri" pitchFamily="34" charset="0"/>
                <a:ea typeface="Calibri" pitchFamily="34" charset="-122"/>
                <a:cs typeface="Calibri" pitchFamily="34" charset="-120"/>
              </a:rPr>
              <a:t>Should you interpret the main effects directly? Why or why not?</a:t>
            </a:r>
            <a:endParaRPr lang="en-US" sz="1400" dirty="0"/>
          </a:p>
          <a:p>
            <a:pPr indent="0" marL="0">
              <a:spcAft>
                <a:spcPts val="600"/>
              </a:spcAft>
              <a:buNone/>
            </a:pPr>
            <a:r>
              <a:rPr lang="en-US" sz="1400" b="1" dirty="0">
                <a:solidFill>
                  <a:srgbClr val="065A82"/>
                </a:solidFill>
                <a:latin typeface="Calibri" pitchFamily="34" charset="0"/>
                <a:ea typeface="Calibri" pitchFamily="34" charset="-122"/>
                <a:cs typeface="Calibri" pitchFamily="34" charset="-120"/>
              </a:rPr>
              <a:t>(c) </a:t>
            </a:r>
            <a:pPr indent="0" marL="0">
              <a:spcAft>
                <a:spcPts val="600"/>
              </a:spcAft>
              <a:buNone/>
            </a:pPr>
            <a:r>
              <a:rPr lang="en-US" sz="1400" dirty="0">
                <a:solidFill>
                  <a:srgbClr val="1E293B"/>
                </a:solidFill>
                <a:latin typeface="Calibri" pitchFamily="34" charset="0"/>
                <a:ea typeface="Calibri" pitchFamily="34" charset="-122"/>
                <a:cs typeface="Calibri" pitchFamily="34" charset="-120"/>
              </a:rPr>
              <a:t>Write the conclusion sentence for the interaction test.</a:t>
            </a:r>
            <a:endParaRPr lang="en-US" sz="1400" dirty="0"/>
          </a:p>
        </p:txBody>
      </p:sp>
      <p:sp>
        <p:nvSpPr>
          <p:cNvPr id="11" name="Shape 8"/>
          <p:cNvSpPr/>
          <p:nvPr/>
        </p:nvSpPr>
        <p:spPr>
          <a:xfrm>
            <a:off x="457200" y="4114800"/>
            <a:ext cx="8229600" cy="914400"/>
          </a:xfrm>
          <a:prstGeom prst="rect">
            <a:avLst/>
          </a:prstGeom>
          <a:solidFill>
            <a:srgbClr val="E0F2FE"/>
          </a:solidFill>
          <a:ln/>
          <a:effectLst>
            <a:outerShdw sx="100000" sy="100000" kx="0" ky="0" algn="bl" rotWithShape="0" blurRad="76200" dist="25400" dir="8100000">
              <a:srgbClr val="000000">
                <a:alpha val="12000"/>
              </a:srgbClr>
            </a:outerShdw>
          </a:effectLst>
        </p:spPr>
      </p:sp>
      <p:sp>
        <p:nvSpPr>
          <p:cNvPr id="12" name="Text 9"/>
          <p:cNvSpPr/>
          <p:nvPr/>
        </p:nvSpPr>
        <p:spPr>
          <a:xfrm>
            <a:off x="640080" y="4160520"/>
            <a:ext cx="7772400" cy="82296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Answers: </a:t>
            </a:r>
            <a:pPr indent="0" marL="0">
              <a:buNone/>
            </a:pPr>
            <a:r>
              <a:rPr lang="en-US" sz="1100" dirty="0">
                <a:solidFill>
                  <a:srgbClr val="1E293B"/>
                </a:solidFill>
                <a:latin typeface="Calibri" pitchFamily="34" charset="0"/>
                <a:ea typeface="Calibri" pitchFamily="34" charset="-122"/>
                <a:cs typeface="Calibri" pitchFamily="34" charset="-120"/>
              </a:rPr>
              <a:t>(a) Yes, p=0.009 &lt; 0.05. The effect of exercise type on weight loss depends on diet. (b) No — interaction is significant, so main effects are misleading. Use simple effects. (c) "At α=0.05, there is evidence of an interaction between exercise type and diet on weight loss (F=5.12, p=0.009). The effect of exercise type depends on diet."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Two-Way ANOVA (Two Factors)</dc:title>
  <dc:subject>PptxGenJS Presentation</dc:subject>
  <dc:creator>Rhys</dc:creator>
  <cp:lastModifiedBy>Rhys</cp:lastModifiedBy>
  <cp:revision>1</cp:revision>
  <dcterms:created xsi:type="dcterms:W3CDTF">2026-03-04T00:12:31Z</dcterms:created>
  <dcterms:modified xsi:type="dcterms:W3CDTF">2026-03-04T00:12:31Z</dcterms:modified>
</cp:coreProperties>
</file>