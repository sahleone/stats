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This deck covers three connected topics over two weeks: the standard normal distribution, nonstandard normal distributions (which the homework focuses on), and the Central Limit Theorem. Remind students these concepts build on each other — you need z-scores before you can convert x to z, and you need both before CLT makes sense.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big picture before diving in. Emphasize that Part 2 (nonstandard normal) is the heaviest section and directly connected to their homework. The CLT builds on everything before it. Each part feeds into the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HOOK: Start class with this question: 'Imagine you measured the height of every person in this building and made a histogram. What shape would it be?' Let students answer. Then reveal that a Belgian astronomer asked the same question almost 200 years ago and accidentally discovered one of the most important patterns in all of statistics.
The Quetelet story is powerful because it shows this isn't abstract math — someone literally measured thousands of soldiers and the bell curve appeared naturally. The normal distribution wasn't invented, it was DISCOVERED in real data.
Fun fact: Quetelet was actually trained as an astronomer. He applied the same error-analysis tools from astronomy to human populations. This cross-disciplinary thinking is what made the breakthrough possible.
Transition to next slide: 'So what exactly ARE the properties of this curve that kept showing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by asking students: 'What shapes have you seen data take?' Most will mention bell curves from prior classes. Key teaching points: (1) the normal distribution is a MODEL — real data is approximately normal, (2) the two parameters μ and σ completely determine the shape, (3) the area = probability connection is the foundation for everything that follows. Common misconception: students think all data is normal. Emphasize this is a specific distribution with specific properties.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empirical rule is a quick estimation tool — students should memorize 68-95-99.7. Walk through the exam example: μ = 75, σ = 8, so 1σ = 67 to 83. Ask: 'If you scored 90, how unusual is that?' (Beyond 2σ above, so in the top ~2.5%). This builds intuition before we get precise with the z-table. Common misconception: students confuse 'within 2σ' with 'exactly at 2σ'.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standard normal is 'the one table to rule them all.' Students often ask 'why do we need z-scores?' The answer is that we'd need infinite tables for every possible μ and σ combination. Instead, we convert everything to z and use one table. Ask students: 'If z = 0, where are you on the curve?' (At the center/mean). 'If z = −1?' (One standard deviation below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formula slowly. Common errors: (1) students subtract in the wrong order (μ − x instead of x − μ), (2) they forget to divide by σ, (3) they mix up σ and σ². The quick example shows x = 85 on an exam with μ = 75, σ = 8. So this student scored 1.25 standard deviations above average. Ask: 'Is that good? How good?' — leads into the next slide about reading the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critical mechanical skill — spend time here. Have students open their tables and practice looking up values together. Common mistakes: (1) reading the wrong row (confusing 1.2 and 2.1), (2) forgetting that the table gives LEFT-tail area, (3) not knowing what to do when they need right-tail. Tip: have students highlight the z = 0 row (area = 0.5000) as an anchor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reference students will come back to repeatedly. Walk through each case with a concrete z-value. For Case 2, emphasize the complement rule: 'the total area is 1, so the right side is 1 minus the left side.' For Case 3: 'think of it as the big area minus the small area.' The tip about sketching first is critical — drawing the curve prevents most errors. Have students practice identifying which case before computing.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step slowly with students following along in their own tables. After completing this, ask: 'What would change if I asked for P(z &gt; 1.50)?' (Case 2: 1 − 0.9332 = 0.0668). 'What about P(z &lt; −1.20)?' (Already found it: 0.1151, that's Case 1 with a negative z). This reinforces all three cases in one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error on exams — reading the table value and forgetting to subtract from 1 for right-tail problems. Drill this: 'Table gives LEFT. If you want RIGHT, subtract from 1.' Have students say it aloud. Also note: if z is negative and you want P(z &gt; negative value), you still use 1 − table value, but the answer will be greater than 0.5 (which makes sense — you're asking for the area to the right of a point left of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P(z &lt; 2.33) = 0.9901 (read directly from table)
2. P(z &gt; −0.55) = 1 − P(z &lt; −0.55) = 1 − 0.2912 = 0.7088
3. P(0.40 &lt; z &lt; 2.10) = P(z &lt; 2.10) − P(z &lt; 0.40) = 0.9821 − 0.6554 = 0.3267
4. P(−1.96 &lt; z &lt; 1.96) = P(z &lt; 1.96) − P(z &lt; −1.96) = 0.9750 − 0.0250 = 0.9500
Note on #4: This is the famous 95% confidence interval boundary! Students will see ±1.96 again when they get to confidence intervals. Worth mentioning: 'Remember this number — you'll see it a 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slide — make sure students understand WHY we convert before drilling HOW. The key insight: we only have ONE table (Table 5, for the standard normal). If exam scores have μ = 75, σ = 8, there's no 'Table for Normal(75, 8).' We need to translate to the universal z-scale. Analogy: it's like converting currencies — whether you start with euros, yen, or pounds, you convert to one common currency (z) to compare.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procedure should become automatic for students. Emphasize step 1 — sketching the curve prevents most errors. Students who skip the sketch make more sign errors and case-identification errors. Have them practice: 'I will ALWAYS draw the curve first.' Also remind them: probabilities are always between 0 and 1. If they get a negative probability or something greater than 1, they made an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matches HW problem #5 exactly: P(3 ≤ x ≤ 6); μ = 4; σ = 2. Walk through each step deliberately. Point out that we converted a 'nonstandard' problem into the standard z-table problem from Part 1. The mechanics are the same — we just added the conversion step at the beginning. Ask students: 'Does 53% make sense? Where is the interval relative to the mean?' (It's from 0.5σ below to 1σ above — slightly more than half the curve, which checks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comparison helps students see the pattern. Left: straightforward table lookup (Case 1). Right: complement (Case 2). The only new step is the z-conversion at the beginning. Ask: 'Which is more likely — weighing less than 150 or more than 200?' (Less than 150 at 22.36% vs more than 200 at 16.60%). This builds intuition about where values fall relative to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mirrors HW #28 exactly. Walk through part (a) fully, then let students try (b) and (c) before revealing. Key discussion point: 'What do these probabilities tell us about police response?' About 80% of the time, response is 5–10 min. Very rarely under 5 min (2.28%). About 1 in 6 calls takes over 10 min. Ask: 'If you were the police chief, what would concern you about these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inverse problem reverses the direction. Instead of 'given x, find probability,' it's 'given probability, find x.' Students often struggle with this conceptual flip. Use the analogy: forward = 'I know the score, what percentile am I?' Inverse = 'I want to be in the 90th percentile, what score do I need?' This is a very practical skill — companies use it for warranties, schools use it for grade cutoffs.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inverse formula — just the z-score formula solved for x. Students sometimes try to use z = (x − μ)/σ directly for inverse problems and get confused. Emphasize: 'The table is used BACKWARDS — instead of looking up z to find area, you look up area to find z.' Key pitfall: students find the right z but use the wrong sign. If the area is less than 0.5, z must be negative.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inverse normal problem from the Brase textbook. Key teaching points: (1) 'No more than 7% refunded' means 7% in the left tail — these are the ones that fail early. (2) We round DOWN to 24 months, not up, because rounding up would mean MORE than 7% fail. (3) Ask students: 'What if the company wanted only 5% refunds? Would the guarantee be shorter or longer?' (Shorter — they'd need to cut off more of the left tail, meaning z is more negative, x is smaller).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'right tail' version of inverse normal. Key step: convert 'top 10%' to a left-tail area first (0.90). Common mistake: students look up 0.10 instead of 0.90 and get a negative z-score, which would give a score BELOW the mean — clearly wrong for the top 10%. Tip: always sanity-check. Top 10% should be ABOVE the mean, so x &gt; μ and z should be 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z₁=(10−15)/4=−1.25, z₂=(26−15)/4=2.75. P=P(z&lt;2.75)−P(z&lt;−1.25)=0.9970−0.1056=0.8914
2. z₁=(50−40)/15=0.67, z₂=(70−40)/15=2.00. P=0.9772−0.7486=0.2286
3. z₁=(7−5)/1.2=1.67, z₂=(9−5)/1.2=3.33. P=0.9996−0.9525=0.0471
4. This IS HW #28! z=(5−8.4)/1.7=−2.00, z=(10−8.4)/1.7=0.94. P(x&lt;5)=0.0228, P(5&lt;x&lt;10)=0.8264−0.0228=0.8036, P(x&gt;10)=1−0.8264=0.1736
5. Look up 0.0800 → closest 0.0793 → z=−1.41. x=(−1.41)(40)+500=443.6 → guarantee 443 hours
Problems 1-3 match HW #5-8 format. Problem 4 matches HW #28. Problem 5 is an inverse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foundation for CLT. Before stating the theorem, build intuition. Ask students: 'If I weigh one random person, might they weigh 250 lbs?' (Sure.) 'If I average 30 people, will the average be 250?' (Very unlikely.) That's the key insight — averages are more predictable than individuals. The distribution of sample means is NARROWER than the distribution of individuals. This is why we use σ/√n instead of 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Sampling distributions are a conceptual leap for students. Emphasize: we're not talking about one sample — we're imagining ALL possible samples of size n. Each gives a mean. Plot all those means. That distribution has predictable properties. The standard error σ/√n gets smaller as n increases, meaning larger samples give more precise estimates. This is WHY bigger samples are better.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 theorem of the course. Point #3 is the remarkable part — it doesn't matter if the population is skewed, uniform, bimodal, or any other shape. As long as n is large enough, x̄ will be approximately normal. This is why the normal distribution is so central to statistics. Ask: 'Why is this so powerful?' Because it means we can use normal probability methods for sample means from ANY population.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σ = 29 (men's weights from earlier examples) makes this concrete. Walk through: with n = 1, you get the full spread. With n = 100, the standard error is only 2.90 — sample means will cluster tightly around μ. This is why political polls use large samples. Key insight: the reduction follows a square root — to cut the error in HALF, you need to QUADRUPLE the sample size (not double it). This has practical implications for study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visual is the 'aha moment' for CLT. Point to the wide blue curve: 'That's what happens when we look at individuals — lots of spread.' Then the darker curves: 'As we average more people, the curve gets narrower and taller. With n = 100, almost all sample means cluster right near μ.'
Key discussion: 'Could a single person weigh 250 lbs?' (Yes, the blue curve extends far.) 'Could the AVERAGE of 100 people be 250?' (Essentially impossible — the dark curve has almost no area that far out.) That's the CLT in action.
Connect to the table from the previous slide: n = 1 has σ_x̄ = 29, n = 100 has σ_x̄ = 2.90. This picture IS those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need to know WHEN they can use CLT on exams. The decision guide is key: (1) Check if population is normal → if yes, CLT works for any n. (2) If not normal or unknown → need n &gt; 30. (3) If neither condition is met, CLT doesn't apply. Common exam question: 'Can you use CLT here?' where they give a small n from a non-normal population. Answer: No. Also note: 30 is a rule of thumb, not a magic number. The more skewed the population, the larger n needs to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exam mistake with CLT — students use σ when they should use σ/√n, or vice versa. The trigger word is 'mean' or 'average.' If the problem says 'a sample of 20 has a mean weight,' use σ/√n. If it says 'one person is selected,' use σ. Read the problem out loud and identify: am I finding the probability for ONE thing or an AVERAGE? Post this distinction visually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'before CLT' part — solving for an individual uses the methods from Part 2 (nonstandard normal). Nothing new here except setting up the comparison for the next slide. Point out: z = 0.10 is tiny, meaning 175 is barely above the mean. So we'd expect close to 50% to be above it — and indeed 46.02% is close to 50%. This is a good sanity check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 same numbers, different answer, because we use σ/√n. The z-score jumped from 0.10 to 0.46 even though the numerator (175 − 172 = 3) is the same. That's entirely because the denominator shrank from 29 to 6.49. Make the comparison explicit: 46% vs 32%. 'It's much harder for a GROUP average to be extreme than for one individual to be extreme.' This is the core insight of CLT. Water taxi context: with 20 men, there's about a 32% chance the boat is overloaded — that's pretty concerning for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connects CLT to hypothesis testing (which comes next in the course). The logic: if the machine is working (μ = 12), getting x̄ &lt; 11.8 is VERY unlikely (0.82%). So if it DOES happen, we doubt the machine is working correctly. This is the foundation of hypothesis testing. Note: z = −2.40 is very far from zero — that's the power of large n. With n = 36, even a small difference (0.2 oz) from the mean is highly detectable.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z = (66−64)/3 = 0.67. P(z &gt; 0.67) = 1 − 0.7486 = 0.2514 (about 25%)
2. σ_x̄ = 3/√25 = 0.6. z = (66−64)/0.6 = 3.33. P(z &gt; 3.33) = 1 − 0.9996 = 0.0004 (nearly impossible!)
3. σ_x̄ = 8/√40 = 1.265. z = (48−50)/1.265 = −1.58. P(z &lt; −1.58) = 0.0571 (about 5.7%)
4. n = 10: NO — population is not normal and n ≤ 30. n = 50: YES — n &gt; 30, so CLT applies regardless of population shape.
Compare #1 and #2: same question, huge difference. Individual = 25%, sample mean = 0.04%. This dramatically shows the CLT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bridges to the Ch. 6 review problems on the HW. Students need to remember:
- μ = np gives the expected number of successes
- σ = √(npq) gives the spread
- The 2.5σ rule determines if a result is unusual
HW #3: Expected value of a probability distribution = the mean (answer: c)
HW #7a: n=10, p=0.2. μ=2, σ=1.265. Upper bound = 5.16. So &gt;5 successes is unusual (barely).
HW #7b: n=10, p=0.2 (guessing on 5-choice questions). More than 5 correct? μ+2.5σ = 5.16, so yes, &gt;5 is unusual. You'd be very unlikely to pass by guessing.
HW #12: Binomial with n=20 pens. Use binomial formula or table.
HW #13: n=16, p=0.5. μ=8, σ=2. For P(x≥12) and P(x≤7), use binomial tables or normal approximation.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cheat sheet slide — students will want to photograph this. Emphasize the decision process: (1) Am I working with one value or a sample mean? → Determines denominator. (2) Am I given x and finding probability, or given probability and finding x? → Determines direction (forward vs. inverse). All four formulas are variations of the same core idea: z = (value − mean) / standard deviation. The only question is WHICH mean and WHICH standard deviation.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photograph this slide. Walk through the decision tree with examples:
'A man weighs more than 180 lb' → one value → z = (x−μ)/σ
'The average of 25 men exceeds 180 lb' → sample mean → z = (x̄−μ)/(σ/√n)
'What weight separates the top 5%?' → inverse → find z from table, solve x = zσ + μ
Have students practice classifying problems before solving them. On exams, the #1 error is using the wrong formula — this flowchart prevents that. Suggest they draw a mini version of this tree on their scratch paper at the start of every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mistake and ask students if they've made it. Most will nod at #1 and #3. For #3 especially, suggest a highlighter trick: whenever they see 'sample of n' or 'mean of n,' they highlight it and write σ/√n in the margin immediately. This prevents the most common CLT error. For #4, suggest always checking: 'Is my x above or below μ? Then z should be positive/negative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'gut check' rules students can apply AFTER solving a problem to verify their answer makes sense. Walk through each one with a concrete example:
#1: If someone weighs 200 lbs and μ = 172, z should be positive (200 &gt; 172). If you got z = −0.97, you did (172−200)/29 by mistake.
#3: If you calculate P = −0.13 or P = 1.25, stop — that's impossible.
#4: If x = 173 and μ = 172, the value is barely above the mean. P(x &lt; 173) should be just over 0.5 (like 0.53). If you got 0.97, something's wrong.
#5: This is the CLT check. In our earlier example, P(individual &gt; 175) = 0.4602 and P(mean of 20 &gt; 175) = 0.3228. The sample mean probability (0.32) is further from 0.5 than the individual (0.46). If those were reversed, you probably used the wrong denominator.
Encourage students to make these checks a habit, especially on timed exams where rushing leads to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Wrap-up slide. Motivate students: everything they just learned feeds directly into the next two major topics. If they master z-scores and CLT now, confidence intervals and hypothesis testing will be MUCH easier. Encourage them to practice the homework problems and come to office hours if they're stuck on the conversion step. Remind them: the HW covers Section 7.3 (nonstandard normal) plus Chapter 6 review (binomial).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slideLayout" Target="../slideLayouts/slideLayout1.xml"/><Relationship Id="rId7"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1920240"/>
            <a:ext cx="9144000" cy="54864"/>
          </a:xfrm>
          <a:prstGeom prst="rect">
            <a:avLst/>
          </a:prstGeom>
          <a:solidFill>
            <a:srgbClr val="028090"/>
          </a:solidFill>
          <a:ln/>
        </p:spPr>
      </p:sp>
      <p:sp>
        <p:nvSpPr>
          <p:cNvPr id="3" name="Text 1"/>
          <p:cNvSpPr/>
          <p:nvPr/>
        </p:nvSpPr>
        <p:spPr>
          <a:xfrm>
            <a:off x="731520" y="914400"/>
            <a:ext cx="7680960" cy="1005840"/>
          </a:xfrm>
          <a:prstGeom prst="rect">
            <a:avLst/>
          </a:prstGeom>
          <a:noFill/>
          <a:ln/>
        </p:spPr>
        <p:txBody>
          <a:bodyPr wrap="square" lIns="0" tIns="0" rIns="0" bIns="0" rtlCol="0" anchor="ctr"/>
          <a:lstStyle/>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Normal Distributions &amp;</a:t>
            </a:r>
            <a:endParaRPr lang="en-US" sz="3600" dirty="0"/>
          </a:p>
          <a:p>
            <a:pPr indent="0" marL="0">
              <a:lnSpc>
                <a:spcPct val="110000"/>
              </a:lnSpc>
              <a:buNone/>
            </a:pPr>
            <a:r>
              <a:rPr lang="en-US" sz="3600" b="1" dirty="0">
                <a:solidFill>
                  <a:srgbClr val="FFFFFF"/>
                </a:solidFill>
                <a:latin typeface="Georgia" pitchFamily="34" charset="0"/>
                <a:ea typeface="Georgia" pitchFamily="34" charset="-122"/>
                <a:cs typeface="Georgia" pitchFamily="34" charset="-120"/>
              </a:rPr>
              <a:t>the Central Limit Theorem</a:t>
            </a:r>
            <a:endParaRPr lang="en-US" sz="3600" dirty="0"/>
          </a:p>
        </p:txBody>
      </p:sp>
      <p:sp>
        <p:nvSpPr>
          <p:cNvPr id="4" name="Text 2"/>
          <p:cNvSpPr/>
          <p:nvPr/>
        </p:nvSpPr>
        <p:spPr>
          <a:xfrm>
            <a:off x="731520" y="2148840"/>
            <a:ext cx="457200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MA235  |  Statistics</a:t>
            </a:r>
            <a:endParaRPr lang="en-US" sz="1600" dirty="0"/>
          </a:p>
        </p:txBody>
      </p:sp>
      <p:pic>
        <p:nvPicPr>
          <p:cNvPr id="5" name="Image 0" descr="preencoded.png">    </p:cNvPr>
          <p:cNvPicPr>
            <a:picLocks noChangeAspect="1"/>
          </p:cNvPicPr>
          <p:nvPr/>
        </p:nvPicPr>
        <p:blipFill>
          <a:blip r:embed="rId1"/>
          <a:stretch>
            <a:fillRect/>
          </a:stretch>
        </p:blipFill>
        <p:spPr>
          <a:xfrm>
            <a:off x="4754880" y="2651760"/>
            <a:ext cx="3840480" cy="1920240"/>
          </a:xfrm>
          <a:prstGeom prst="rect">
            <a:avLst/>
          </a:prstGeom>
        </p:spPr>
      </p:pic>
      <p:sp>
        <p:nvSpPr>
          <p:cNvPr id="6" name="Text 3"/>
          <p:cNvSpPr/>
          <p:nvPr/>
        </p:nvSpPr>
        <p:spPr>
          <a:xfrm>
            <a:off x="731520" y="4480560"/>
            <a:ext cx="4572000" cy="320040"/>
          </a:xfrm>
          <a:prstGeom prst="rect">
            <a:avLst/>
          </a:prstGeom>
          <a:noFill/>
          <a:ln/>
        </p:spPr>
        <p:txBody>
          <a:bodyPr wrap="square" rtlCol="0" anchor="ctr"/>
          <a:lstStyle/>
          <a:p>
            <a:pPr indent="0" marL="0">
              <a:buNone/>
            </a:pPr>
            <a:r>
              <a:rPr lang="en-US" sz="1200" dirty="0">
                <a:solidFill>
                  <a:srgbClr val="718096"/>
                </a:solidFill>
                <a:latin typeface="Calibri" pitchFamily="34" charset="0"/>
                <a:ea typeface="Calibri" pitchFamily="34" charset="-122"/>
                <a:cs typeface="Calibri" pitchFamily="34" charset="-120"/>
              </a:rPr>
              <a:t>Chapters 6 &amp; 7  •  Brase &amp; Brase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Roadmap: Where We're Headed</a:t>
            </a:r>
            <a:endParaRPr lang="en-US" sz="2600" dirty="0"/>
          </a:p>
        </p:txBody>
      </p:sp>
      <p:sp>
        <p:nvSpPr>
          <p:cNvPr id="4" name="Shape 2"/>
          <p:cNvSpPr/>
          <p:nvPr/>
        </p:nvSpPr>
        <p:spPr>
          <a:xfrm>
            <a:off x="548640" y="1188720"/>
            <a:ext cx="8046720" cy="10515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5" name="Shape 3"/>
          <p:cNvSpPr/>
          <p:nvPr/>
        </p:nvSpPr>
        <p:spPr>
          <a:xfrm>
            <a:off x="548640" y="1188720"/>
            <a:ext cx="73152" cy="1051560"/>
          </a:xfrm>
          <a:prstGeom prst="rect">
            <a:avLst/>
          </a:prstGeom>
          <a:solidFill>
            <a:srgbClr val="065A82"/>
          </a:solidFill>
          <a:ln/>
        </p:spPr>
      </p:sp>
      <p:pic>
        <p:nvPicPr>
          <p:cNvPr id="6" name="Image 0" descr="preencoded.png">    </p:cNvPr>
          <p:cNvPicPr>
            <a:picLocks noChangeAspect="1"/>
          </p:cNvPicPr>
          <p:nvPr/>
        </p:nvPicPr>
        <p:blipFill>
          <a:blip r:embed="rId1"/>
          <a:stretch>
            <a:fillRect/>
          </a:stretch>
        </p:blipFill>
        <p:spPr>
          <a:xfrm>
            <a:off x="822960" y="1463040"/>
            <a:ext cx="457200" cy="457200"/>
          </a:xfrm>
          <a:prstGeom prst="rect">
            <a:avLst/>
          </a:prstGeom>
        </p:spPr>
      </p:pic>
      <p:sp>
        <p:nvSpPr>
          <p:cNvPr id="7" name="Text 4"/>
          <p:cNvSpPr/>
          <p:nvPr/>
        </p:nvSpPr>
        <p:spPr>
          <a:xfrm>
            <a:off x="1463040" y="1298448"/>
            <a:ext cx="1828800" cy="320040"/>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Part 1</a:t>
            </a:r>
            <a:endParaRPr lang="en-US" sz="1400" dirty="0"/>
          </a:p>
        </p:txBody>
      </p:sp>
      <p:sp>
        <p:nvSpPr>
          <p:cNvPr id="8" name="Text 5"/>
          <p:cNvSpPr/>
          <p:nvPr/>
        </p:nvSpPr>
        <p:spPr>
          <a:xfrm>
            <a:off x="1463040" y="1572768"/>
            <a:ext cx="4572000" cy="32004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The Standard Normal Distribution</a:t>
            </a:r>
            <a:endParaRPr lang="en-US" sz="1600" dirty="0"/>
          </a:p>
        </p:txBody>
      </p:sp>
      <p:sp>
        <p:nvSpPr>
          <p:cNvPr id="9" name="Text 6"/>
          <p:cNvSpPr/>
          <p:nvPr/>
        </p:nvSpPr>
        <p:spPr>
          <a:xfrm>
            <a:off x="1463040" y="1847088"/>
            <a:ext cx="64008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Z-scores, reading the table, finding areas under the curve</a:t>
            </a:r>
            <a:endParaRPr lang="en-US" sz="1200" dirty="0"/>
          </a:p>
        </p:txBody>
      </p:sp>
      <p:sp>
        <p:nvSpPr>
          <p:cNvPr id="10" name="Shape 7"/>
          <p:cNvSpPr/>
          <p:nvPr/>
        </p:nvSpPr>
        <p:spPr>
          <a:xfrm>
            <a:off x="548640" y="2423160"/>
            <a:ext cx="8046720" cy="10515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8"/>
          <p:cNvSpPr/>
          <p:nvPr/>
        </p:nvSpPr>
        <p:spPr>
          <a:xfrm>
            <a:off x="548640" y="2423160"/>
            <a:ext cx="73152" cy="1051560"/>
          </a:xfrm>
          <a:prstGeom prst="rect">
            <a:avLst/>
          </a:prstGeom>
          <a:solidFill>
            <a:srgbClr val="028090"/>
          </a:solidFill>
          <a:ln/>
        </p:spPr>
      </p:sp>
      <p:pic>
        <p:nvPicPr>
          <p:cNvPr id="12" name="Image 1" descr="preencoded.png">    </p:cNvPr>
          <p:cNvPicPr>
            <a:picLocks noChangeAspect="1"/>
          </p:cNvPicPr>
          <p:nvPr/>
        </p:nvPicPr>
        <p:blipFill>
          <a:blip r:embed="rId2"/>
          <a:stretch>
            <a:fillRect/>
          </a:stretch>
        </p:blipFill>
        <p:spPr>
          <a:xfrm>
            <a:off x="822960" y="2697480"/>
            <a:ext cx="457200" cy="457200"/>
          </a:xfrm>
          <a:prstGeom prst="rect">
            <a:avLst/>
          </a:prstGeom>
        </p:spPr>
      </p:pic>
      <p:sp>
        <p:nvSpPr>
          <p:cNvPr id="13" name="Text 9"/>
          <p:cNvSpPr/>
          <p:nvPr/>
        </p:nvSpPr>
        <p:spPr>
          <a:xfrm>
            <a:off x="1463040" y="2532888"/>
            <a:ext cx="1828800" cy="32004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Part 2</a:t>
            </a:r>
            <a:endParaRPr lang="en-US" sz="1400" dirty="0"/>
          </a:p>
        </p:txBody>
      </p:sp>
      <p:sp>
        <p:nvSpPr>
          <p:cNvPr id="14" name="Text 10"/>
          <p:cNvSpPr/>
          <p:nvPr/>
        </p:nvSpPr>
        <p:spPr>
          <a:xfrm>
            <a:off x="1463040" y="2807208"/>
            <a:ext cx="4572000" cy="32004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Nonstandard Normal Distributions</a:t>
            </a:r>
            <a:endParaRPr lang="en-US" sz="1600" dirty="0"/>
          </a:p>
        </p:txBody>
      </p:sp>
      <p:sp>
        <p:nvSpPr>
          <p:cNvPr id="15" name="Text 11"/>
          <p:cNvSpPr/>
          <p:nvPr/>
        </p:nvSpPr>
        <p:spPr>
          <a:xfrm>
            <a:off x="1463040" y="3081528"/>
            <a:ext cx="64008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Converting x to z, inverse normal, applied problems</a:t>
            </a:r>
            <a:endParaRPr lang="en-US" sz="1200" dirty="0"/>
          </a:p>
        </p:txBody>
      </p:sp>
      <p:sp>
        <p:nvSpPr>
          <p:cNvPr id="16" name="Shape 12"/>
          <p:cNvSpPr/>
          <p:nvPr/>
        </p:nvSpPr>
        <p:spPr>
          <a:xfrm>
            <a:off x="548640" y="3657600"/>
            <a:ext cx="8046720" cy="10515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3"/>
          <p:cNvSpPr/>
          <p:nvPr/>
        </p:nvSpPr>
        <p:spPr>
          <a:xfrm>
            <a:off x="548640" y="3657600"/>
            <a:ext cx="73152" cy="1051560"/>
          </a:xfrm>
          <a:prstGeom prst="rect">
            <a:avLst/>
          </a:prstGeom>
          <a:solidFill>
            <a:srgbClr val="00A896"/>
          </a:solidFill>
          <a:ln/>
        </p:spPr>
      </p:sp>
      <p:pic>
        <p:nvPicPr>
          <p:cNvPr id="18" name="Image 2" descr="preencoded.png">    </p:cNvPr>
          <p:cNvPicPr>
            <a:picLocks noChangeAspect="1"/>
          </p:cNvPicPr>
          <p:nvPr/>
        </p:nvPicPr>
        <p:blipFill>
          <a:blip r:embed="rId3"/>
          <a:stretch>
            <a:fillRect/>
          </a:stretch>
        </p:blipFill>
        <p:spPr>
          <a:xfrm>
            <a:off x="822960" y="3931920"/>
            <a:ext cx="457200" cy="457200"/>
          </a:xfrm>
          <a:prstGeom prst="rect">
            <a:avLst/>
          </a:prstGeom>
        </p:spPr>
      </p:pic>
      <p:sp>
        <p:nvSpPr>
          <p:cNvPr id="19" name="Text 14"/>
          <p:cNvSpPr/>
          <p:nvPr/>
        </p:nvSpPr>
        <p:spPr>
          <a:xfrm>
            <a:off x="1463040" y="3767328"/>
            <a:ext cx="1828800" cy="320040"/>
          </a:xfrm>
          <a:prstGeom prst="rect">
            <a:avLst/>
          </a:prstGeom>
          <a:noFill/>
          <a:ln/>
        </p:spPr>
        <p:txBody>
          <a:bodyPr wrap="square" lIns="0" tIns="0" rIns="0" bIns="0" rtlCol="0" anchor="ctr"/>
          <a:lstStyle/>
          <a:p>
            <a:pPr indent="0" marL="0">
              <a:buNone/>
            </a:pPr>
            <a:r>
              <a:rPr lang="en-US" sz="1400" b="1" dirty="0">
                <a:solidFill>
                  <a:srgbClr val="00A896"/>
                </a:solidFill>
                <a:latin typeface="Georgia" pitchFamily="34" charset="0"/>
                <a:ea typeface="Georgia" pitchFamily="34" charset="-122"/>
                <a:cs typeface="Georgia" pitchFamily="34" charset="-120"/>
              </a:rPr>
              <a:t>Part 3</a:t>
            </a:r>
            <a:endParaRPr lang="en-US" sz="1400" dirty="0"/>
          </a:p>
        </p:txBody>
      </p:sp>
      <p:sp>
        <p:nvSpPr>
          <p:cNvPr id="20" name="Text 15"/>
          <p:cNvSpPr/>
          <p:nvPr/>
        </p:nvSpPr>
        <p:spPr>
          <a:xfrm>
            <a:off x="1463040" y="4041648"/>
            <a:ext cx="4572000" cy="32004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The Central Limit Theorem</a:t>
            </a:r>
            <a:endParaRPr lang="en-US" sz="1600" dirty="0"/>
          </a:p>
        </p:txBody>
      </p:sp>
      <p:sp>
        <p:nvSpPr>
          <p:cNvPr id="21" name="Text 16"/>
          <p:cNvSpPr/>
          <p:nvPr/>
        </p:nvSpPr>
        <p:spPr>
          <a:xfrm>
            <a:off x="1463040" y="4315968"/>
            <a:ext cx="6400800" cy="274320"/>
          </a:xfrm>
          <a:prstGeom prst="rect">
            <a:avLst/>
          </a:prstGeom>
          <a:noFill/>
          <a:ln/>
        </p:spPr>
        <p:txBody>
          <a:bodyPr wrap="square" lIns="0" tIns="0" rIns="0" bIns="0" rtlCol="0" anchor="ctr"/>
          <a:lstStyle/>
          <a:p>
            <a:pPr indent="0" marL="0">
              <a:buNone/>
            </a:pPr>
            <a:r>
              <a:rPr lang="en-US" sz="1200" dirty="0">
                <a:solidFill>
                  <a:srgbClr val="718096"/>
                </a:solidFill>
                <a:latin typeface="Calibri" pitchFamily="34" charset="0"/>
                <a:ea typeface="Calibri" pitchFamily="34" charset="-122"/>
                <a:cs typeface="Calibri" pitchFamily="34" charset="-120"/>
              </a:rPr>
              <a:t>Sampling distributions, standard error, sample means</a:t>
            </a:r>
            <a:endParaRPr lang="en-US" sz="1200" dirty="0"/>
          </a:p>
        </p:txBody>
      </p:sp>
      <p:sp>
        <p:nvSpPr>
          <p:cNvPr id="22" name="Text 17"/>
          <p:cNvSpPr/>
          <p:nvPr/>
        </p:nvSpPr>
        <p:spPr>
          <a:xfrm>
            <a:off x="6858000" y="1417320"/>
            <a:ext cx="1463040" cy="274320"/>
          </a:xfrm>
          <a:prstGeom prst="rect">
            <a:avLst/>
          </a:prstGeom>
          <a:noFill/>
          <a:ln/>
        </p:spPr>
        <p:txBody>
          <a:bodyPr wrap="square" lIns="0" tIns="0" rIns="0" bIns="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Week 1, Day 1</a:t>
            </a:r>
            <a:endParaRPr lang="en-US" sz="1000" dirty="0"/>
          </a:p>
        </p:txBody>
      </p:sp>
      <p:sp>
        <p:nvSpPr>
          <p:cNvPr id="23" name="Text 18"/>
          <p:cNvSpPr/>
          <p:nvPr/>
        </p:nvSpPr>
        <p:spPr>
          <a:xfrm>
            <a:off x="6858000" y="2651760"/>
            <a:ext cx="1463040" cy="274320"/>
          </a:xfrm>
          <a:prstGeom prst="rect">
            <a:avLst/>
          </a:prstGeom>
          <a:noFill/>
          <a:ln/>
        </p:spPr>
        <p:txBody>
          <a:bodyPr wrap="square" lIns="0" tIns="0" rIns="0" bIns="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Week 1–2</a:t>
            </a:r>
            <a:endParaRPr lang="en-US" sz="1000" dirty="0"/>
          </a:p>
        </p:txBody>
      </p:sp>
      <p:sp>
        <p:nvSpPr>
          <p:cNvPr id="24" name="Text 19"/>
          <p:cNvSpPr/>
          <p:nvPr/>
        </p:nvSpPr>
        <p:spPr>
          <a:xfrm>
            <a:off x="6858000" y="3886200"/>
            <a:ext cx="1463040" cy="274320"/>
          </a:xfrm>
          <a:prstGeom prst="rect">
            <a:avLst/>
          </a:prstGeom>
          <a:noFill/>
          <a:ln/>
        </p:spPr>
        <p:txBody>
          <a:bodyPr wrap="square" lIns="0" tIns="0" rIns="0" bIns="0" rtlCol="0" anchor="ctr"/>
          <a:lstStyle/>
          <a:p>
            <a:pPr algn="r" indent="0" marL="0">
              <a:buNone/>
            </a:pPr>
            <a:r>
              <a:rPr lang="en-US" sz="1000" dirty="0">
                <a:solidFill>
                  <a:srgbClr val="718096"/>
                </a:solidFill>
                <a:latin typeface="Calibri" pitchFamily="34" charset="0"/>
                <a:ea typeface="Calibri" pitchFamily="34" charset="-122"/>
                <a:cs typeface="Calibri" pitchFamily="34" charset="-120"/>
              </a:rPr>
              <a:t>Week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THE ORIGIN STORY</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Where Did This Curve Come From?</a:t>
            </a:r>
            <a:endParaRPr lang="en-US" sz="2600" dirty="0"/>
          </a:p>
        </p:txBody>
      </p:sp>
      <p:sp>
        <p:nvSpPr>
          <p:cNvPr id="5" name="Shape 3"/>
          <p:cNvSpPr/>
          <p:nvPr/>
        </p:nvSpPr>
        <p:spPr>
          <a:xfrm>
            <a:off x="548640" y="1097280"/>
            <a:ext cx="8046720" cy="7772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73152" cy="777240"/>
          </a:xfrm>
          <a:prstGeom prst="rect">
            <a:avLst/>
          </a:prstGeom>
          <a:solidFill>
            <a:srgbClr val="065A82"/>
          </a:solidFill>
          <a:ln/>
        </p:spPr>
      </p:sp>
      <p:sp>
        <p:nvSpPr>
          <p:cNvPr id="7" name="Text 5"/>
          <p:cNvSpPr/>
          <p:nvPr/>
        </p:nvSpPr>
        <p:spPr>
          <a:xfrm>
            <a:off x="777240" y="1143000"/>
            <a:ext cx="2743200" cy="274320"/>
          </a:xfrm>
          <a:prstGeom prst="rect">
            <a:avLst/>
          </a:prstGeom>
          <a:noFill/>
          <a:ln/>
        </p:spPr>
        <p:txBody>
          <a:bodyPr wrap="square" lIns="0" tIns="0" rIns="0" bIns="0" rtlCol="0" anchor="ctr"/>
          <a:lstStyle/>
          <a:p>
            <a:pPr indent="0" marL="0">
              <a:buNone/>
            </a:pPr>
            <a:r>
              <a:rPr lang="en-US" sz="1300" b="1" dirty="0">
                <a:solidFill>
                  <a:srgbClr val="065A82"/>
                </a:solidFill>
                <a:latin typeface="Georgia" pitchFamily="34" charset="0"/>
                <a:ea typeface="Georgia" pitchFamily="34" charset="-122"/>
                <a:cs typeface="Georgia" pitchFamily="34" charset="-120"/>
              </a:rPr>
              <a:t>1800s — Astronomers</a:t>
            </a:r>
            <a:endParaRPr lang="en-US" sz="1300" dirty="0"/>
          </a:p>
        </p:txBody>
      </p:sp>
      <p:sp>
        <p:nvSpPr>
          <p:cNvPr id="8" name="Text 6"/>
          <p:cNvSpPr/>
          <p:nvPr/>
        </p:nvSpPr>
        <p:spPr>
          <a:xfrm>
            <a:off x="777240" y="1417320"/>
            <a:ext cx="758952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When astronomers measured the same star's position many times, the errors clustered in a bell shape — small errors were common, large errors were rare. Gauss described this pattern mathematically.</a:t>
            </a:r>
            <a:endParaRPr lang="en-US" sz="1200" dirty="0"/>
          </a:p>
        </p:txBody>
      </p:sp>
      <p:sp>
        <p:nvSpPr>
          <p:cNvPr id="9" name="Shape 7"/>
          <p:cNvSpPr/>
          <p:nvPr/>
        </p:nvSpPr>
        <p:spPr>
          <a:xfrm>
            <a:off x="548640" y="2057400"/>
            <a:ext cx="8046720" cy="9601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548640" y="2057400"/>
            <a:ext cx="73152" cy="960120"/>
          </a:xfrm>
          <a:prstGeom prst="rect">
            <a:avLst/>
          </a:prstGeom>
          <a:solidFill>
            <a:srgbClr val="028090"/>
          </a:solidFill>
          <a:ln/>
        </p:spPr>
      </p:sp>
      <p:sp>
        <p:nvSpPr>
          <p:cNvPr id="11" name="Text 9"/>
          <p:cNvSpPr/>
          <p:nvPr/>
        </p:nvSpPr>
        <p:spPr>
          <a:xfrm>
            <a:off x="777240" y="2103120"/>
            <a:ext cx="4572000" cy="274320"/>
          </a:xfrm>
          <a:prstGeom prst="rect">
            <a:avLst/>
          </a:prstGeom>
          <a:noFill/>
          <a:ln/>
        </p:spPr>
        <p:txBody>
          <a:bodyPr wrap="square" lIns="0" tIns="0" rIns="0" bIns="0" rtlCol="0" anchor="ctr"/>
          <a:lstStyle/>
          <a:p>
            <a:pPr indent="0" marL="0">
              <a:buNone/>
            </a:pPr>
            <a:r>
              <a:rPr lang="en-US" sz="1300" b="1" dirty="0">
                <a:solidFill>
                  <a:srgbClr val="028090"/>
                </a:solidFill>
                <a:latin typeface="Georgia" pitchFamily="34" charset="0"/>
                <a:ea typeface="Georgia" pitchFamily="34" charset="-122"/>
                <a:cs typeface="Georgia" pitchFamily="34" charset="-120"/>
              </a:rPr>
              <a:t>1835 — Adolphe Quetelet's Big Idea</a:t>
            </a:r>
            <a:endParaRPr lang="en-US" sz="1300" dirty="0"/>
          </a:p>
        </p:txBody>
      </p:sp>
      <p:sp>
        <p:nvSpPr>
          <p:cNvPr id="12" name="Text 10"/>
          <p:cNvSpPr/>
          <p:nvPr/>
        </p:nvSpPr>
        <p:spPr>
          <a:xfrm>
            <a:off x="777240" y="2377440"/>
            <a:ext cx="7589520" cy="5486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 Belgian astronomer named Quetelet asked: what if this pattern isn't just about measurement errors? What if it shows up in people? He obtained chest measurements of over 5,000 Scottish soldiers, plotted them, and saw the same bell shape. He repeated it with heights. Same curve.</a:t>
            </a:r>
            <a:endParaRPr lang="en-US" sz="1200" dirty="0"/>
          </a:p>
        </p:txBody>
      </p:sp>
      <p:sp>
        <p:nvSpPr>
          <p:cNvPr id="13" name="Shape 11"/>
          <p:cNvSpPr/>
          <p:nvPr/>
        </p:nvSpPr>
        <p:spPr>
          <a:xfrm>
            <a:off x="548640" y="3200400"/>
            <a:ext cx="8046720" cy="7772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548640" y="3200400"/>
            <a:ext cx="73152" cy="777240"/>
          </a:xfrm>
          <a:prstGeom prst="rect">
            <a:avLst/>
          </a:prstGeom>
          <a:solidFill>
            <a:srgbClr val="00A896"/>
          </a:solidFill>
          <a:ln/>
        </p:spPr>
      </p:sp>
      <p:sp>
        <p:nvSpPr>
          <p:cNvPr id="15" name="Text 13"/>
          <p:cNvSpPr/>
          <p:nvPr/>
        </p:nvSpPr>
        <p:spPr>
          <a:xfrm>
            <a:off x="777240" y="3246120"/>
            <a:ext cx="2743200" cy="274320"/>
          </a:xfrm>
          <a:prstGeom prst="rect">
            <a:avLst/>
          </a:prstGeom>
          <a:noFill/>
          <a:ln/>
        </p:spPr>
        <p:txBody>
          <a:bodyPr wrap="square" lIns="0" tIns="0" rIns="0" bIns="0" rtlCol="0" anchor="ctr"/>
          <a:lstStyle/>
          <a:p>
            <a:pPr indent="0" marL="0">
              <a:buNone/>
            </a:pPr>
            <a:r>
              <a:rPr lang="en-US" sz="1300" b="1" dirty="0">
                <a:solidFill>
                  <a:srgbClr val="00A896"/>
                </a:solidFill>
                <a:latin typeface="Georgia" pitchFamily="34" charset="0"/>
                <a:ea typeface="Georgia" pitchFamily="34" charset="-122"/>
                <a:cs typeface="Georgia" pitchFamily="34" charset="-120"/>
              </a:rPr>
              <a:t>The Discovery</a:t>
            </a:r>
            <a:endParaRPr lang="en-US" sz="1300" dirty="0"/>
          </a:p>
        </p:txBody>
      </p:sp>
      <p:sp>
        <p:nvSpPr>
          <p:cNvPr id="16" name="Text 14"/>
          <p:cNvSpPr/>
          <p:nvPr/>
        </p:nvSpPr>
        <p:spPr>
          <a:xfrm>
            <a:off x="777240" y="3520440"/>
            <a:ext cx="758952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He called the center value "l'homme moyen" — the average man. Heights, birth weights, blood pressure, exam scores, manufacturing tolerances — the same bell-shaped curve appeared over and over.</a:t>
            </a:r>
            <a:endParaRPr lang="en-US" sz="1200" dirty="0"/>
          </a:p>
        </p:txBody>
      </p:sp>
      <p:sp>
        <p:nvSpPr>
          <p:cNvPr id="17" name="Shape 15"/>
          <p:cNvSpPr/>
          <p:nvPr/>
        </p:nvSpPr>
        <p:spPr>
          <a:xfrm>
            <a:off x="548640" y="4206240"/>
            <a:ext cx="8046720" cy="640080"/>
          </a:xfrm>
          <a:prstGeom prst="rect">
            <a:avLst/>
          </a:prstGeom>
          <a:solidFill>
            <a:srgbClr val="1E2761"/>
          </a:solidFill>
          <a:ln/>
          <a:effectLst>
            <a:outerShdw sx="100000" sy="100000" kx="0" ky="0" algn="bl" rotWithShape="0" blurRad="76200" dist="25400" dir="8100000">
              <a:srgbClr val="000000">
                <a:alpha val="15000"/>
              </a:srgbClr>
            </a:outerShdw>
          </a:effectLst>
        </p:spPr>
      </p:sp>
      <p:sp>
        <p:nvSpPr>
          <p:cNvPr id="18" name="Text 16"/>
          <p:cNvSpPr/>
          <p:nvPr/>
        </p:nvSpPr>
        <p:spPr>
          <a:xfrm>
            <a:off x="777240" y="4251960"/>
            <a:ext cx="7589520" cy="502920"/>
          </a:xfrm>
          <a:prstGeom prst="rect">
            <a:avLst/>
          </a:prstGeom>
          <a:noFill/>
          <a:ln/>
        </p:spPr>
        <p:txBody>
          <a:bodyPr wrap="square" lIns="0" tIns="0" rIns="0" bIns="0" rtlCol="0" anchor="ctr"/>
          <a:lstStyle/>
          <a:p>
            <a:pPr indent="0" marL="0">
              <a:buNone/>
            </a:pPr>
            <a:r>
              <a:rPr lang="en-US" sz="1400" b="1" i="1" dirty="0">
                <a:solidFill>
                  <a:srgbClr val="FFFFFF"/>
                </a:solidFill>
                <a:latin typeface="Georgia" pitchFamily="34" charset="0"/>
                <a:ea typeface="Georgia" pitchFamily="34" charset="-122"/>
                <a:cs typeface="Georgia" pitchFamily="34" charset="-120"/>
              </a:rPr>
              <a:t>Nobody designed the normal distribution to fit human data. Someone just measured a bunch of people, plotted the results, and this shape kept showing up on its own.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What Is a Normal Distribution?</a:t>
            </a:r>
            <a:endParaRPr lang="en-US" sz="2600" dirty="0"/>
          </a:p>
        </p:txBody>
      </p:sp>
      <p:pic>
        <p:nvPicPr>
          <p:cNvPr id="5" name="Image 0" descr="preencoded.png">    </p:cNvPr>
          <p:cNvPicPr>
            <a:picLocks noChangeAspect="1"/>
          </p:cNvPicPr>
          <p:nvPr/>
        </p:nvPicPr>
        <p:blipFill>
          <a:blip r:embed="rId1"/>
          <a:stretch>
            <a:fillRect/>
          </a:stretch>
        </p:blipFill>
        <p:spPr>
          <a:xfrm>
            <a:off x="4754880" y="1097280"/>
            <a:ext cx="3931920" cy="1965960"/>
          </a:xfrm>
          <a:prstGeom prst="rect">
            <a:avLst/>
          </a:prstGeom>
        </p:spPr>
      </p:pic>
      <p:pic>
        <p:nvPicPr>
          <p:cNvPr id="6" name="Image 1" descr="preencoded.png">    </p:cNvPr>
          <p:cNvPicPr>
            <a:picLocks noChangeAspect="1"/>
          </p:cNvPicPr>
          <p:nvPr/>
        </p:nvPicPr>
        <p:blipFill>
          <a:blip r:embed="rId2"/>
          <a:stretch>
            <a:fillRect/>
          </a:stretch>
        </p:blipFill>
        <p:spPr>
          <a:xfrm>
            <a:off x="640080" y="1234440"/>
            <a:ext cx="228600" cy="228600"/>
          </a:xfrm>
          <a:prstGeom prst="rect">
            <a:avLst/>
          </a:prstGeom>
        </p:spPr>
      </p:pic>
      <p:sp>
        <p:nvSpPr>
          <p:cNvPr id="7" name="Text 3"/>
          <p:cNvSpPr/>
          <p:nvPr/>
        </p:nvSpPr>
        <p:spPr>
          <a:xfrm>
            <a:off x="1005840" y="1188720"/>
            <a:ext cx="36576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Bell-shaped and symmetric about the mean (μ)</a:t>
            </a:r>
            <a:endParaRPr lang="en-US" sz="1300" dirty="0"/>
          </a:p>
        </p:txBody>
      </p:sp>
      <p:pic>
        <p:nvPicPr>
          <p:cNvPr id="8" name="Image 2" descr="preencoded.png">    </p:cNvPr>
          <p:cNvPicPr>
            <a:picLocks noChangeAspect="1"/>
          </p:cNvPicPr>
          <p:nvPr/>
        </p:nvPicPr>
        <p:blipFill>
          <a:blip r:embed="rId3"/>
          <a:stretch>
            <a:fillRect/>
          </a:stretch>
        </p:blipFill>
        <p:spPr>
          <a:xfrm>
            <a:off x="640080" y="1737360"/>
            <a:ext cx="228600" cy="228600"/>
          </a:xfrm>
          <a:prstGeom prst="rect">
            <a:avLst/>
          </a:prstGeom>
        </p:spPr>
      </p:pic>
      <p:sp>
        <p:nvSpPr>
          <p:cNvPr id="9" name="Text 4"/>
          <p:cNvSpPr/>
          <p:nvPr/>
        </p:nvSpPr>
        <p:spPr>
          <a:xfrm>
            <a:off x="1005840" y="1691640"/>
            <a:ext cx="36576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Mean = Median = Mode (all at the center)</a:t>
            </a:r>
            <a:endParaRPr lang="en-US" sz="1300" dirty="0"/>
          </a:p>
        </p:txBody>
      </p:sp>
      <p:pic>
        <p:nvPicPr>
          <p:cNvPr id="10" name="Image 3" descr="preencoded.png">    </p:cNvPr>
          <p:cNvPicPr>
            <a:picLocks noChangeAspect="1"/>
          </p:cNvPicPr>
          <p:nvPr/>
        </p:nvPicPr>
        <p:blipFill>
          <a:blip r:embed="rId4"/>
          <a:stretch>
            <a:fillRect/>
          </a:stretch>
        </p:blipFill>
        <p:spPr>
          <a:xfrm>
            <a:off x="640080" y="2240280"/>
            <a:ext cx="228600" cy="228600"/>
          </a:xfrm>
          <a:prstGeom prst="rect">
            <a:avLst/>
          </a:prstGeom>
        </p:spPr>
      </p:pic>
      <p:sp>
        <p:nvSpPr>
          <p:cNvPr id="11" name="Text 5"/>
          <p:cNvSpPr/>
          <p:nvPr/>
        </p:nvSpPr>
        <p:spPr>
          <a:xfrm>
            <a:off x="1005840" y="2194560"/>
            <a:ext cx="36576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Total area under the curve equals 1</a:t>
            </a:r>
            <a:endParaRPr lang="en-US" sz="1300" dirty="0"/>
          </a:p>
        </p:txBody>
      </p:sp>
      <p:pic>
        <p:nvPicPr>
          <p:cNvPr id="12" name="Image 4" descr="preencoded.png">    </p:cNvPr>
          <p:cNvPicPr>
            <a:picLocks noChangeAspect="1"/>
          </p:cNvPicPr>
          <p:nvPr/>
        </p:nvPicPr>
        <p:blipFill>
          <a:blip r:embed="rId5"/>
          <a:stretch>
            <a:fillRect/>
          </a:stretch>
        </p:blipFill>
        <p:spPr>
          <a:xfrm>
            <a:off x="640080" y="2743200"/>
            <a:ext cx="228600" cy="228600"/>
          </a:xfrm>
          <a:prstGeom prst="rect">
            <a:avLst/>
          </a:prstGeom>
        </p:spPr>
      </p:pic>
      <p:sp>
        <p:nvSpPr>
          <p:cNvPr id="13" name="Text 6"/>
          <p:cNvSpPr/>
          <p:nvPr/>
        </p:nvSpPr>
        <p:spPr>
          <a:xfrm>
            <a:off x="1005840" y="2697480"/>
            <a:ext cx="36576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Described entirely by two parameters: μ and σ</a:t>
            </a:r>
            <a:endParaRPr lang="en-US" sz="1300" dirty="0"/>
          </a:p>
        </p:txBody>
      </p:sp>
      <p:pic>
        <p:nvPicPr>
          <p:cNvPr id="14" name="Image 5" descr="preencoded.png">    </p:cNvPr>
          <p:cNvPicPr>
            <a:picLocks noChangeAspect="1"/>
          </p:cNvPicPr>
          <p:nvPr/>
        </p:nvPicPr>
        <p:blipFill>
          <a:blip r:embed="rId6"/>
          <a:stretch>
            <a:fillRect/>
          </a:stretch>
        </p:blipFill>
        <p:spPr>
          <a:xfrm>
            <a:off x="640080" y="3246120"/>
            <a:ext cx="228600" cy="228600"/>
          </a:xfrm>
          <a:prstGeom prst="rect">
            <a:avLst/>
          </a:prstGeom>
        </p:spPr>
      </p:pic>
      <p:sp>
        <p:nvSpPr>
          <p:cNvPr id="15" name="Text 7"/>
          <p:cNvSpPr/>
          <p:nvPr/>
        </p:nvSpPr>
        <p:spPr>
          <a:xfrm>
            <a:off x="1005840" y="3200400"/>
            <a:ext cx="36576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Tails extend infinitely but never touch the x-axis</a:t>
            </a:r>
            <a:endParaRPr lang="en-US" sz="1300" dirty="0"/>
          </a:p>
        </p:txBody>
      </p:sp>
      <p:sp>
        <p:nvSpPr>
          <p:cNvPr id="16" name="Shape 8"/>
          <p:cNvSpPr/>
          <p:nvPr/>
        </p:nvSpPr>
        <p:spPr>
          <a:xfrm>
            <a:off x="548640" y="3840480"/>
            <a:ext cx="8046720" cy="91440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7" name="Image 6" descr="preencoded.png">    </p:cNvPr>
          <p:cNvPicPr>
            <a:picLocks noChangeAspect="1"/>
          </p:cNvPicPr>
          <p:nvPr/>
        </p:nvPicPr>
        <p:blipFill>
          <a:blip r:embed="rId7"/>
          <a:stretch>
            <a:fillRect/>
          </a:stretch>
        </p:blipFill>
        <p:spPr>
          <a:xfrm>
            <a:off x="731520" y="4023360"/>
            <a:ext cx="320040" cy="320040"/>
          </a:xfrm>
          <a:prstGeom prst="rect">
            <a:avLst/>
          </a:prstGeom>
        </p:spPr>
      </p:pic>
      <p:sp>
        <p:nvSpPr>
          <p:cNvPr id="18" name="Text 9"/>
          <p:cNvSpPr/>
          <p:nvPr/>
        </p:nvSpPr>
        <p:spPr>
          <a:xfrm>
            <a:off x="1188720" y="3931920"/>
            <a:ext cx="1828800" cy="2743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Why it matters:</a:t>
            </a:r>
            <a:endParaRPr lang="en-US" sz="1200" dirty="0"/>
          </a:p>
        </p:txBody>
      </p:sp>
      <p:sp>
        <p:nvSpPr>
          <p:cNvPr id="19" name="Text 10"/>
          <p:cNvSpPr/>
          <p:nvPr/>
        </p:nvSpPr>
        <p:spPr>
          <a:xfrm>
            <a:off x="1188720" y="4206240"/>
            <a:ext cx="71323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Many natural phenomena (heights, test scores, measurement errors) follow a normal distribution. This lets us calculate probabilities for real-world events.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The Empirical Rule (68–95–99.7)</a:t>
            </a:r>
            <a:endParaRPr lang="en-US" sz="2600" dirty="0"/>
          </a:p>
        </p:txBody>
      </p:sp>
      <p:pic>
        <p:nvPicPr>
          <p:cNvPr id="5" name="Image 0" descr="preencoded.png">    </p:cNvPr>
          <p:cNvPicPr>
            <a:picLocks noChangeAspect="1"/>
          </p:cNvPicPr>
          <p:nvPr/>
        </p:nvPicPr>
        <p:blipFill>
          <a:blip r:embed="rId1"/>
          <a:stretch>
            <a:fillRect/>
          </a:stretch>
        </p:blipFill>
        <p:spPr>
          <a:xfrm>
            <a:off x="457200" y="1051560"/>
            <a:ext cx="5029200" cy="2514600"/>
          </a:xfrm>
          <a:prstGeom prst="rect">
            <a:avLst/>
          </a:prstGeom>
        </p:spPr>
      </p:pic>
      <p:sp>
        <p:nvSpPr>
          <p:cNvPr id="6" name="Shape 3"/>
          <p:cNvSpPr/>
          <p:nvPr/>
        </p:nvSpPr>
        <p:spPr>
          <a:xfrm>
            <a:off x="5760720" y="1280160"/>
            <a:ext cx="292608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7" name="Text 4"/>
          <p:cNvSpPr/>
          <p:nvPr/>
        </p:nvSpPr>
        <p:spPr>
          <a:xfrm>
            <a:off x="5943600" y="1371600"/>
            <a:ext cx="1005840" cy="411480"/>
          </a:xfrm>
          <a:prstGeom prst="rect">
            <a:avLst/>
          </a:prstGeom>
          <a:noFill/>
          <a:ln/>
        </p:spPr>
        <p:txBody>
          <a:bodyPr wrap="square" lIns="0" tIns="0" rIns="0" bIns="0" rtlCol="0" anchor="ctr"/>
          <a:lstStyle/>
          <a:p>
            <a:pPr indent="0" marL="0">
              <a:buNone/>
            </a:pPr>
            <a:r>
              <a:rPr lang="en-US" sz="2200" b="1" dirty="0">
                <a:solidFill>
                  <a:srgbClr val="028090"/>
                </a:solidFill>
                <a:latin typeface="Georgia" pitchFamily="34" charset="0"/>
                <a:ea typeface="Georgia" pitchFamily="34" charset="-122"/>
                <a:cs typeface="Georgia" pitchFamily="34" charset="-120"/>
              </a:rPr>
              <a:t>68%</a:t>
            </a:r>
            <a:endParaRPr lang="en-US" sz="2200" dirty="0"/>
          </a:p>
        </p:txBody>
      </p:sp>
      <p:sp>
        <p:nvSpPr>
          <p:cNvPr id="8" name="Text 5"/>
          <p:cNvSpPr/>
          <p:nvPr/>
        </p:nvSpPr>
        <p:spPr>
          <a:xfrm>
            <a:off x="6858000" y="1353312"/>
            <a:ext cx="1645920" cy="45720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of data falls</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within 1σ of μ</a:t>
            </a:r>
            <a:endParaRPr lang="en-US" sz="1100" dirty="0"/>
          </a:p>
        </p:txBody>
      </p:sp>
      <p:sp>
        <p:nvSpPr>
          <p:cNvPr id="9" name="Shape 6"/>
          <p:cNvSpPr/>
          <p:nvPr/>
        </p:nvSpPr>
        <p:spPr>
          <a:xfrm>
            <a:off x="5760720" y="2057400"/>
            <a:ext cx="292608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7"/>
          <p:cNvSpPr/>
          <p:nvPr/>
        </p:nvSpPr>
        <p:spPr>
          <a:xfrm>
            <a:off x="5943600" y="2148840"/>
            <a:ext cx="1005840" cy="411480"/>
          </a:xfrm>
          <a:prstGeom prst="rect">
            <a:avLst/>
          </a:prstGeom>
          <a:noFill/>
          <a:ln/>
        </p:spPr>
        <p:txBody>
          <a:bodyPr wrap="square" lIns="0" tIns="0" rIns="0" bIns="0" rtlCol="0" anchor="ctr"/>
          <a:lstStyle/>
          <a:p>
            <a:pPr indent="0" marL="0">
              <a:buNone/>
            </a:pPr>
            <a:r>
              <a:rPr lang="en-US" sz="2200" b="1" dirty="0">
                <a:solidFill>
                  <a:srgbClr val="065A82"/>
                </a:solidFill>
                <a:latin typeface="Georgia" pitchFamily="34" charset="0"/>
                <a:ea typeface="Georgia" pitchFamily="34" charset="-122"/>
                <a:cs typeface="Georgia" pitchFamily="34" charset="-120"/>
              </a:rPr>
              <a:t>95%</a:t>
            </a:r>
            <a:endParaRPr lang="en-US" sz="2200" dirty="0"/>
          </a:p>
        </p:txBody>
      </p:sp>
      <p:sp>
        <p:nvSpPr>
          <p:cNvPr id="11" name="Text 8"/>
          <p:cNvSpPr/>
          <p:nvPr/>
        </p:nvSpPr>
        <p:spPr>
          <a:xfrm>
            <a:off x="6858000" y="2130552"/>
            <a:ext cx="1645920" cy="45720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of data falls</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within 2σ of μ</a:t>
            </a:r>
            <a:endParaRPr lang="en-US" sz="1100" dirty="0"/>
          </a:p>
        </p:txBody>
      </p:sp>
      <p:sp>
        <p:nvSpPr>
          <p:cNvPr id="12" name="Shape 9"/>
          <p:cNvSpPr/>
          <p:nvPr/>
        </p:nvSpPr>
        <p:spPr>
          <a:xfrm>
            <a:off x="5760720" y="2834640"/>
            <a:ext cx="292608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0"/>
          <p:cNvSpPr/>
          <p:nvPr/>
        </p:nvSpPr>
        <p:spPr>
          <a:xfrm>
            <a:off x="5943600" y="2926080"/>
            <a:ext cx="1005840" cy="411480"/>
          </a:xfrm>
          <a:prstGeom prst="rect">
            <a:avLst/>
          </a:prstGeom>
          <a:noFill/>
          <a:ln/>
        </p:spPr>
        <p:txBody>
          <a:bodyPr wrap="square" lIns="0" tIns="0" rIns="0" bIns="0" rtlCol="0" anchor="ctr"/>
          <a:lstStyle/>
          <a:p>
            <a:pPr indent="0" marL="0">
              <a:buNone/>
            </a:pPr>
            <a:r>
              <a:rPr lang="en-US" sz="2200" b="1" dirty="0">
                <a:solidFill>
                  <a:srgbClr val="1E2761"/>
                </a:solidFill>
                <a:latin typeface="Georgia" pitchFamily="34" charset="0"/>
                <a:ea typeface="Georgia" pitchFamily="34" charset="-122"/>
                <a:cs typeface="Georgia" pitchFamily="34" charset="-120"/>
              </a:rPr>
              <a:t>99.7%</a:t>
            </a:r>
            <a:endParaRPr lang="en-US" sz="2200" dirty="0"/>
          </a:p>
        </p:txBody>
      </p:sp>
      <p:sp>
        <p:nvSpPr>
          <p:cNvPr id="14" name="Text 11"/>
          <p:cNvSpPr/>
          <p:nvPr/>
        </p:nvSpPr>
        <p:spPr>
          <a:xfrm>
            <a:off x="6858000" y="2907792"/>
            <a:ext cx="1645920" cy="45720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of data falls</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within 3σ of μ</a:t>
            </a:r>
            <a:endParaRPr lang="en-US" sz="1100" dirty="0"/>
          </a:p>
        </p:txBody>
      </p:sp>
      <p:sp>
        <p:nvSpPr>
          <p:cNvPr id="15" name="Shape 12"/>
          <p:cNvSpPr/>
          <p:nvPr/>
        </p:nvSpPr>
        <p:spPr>
          <a:xfrm>
            <a:off x="548640" y="3794760"/>
            <a:ext cx="8046720" cy="100584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6" name="Image 1" descr="preencoded.png">    </p:cNvPr>
          <p:cNvPicPr>
            <a:picLocks noChangeAspect="1"/>
          </p:cNvPicPr>
          <p:nvPr/>
        </p:nvPicPr>
        <p:blipFill>
          <a:blip r:embed="rId2"/>
          <a:stretch>
            <a:fillRect/>
          </a:stretch>
        </p:blipFill>
        <p:spPr>
          <a:xfrm>
            <a:off x="731520" y="3931920"/>
            <a:ext cx="274320" cy="274320"/>
          </a:xfrm>
          <a:prstGeom prst="rect">
            <a:avLst/>
          </a:prstGeom>
        </p:spPr>
      </p:pic>
      <p:sp>
        <p:nvSpPr>
          <p:cNvPr id="17" name="Text 13"/>
          <p:cNvSpPr/>
          <p:nvPr/>
        </p:nvSpPr>
        <p:spPr>
          <a:xfrm>
            <a:off x="1188720" y="3886200"/>
            <a:ext cx="7223760" cy="8229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Example: If exam scores have μ = 75 and σ = 8, then about 68% of students score between 67 and 83, about 95% score between 59 and 91, and nearly all (99.7%) score between 51 and 99.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The Standard Normal (Z) Distribution</a:t>
            </a:r>
            <a:endParaRPr lang="en-US" sz="2600" dirty="0"/>
          </a:p>
        </p:txBody>
      </p:sp>
      <p:sp>
        <p:nvSpPr>
          <p:cNvPr id="5" name="Shape 3"/>
          <p:cNvSpPr/>
          <p:nvPr/>
        </p:nvSpPr>
        <p:spPr>
          <a:xfrm>
            <a:off x="548640" y="1097280"/>
            <a:ext cx="4114800" cy="1645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73152" cy="1645920"/>
          </a:xfrm>
          <a:prstGeom prst="rect">
            <a:avLst/>
          </a:prstGeom>
          <a:solidFill>
            <a:srgbClr val="028090"/>
          </a:solidFill>
          <a:ln/>
        </p:spPr>
      </p:sp>
      <p:sp>
        <p:nvSpPr>
          <p:cNvPr id="7" name="Text 5"/>
          <p:cNvSpPr/>
          <p:nvPr/>
        </p:nvSpPr>
        <p:spPr>
          <a:xfrm>
            <a:off x="822960" y="1188720"/>
            <a:ext cx="2743200" cy="27432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Definition</a:t>
            </a:r>
            <a:endParaRPr lang="en-US" sz="1400" dirty="0"/>
          </a:p>
        </p:txBody>
      </p:sp>
      <p:sp>
        <p:nvSpPr>
          <p:cNvPr id="8" name="Text 6"/>
          <p:cNvSpPr/>
          <p:nvPr/>
        </p:nvSpPr>
        <p:spPr>
          <a:xfrm>
            <a:off x="822960" y="1463040"/>
            <a:ext cx="356616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The standard normal distribution is a special normal distribution where:</a:t>
            </a:r>
            <a:endParaRPr lang="en-US" sz="1200" dirty="0"/>
          </a:p>
        </p:txBody>
      </p:sp>
      <p:sp>
        <p:nvSpPr>
          <p:cNvPr id="9" name="Text 7"/>
          <p:cNvSpPr/>
          <p:nvPr/>
        </p:nvSpPr>
        <p:spPr>
          <a:xfrm>
            <a:off x="822960" y="1874520"/>
            <a:ext cx="3566160" cy="32004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μ = 0  </a:t>
            </a:r>
            <a:pPr indent="0" marL="0">
              <a:buNone/>
            </a:pPr>
            <a:r>
              <a:rPr lang="en-US" sz="1200" dirty="0">
                <a:solidFill>
                  <a:srgbClr val="718096"/>
                </a:solidFill>
                <a:latin typeface="Calibri" pitchFamily="34" charset="0"/>
                <a:ea typeface="Calibri" pitchFamily="34" charset="-122"/>
                <a:cs typeface="Calibri" pitchFamily="34" charset="-120"/>
              </a:rPr>
              <a:t>(mean is zero)</a:t>
            </a:r>
            <a:endParaRPr lang="en-US" sz="1800" dirty="0"/>
          </a:p>
        </p:txBody>
      </p:sp>
      <p:sp>
        <p:nvSpPr>
          <p:cNvPr id="10" name="Text 8"/>
          <p:cNvSpPr/>
          <p:nvPr/>
        </p:nvSpPr>
        <p:spPr>
          <a:xfrm>
            <a:off x="822960" y="2194560"/>
            <a:ext cx="3566160" cy="320040"/>
          </a:xfrm>
          <a:prstGeom prst="rect">
            <a:avLst/>
          </a:prstGeom>
          <a:noFill/>
          <a:ln/>
        </p:spPr>
        <p:txBody>
          <a:bodyPr wrap="square" lIns="0" tIns="0" rIns="0" bIns="0" rtlCol="0" anchor="ctr"/>
          <a:lstStyle/>
          <a:p>
            <a:pPr indent="0" marL="0">
              <a:buNone/>
            </a:pPr>
            <a:r>
              <a:rPr lang="en-US" sz="1800" b="1" dirty="0">
                <a:solidFill>
                  <a:srgbClr val="1E2761"/>
                </a:solidFill>
                <a:latin typeface="Georgia" pitchFamily="34" charset="0"/>
                <a:ea typeface="Georgia" pitchFamily="34" charset="-122"/>
                <a:cs typeface="Georgia" pitchFamily="34" charset="-120"/>
              </a:rPr>
              <a:t>σ = 1  </a:t>
            </a:r>
            <a:pPr indent="0" marL="0">
              <a:buNone/>
            </a:pPr>
            <a:r>
              <a:rPr lang="en-US" sz="1200" dirty="0">
                <a:solidFill>
                  <a:srgbClr val="718096"/>
                </a:solidFill>
                <a:latin typeface="Calibri" pitchFamily="34" charset="0"/>
                <a:ea typeface="Calibri" pitchFamily="34" charset="-122"/>
                <a:cs typeface="Calibri" pitchFamily="34" charset="-120"/>
              </a:rPr>
              <a:t>(std dev is one)</a:t>
            </a:r>
            <a:endParaRPr lang="en-US" sz="1800" dirty="0"/>
          </a:p>
        </p:txBody>
      </p:sp>
      <p:pic>
        <p:nvPicPr>
          <p:cNvPr id="11" name="Image 0" descr="preencoded.png">    </p:cNvPr>
          <p:cNvPicPr>
            <a:picLocks noChangeAspect="1"/>
          </p:cNvPicPr>
          <p:nvPr/>
        </p:nvPicPr>
        <p:blipFill>
          <a:blip r:embed="rId1"/>
          <a:stretch>
            <a:fillRect/>
          </a:stretch>
        </p:blipFill>
        <p:spPr>
          <a:xfrm>
            <a:off x="4846320" y="1005840"/>
            <a:ext cx="3840480" cy="1920240"/>
          </a:xfrm>
          <a:prstGeom prst="rect">
            <a:avLst/>
          </a:prstGeom>
        </p:spPr>
      </p:pic>
      <p:sp>
        <p:nvSpPr>
          <p:cNvPr id="12" name="Shape 9"/>
          <p:cNvSpPr/>
          <p:nvPr/>
        </p:nvSpPr>
        <p:spPr>
          <a:xfrm>
            <a:off x="548640" y="3017520"/>
            <a:ext cx="8046720" cy="9144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0"/>
          <p:cNvSpPr/>
          <p:nvPr/>
        </p:nvSpPr>
        <p:spPr>
          <a:xfrm>
            <a:off x="777240" y="3108960"/>
            <a:ext cx="27432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What is a z-score?</a:t>
            </a:r>
            <a:endParaRPr lang="en-US" sz="1400" dirty="0"/>
          </a:p>
        </p:txBody>
      </p:sp>
      <p:sp>
        <p:nvSpPr>
          <p:cNvPr id="14" name="Text 11"/>
          <p:cNvSpPr/>
          <p:nvPr/>
        </p:nvSpPr>
        <p:spPr>
          <a:xfrm>
            <a:off x="777240" y="3383280"/>
            <a:ext cx="7589520" cy="4572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 z-score tells you how many standard deviations a value is from the mean. A z-score of 1.5 means the value is 1.5 standard deviations above the mean. A z-score of −2.0 means 2 standard deviations below the mean.</a:t>
            </a:r>
            <a:endParaRPr lang="en-US" sz="1200" dirty="0"/>
          </a:p>
        </p:txBody>
      </p:sp>
      <p:sp>
        <p:nvSpPr>
          <p:cNvPr id="15" name="Shape 12"/>
          <p:cNvSpPr/>
          <p:nvPr/>
        </p:nvSpPr>
        <p:spPr>
          <a:xfrm>
            <a:off x="548640" y="4114800"/>
            <a:ext cx="8046720" cy="73152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6" name="Image 1" descr="preencoded.png">    </p:cNvPr>
          <p:cNvPicPr>
            <a:picLocks noChangeAspect="1"/>
          </p:cNvPicPr>
          <p:nvPr/>
        </p:nvPicPr>
        <p:blipFill>
          <a:blip r:embed="rId2"/>
          <a:stretch>
            <a:fillRect/>
          </a:stretch>
        </p:blipFill>
        <p:spPr>
          <a:xfrm>
            <a:off x="731520" y="4206240"/>
            <a:ext cx="274320" cy="274320"/>
          </a:xfrm>
          <a:prstGeom prst="rect">
            <a:avLst/>
          </a:prstGeom>
        </p:spPr>
      </p:pic>
      <p:sp>
        <p:nvSpPr>
          <p:cNvPr id="17" name="Text 13"/>
          <p:cNvSpPr/>
          <p:nvPr/>
        </p:nvSpPr>
        <p:spPr>
          <a:xfrm>
            <a:off x="1188720" y="4206240"/>
            <a:ext cx="7223760" cy="50292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We use the standard normal as a reference — Table 5 gives us areas (probabilities) for any z-score. Every other normal distribution can be converted to this one.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Formula: The Z-Score</a:t>
            </a:r>
            <a:endParaRPr lang="en-US" sz="2600" dirty="0"/>
          </a:p>
        </p:txBody>
      </p:sp>
      <p:sp>
        <p:nvSpPr>
          <p:cNvPr id="5" name="Shape 3"/>
          <p:cNvSpPr/>
          <p:nvPr/>
        </p:nvSpPr>
        <p:spPr>
          <a:xfrm>
            <a:off x="1371600" y="1234440"/>
            <a:ext cx="6400800" cy="822960"/>
          </a:xfrm>
          <a:prstGeom prst="rect">
            <a:avLst/>
          </a:prstGeom>
          <a:solidFill>
            <a:srgbClr val="1E2761"/>
          </a:solidFill>
          <a:ln/>
          <a:effectLst>
            <a:outerShdw sx="100000" sy="100000" kx="0" ky="0" algn="bl" rotWithShape="0" blurRad="50800" dist="25400" dir="8100000">
              <a:srgbClr val="000000">
                <a:alpha val="12000"/>
              </a:srgbClr>
            </a:outerShdw>
          </a:effectLst>
        </p:spPr>
      </p:sp>
      <p:sp>
        <p:nvSpPr>
          <p:cNvPr id="6" name="Text 4"/>
          <p:cNvSpPr/>
          <p:nvPr/>
        </p:nvSpPr>
        <p:spPr>
          <a:xfrm>
            <a:off x="1371600" y="1234440"/>
            <a:ext cx="6400800" cy="82296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z  =  (x − μ) / σ</a:t>
            </a:r>
            <a:endParaRPr lang="en-US" sz="2200" dirty="0"/>
          </a:p>
        </p:txBody>
      </p:sp>
      <p:sp>
        <p:nvSpPr>
          <p:cNvPr id="7" name="Text 5"/>
          <p:cNvSpPr/>
          <p:nvPr/>
        </p:nvSpPr>
        <p:spPr>
          <a:xfrm>
            <a:off x="1097280" y="2377440"/>
            <a:ext cx="457200" cy="320040"/>
          </a:xfrm>
          <a:prstGeom prst="rect">
            <a:avLst/>
          </a:prstGeom>
          <a:noFill/>
          <a:ln/>
        </p:spPr>
        <p:txBody>
          <a:bodyPr wrap="square" lIns="0" tIns="0" rIns="0" bIns="0" rtlCol="0" anchor="ctr"/>
          <a:lstStyle/>
          <a:p>
            <a:pPr algn="ctr" indent="0" marL="0">
              <a:buNone/>
            </a:pPr>
            <a:r>
              <a:rPr lang="en-US" sz="1800" b="1" dirty="0">
                <a:solidFill>
                  <a:srgbClr val="028090"/>
                </a:solidFill>
                <a:latin typeface="Georgia" pitchFamily="34" charset="0"/>
                <a:ea typeface="Georgia" pitchFamily="34" charset="-122"/>
                <a:cs typeface="Georgia" pitchFamily="34" charset="-120"/>
              </a:rPr>
              <a:t>z</a:t>
            </a:r>
            <a:endParaRPr lang="en-US" sz="1800" dirty="0"/>
          </a:p>
        </p:txBody>
      </p:sp>
      <p:sp>
        <p:nvSpPr>
          <p:cNvPr id="8" name="Text 6"/>
          <p:cNvSpPr/>
          <p:nvPr/>
        </p:nvSpPr>
        <p:spPr>
          <a:xfrm>
            <a:off x="1645920" y="2377440"/>
            <a:ext cx="54864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   the z-score (number of standard deviations from the mean)</a:t>
            </a:r>
            <a:endParaRPr lang="en-US" sz="1300" dirty="0"/>
          </a:p>
        </p:txBody>
      </p:sp>
      <p:sp>
        <p:nvSpPr>
          <p:cNvPr id="9" name="Text 7"/>
          <p:cNvSpPr/>
          <p:nvPr/>
        </p:nvSpPr>
        <p:spPr>
          <a:xfrm>
            <a:off x="1097280" y="2834640"/>
            <a:ext cx="457200" cy="320040"/>
          </a:xfrm>
          <a:prstGeom prst="rect">
            <a:avLst/>
          </a:prstGeom>
          <a:noFill/>
          <a:ln/>
        </p:spPr>
        <p:txBody>
          <a:bodyPr wrap="square" lIns="0" tIns="0" rIns="0" bIns="0" rtlCol="0" anchor="ctr"/>
          <a:lstStyle/>
          <a:p>
            <a:pPr algn="ctr" indent="0" marL="0">
              <a:buNone/>
            </a:pPr>
            <a:r>
              <a:rPr lang="en-US" sz="1800" b="1" dirty="0">
                <a:solidFill>
                  <a:srgbClr val="028090"/>
                </a:solidFill>
                <a:latin typeface="Georgia" pitchFamily="34" charset="0"/>
                <a:ea typeface="Georgia" pitchFamily="34" charset="-122"/>
                <a:cs typeface="Georgia" pitchFamily="34" charset="-120"/>
              </a:rPr>
              <a:t>x</a:t>
            </a:r>
            <a:endParaRPr lang="en-US" sz="1800" dirty="0"/>
          </a:p>
        </p:txBody>
      </p:sp>
      <p:sp>
        <p:nvSpPr>
          <p:cNvPr id="10" name="Text 8"/>
          <p:cNvSpPr/>
          <p:nvPr/>
        </p:nvSpPr>
        <p:spPr>
          <a:xfrm>
            <a:off x="1645920" y="2834640"/>
            <a:ext cx="54864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   the raw data value you're interested in</a:t>
            </a:r>
            <a:endParaRPr lang="en-US" sz="1300" dirty="0"/>
          </a:p>
        </p:txBody>
      </p:sp>
      <p:sp>
        <p:nvSpPr>
          <p:cNvPr id="11" name="Text 9"/>
          <p:cNvSpPr/>
          <p:nvPr/>
        </p:nvSpPr>
        <p:spPr>
          <a:xfrm>
            <a:off x="1097280" y="3291840"/>
            <a:ext cx="457200" cy="320040"/>
          </a:xfrm>
          <a:prstGeom prst="rect">
            <a:avLst/>
          </a:prstGeom>
          <a:noFill/>
          <a:ln/>
        </p:spPr>
        <p:txBody>
          <a:bodyPr wrap="square" lIns="0" tIns="0" rIns="0" bIns="0" rtlCol="0" anchor="ctr"/>
          <a:lstStyle/>
          <a:p>
            <a:pPr algn="ctr" indent="0" marL="0">
              <a:buNone/>
            </a:pPr>
            <a:r>
              <a:rPr lang="en-US" sz="1800" b="1" dirty="0">
                <a:solidFill>
                  <a:srgbClr val="028090"/>
                </a:solidFill>
                <a:latin typeface="Georgia" pitchFamily="34" charset="0"/>
                <a:ea typeface="Georgia" pitchFamily="34" charset="-122"/>
                <a:cs typeface="Georgia" pitchFamily="34" charset="-120"/>
              </a:rPr>
              <a:t>μ</a:t>
            </a:r>
            <a:endParaRPr lang="en-US" sz="1800" dirty="0"/>
          </a:p>
        </p:txBody>
      </p:sp>
      <p:sp>
        <p:nvSpPr>
          <p:cNvPr id="12" name="Text 10"/>
          <p:cNvSpPr/>
          <p:nvPr/>
        </p:nvSpPr>
        <p:spPr>
          <a:xfrm>
            <a:off x="1645920" y="3291840"/>
            <a:ext cx="54864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   the population mean</a:t>
            </a:r>
            <a:endParaRPr lang="en-US" sz="1300" dirty="0"/>
          </a:p>
        </p:txBody>
      </p:sp>
      <p:sp>
        <p:nvSpPr>
          <p:cNvPr id="13" name="Text 11"/>
          <p:cNvSpPr/>
          <p:nvPr/>
        </p:nvSpPr>
        <p:spPr>
          <a:xfrm>
            <a:off x="1097280" y="3749040"/>
            <a:ext cx="457200" cy="320040"/>
          </a:xfrm>
          <a:prstGeom prst="rect">
            <a:avLst/>
          </a:prstGeom>
          <a:noFill/>
          <a:ln/>
        </p:spPr>
        <p:txBody>
          <a:bodyPr wrap="square" lIns="0" tIns="0" rIns="0" bIns="0" rtlCol="0" anchor="ctr"/>
          <a:lstStyle/>
          <a:p>
            <a:pPr algn="ctr" indent="0" marL="0">
              <a:buNone/>
            </a:pPr>
            <a:r>
              <a:rPr lang="en-US" sz="1800" b="1" dirty="0">
                <a:solidFill>
                  <a:srgbClr val="028090"/>
                </a:solidFill>
                <a:latin typeface="Georgia" pitchFamily="34" charset="0"/>
                <a:ea typeface="Georgia" pitchFamily="34" charset="-122"/>
                <a:cs typeface="Georgia" pitchFamily="34" charset="-120"/>
              </a:rPr>
              <a:t>σ</a:t>
            </a:r>
            <a:endParaRPr lang="en-US" sz="1800" dirty="0"/>
          </a:p>
        </p:txBody>
      </p:sp>
      <p:sp>
        <p:nvSpPr>
          <p:cNvPr id="14" name="Text 12"/>
          <p:cNvSpPr/>
          <p:nvPr/>
        </p:nvSpPr>
        <p:spPr>
          <a:xfrm>
            <a:off x="1645920" y="3749040"/>
            <a:ext cx="54864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   the population standard deviation</a:t>
            </a:r>
            <a:endParaRPr lang="en-US" sz="1300" dirty="0"/>
          </a:p>
        </p:txBody>
      </p:sp>
      <p:sp>
        <p:nvSpPr>
          <p:cNvPr id="15" name="Shape 13"/>
          <p:cNvSpPr/>
          <p:nvPr/>
        </p:nvSpPr>
        <p:spPr>
          <a:xfrm>
            <a:off x="548640" y="4160520"/>
            <a:ext cx="8046720" cy="685800"/>
          </a:xfrm>
          <a:prstGeom prst="rect">
            <a:avLst/>
          </a:prstGeom>
          <a:solidFill>
            <a:srgbClr val="F7FAFC"/>
          </a:solidFill>
          <a:ln/>
          <a:effectLst>
            <a:outerShdw sx="100000" sy="100000" kx="0" ky="0" algn="bl" rotWithShape="0" blurRad="76200" dist="25400" dir="8100000">
              <a:srgbClr val="000000">
                <a:alpha val="15000"/>
              </a:srgbClr>
            </a:outerShdw>
          </a:effectLst>
        </p:spPr>
      </p:sp>
      <p:pic>
        <p:nvPicPr>
          <p:cNvPr id="16" name="Image 0" descr="preencoded.png">    </p:cNvPr>
          <p:cNvPicPr>
            <a:picLocks noChangeAspect="1"/>
          </p:cNvPicPr>
          <p:nvPr/>
        </p:nvPicPr>
        <p:blipFill>
          <a:blip r:embed="rId1"/>
          <a:stretch>
            <a:fillRect/>
          </a:stretch>
        </p:blipFill>
        <p:spPr>
          <a:xfrm>
            <a:off x="731520" y="4251960"/>
            <a:ext cx="274320" cy="274320"/>
          </a:xfrm>
          <a:prstGeom prst="rect">
            <a:avLst/>
          </a:prstGeom>
        </p:spPr>
      </p:pic>
      <p:sp>
        <p:nvSpPr>
          <p:cNvPr id="17" name="Text 14"/>
          <p:cNvSpPr/>
          <p:nvPr/>
        </p:nvSpPr>
        <p:spPr>
          <a:xfrm>
            <a:off x="1188720" y="4206240"/>
            <a:ext cx="731520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Quick example:  If x = 85, μ = 75, σ = 8   →   z = (85 − 75) / 8 = 10/8 = 1.25</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How to Read the Z-Table (Table 5)</a:t>
            </a:r>
            <a:endParaRPr lang="en-US" sz="2600" dirty="0"/>
          </a:p>
        </p:txBody>
      </p:sp>
      <p:sp>
        <p:nvSpPr>
          <p:cNvPr id="5" name="Shape 3"/>
          <p:cNvSpPr/>
          <p:nvPr/>
        </p:nvSpPr>
        <p:spPr>
          <a:xfrm>
            <a:off x="548640" y="109728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685800" y="1234440"/>
            <a:ext cx="320040" cy="320040"/>
          </a:xfrm>
          <a:prstGeom prst="ellipse">
            <a:avLst/>
          </a:prstGeom>
          <a:solidFill>
            <a:srgbClr val="028090"/>
          </a:solidFill>
          <a:ln/>
        </p:spPr>
      </p:sp>
      <p:sp>
        <p:nvSpPr>
          <p:cNvPr id="7" name="Text 5"/>
          <p:cNvSpPr/>
          <p:nvPr/>
        </p:nvSpPr>
        <p:spPr>
          <a:xfrm>
            <a:off x="685800" y="12344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43000" y="1188720"/>
            <a:ext cx="7315200" cy="5029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Split your z-score: the ones and tenths digit give you the ROW</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(e.g., z = 1.25 → row 1.2)</a:t>
            </a:r>
            <a:endParaRPr lang="en-US" sz="1300" dirty="0"/>
          </a:p>
        </p:txBody>
      </p:sp>
      <p:sp>
        <p:nvSpPr>
          <p:cNvPr id="9" name="Shape 7"/>
          <p:cNvSpPr/>
          <p:nvPr/>
        </p:nvSpPr>
        <p:spPr>
          <a:xfrm>
            <a:off x="548640" y="192024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685800" y="2057400"/>
            <a:ext cx="320040" cy="320040"/>
          </a:xfrm>
          <a:prstGeom prst="ellipse">
            <a:avLst/>
          </a:prstGeom>
          <a:solidFill>
            <a:srgbClr val="028090"/>
          </a:solidFill>
          <a:ln/>
        </p:spPr>
      </p:sp>
      <p:sp>
        <p:nvSpPr>
          <p:cNvPr id="11" name="Text 9"/>
          <p:cNvSpPr/>
          <p:nvPr/>
        </p:nvSpPr>
        <p:spPr>
          <a:xfrm>
            <a:off x="685800" y="205740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143000" y="2011680"/>
            <a:ext cx="7315200" cy="5029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The hundredths digit gives you the COLUMN</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(e.g., z = 1.25 → column .05)</a:t>
            </a:r>
            <a:endParaRPr lang="en-US" sz="1300" dirty="0"/>
          </a:p>
        </p:txBody>
      </p:sp>
      <p:sp>
        <p:nvSpPr>
          <p:cNvPr id="13" name="Shape 11"/>
          <p:cNvSpPr/>
          <p:nvPr/>
        </p:nvSpPr>
        <p:spPr>
          <a:xfrm>
            <a:off x="548640" y="274320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685800" y="2880360"/>
            <a:ext cx="320040" cy="320040"/>
          </a:xfrm>
          <a:prstGeom prst="ellipse">
            <a:avLst/>
          </a:prstGeom>
          <a:solidFill>
            <a:srgbClr val="028090"/>
          </a:solidFill>
          <a:ln/>
        </p:spPr>
      </p:sp>
      <p:sp>
        <p:nvSpPr>
          <p:cNvPr id="15" name="Text 13"/>
          <p:cNvSpPr/>
          <p:nvPr/>
        </p:nvSpPr>
        <p:spPr>
          <a:xfrm>
            <a:off x="685800" y="28803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143000" y="2834640"/>
            <a:ext cx="7315200" cy="5029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The value where the row and column meet is the AREA to the LEFT of z</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This area = P(z &lt; 1.25) = 0.8944</a:t>
            </a:r>
            <a:endParaRPr lang="en-US" sz="1300" dirty="0"/>
          </a:p>
        </p:txBody>
      </p:sp>
      <p:sp>
        <p:nvSpPr>
          <p:cNvPr id="17" name="Shape 15"/>
          <p:cNvSpPr/>
          <p:nvPr/>
        </p:nvSpPr>
        <p:spPr>
          <a:xfrm>
            <a:off x="548640" y="3703320"/>
            <a:ext cx="8046720" cy="105156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8" name="Image 0" descr="preencoded.png">    </p:cNvPr>
          <p:cNvPicPr>
            <a:picLocks noChangeAspect="1"/>
          </p:cNvPicPr>
          <p:nvPr/>
        </p:nvPicPr>
        <p:blipFill>
          <a:blip r:embed="rId1"/>
          <a:stretch>
            <a:fillRect/>
          </a:stretch>
        </p:blipFill>
        <p:spPr>
          <a:xfrm>
            <a:off x="731520" y="3840480"/>
            <a:ext cx="274320" cy="274320"/>
          </a:xfrm>
          <a:prstGeom prst="rect">
            <a:avLst/>
          </a:prstGeom>
        </p:spPr>
      </p:pic>
      <p:sp>
        <p:nvSpPr>
          <p:cNvPr id="19" name="Text 16"/>
          <p:cNvSpPr/>
          <p:nvPr/>
        </p:nvSpPr>
        <p:spPr>
          <a:xfrm>
            <a:off x="1188720" y="3794760"/>
            <a:ext cx="6858000" cy="3200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Remember: Table 5 always gives cumulative area from the LEFT</a:t>
            </a:r>
            <a:endParaRPr lang="en-US" sz="1300" dirty="0"/>
          </a:p>
        </p:txBody>
      </p:sp>
      <p:sp>
        <p:nvSpPr>
          <p:cNvPr id="20" name="Text 17"/>
          <p:cNvSpPr/>
          <p:nvPr/>
        </p:nvSpPr>
        <p:spPr>
          <a:xfrm>
            <a:off x="1188720" y="4114800"/>
            <a:ext cx="7132320" cy="5486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This means the table value is P(z &lt; your value). If you need P(z &gt; a), you'll subtract from 1. If you need P(a &lt; z &lt; b), you'll subtract two table values. We'll cover these cases next.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Finding Areas: Three Cases</a:t>
            </a:r>
            <a:endParaRPr lang="en-US" sz="2600" dirty="0"/>
          </a:p>
        </p:txBody>
      </p:sp>
      <p:sp>
        <p:nvSpPr>
          <p:cNvPr id="5" name="Shape 3"/>
          <p:cNvSpPr/>
          <p:nvPr/>
        </p:nvSpPr>
        <p:spPr>
          <a:xfrm>
            <a:off x="365760" y="1097280"/>
            <a:ext cx="2697480" cy="33832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502920" y="1188720"/>
            <a:ext cx="2423160"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Case 1: P(z &lt; a)</a:t>
            </a:r>
            <a:endParaRPr lang="en-US" sz="1400" dirty="0"/>
          </a:p>
        </p:txBody>
      </p:sp>
      <p:pic>
        <p:nvPicPr>
          <p:cNvPr id="7" name="Image 0" descr="preencoded.png">    </p:cNvPr>
          <p:cNvPicPr>
            <a:picLocks noChangeAspect="1"/>
          </p:cNvPicPr>
          <p:nvPr/>
        </p:nvPicPr>
        <p:blipFill>
          <a:blip r:embed="rId1"/>
          <a:stretch>
            <a:fillRect/>
          </a:stretch>
        </p:blipFill>
        <p:spPr>
          <a:xfrm>
            <a:off x="548640" y="1554480"/>
            <a:ext cx="2331720" cy="1170432"/>
          </a:xfrm>
          <a:prstGeom prst="rect">
            <a:avLst/>
          </a:prstGeom>
        </p:spPr>
      </p:pic>
      <p:sp>
        <p:nvSpPr>
          <p:cNvPr id="8" name="Shape 5"/>
          <p:cNvSpPr/>
          <p:nvPr/>
        </p:nvSpPr>
        <p:spPr>
          <a:xfrm>
            <a:off x="594360" y="2880360"/>
            <a:ext cx="2240280" cy="502920"/>
          </a:xfrm>
          <a:prstGeom prst="rect">
            <a:avLst/>
          </a:prstGeom>
          <a:solidFill>
            <a:srgbClr val="1E2761"/>
          </a:solidFill>
          <a:ln/>
        </p:spPr>
      </p:sp>
      <p:sp>
        <p:nvSpPr>
          <p:cNvPr id="9" name="Text 6"/>
          <p:cNvSpPr/>
          <p:nvPr/>
        </p:nvSpPr>
        <p:spPr>
          <a:xfrm>
            <a:off x="594360" y="2880360"/>
            <a:ext cx="22402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Read directly from table</a:t>
            </a:r>
            <a:endParaRPr lang="en-US" sz="1200" dirty="0"/>
          </a:p>
        </p:txBody>
      </p:sp>
      <p:sp>
        <p:nvSpPr>
          <p:cNvPr id="10" name="Shape 7"/>
          <p:cNvSpPr/>
          <p:nvPr/>
        </p:nvSpPr>
        <p:spPr>
          <a:xfrm>
            <a:off x="3246120" y="1097280"/>
            <a:ext cx="2697480" cy="33832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Text 8"/>
          <p:cNvSpPr/>
          <p:nvPr/>
        </p:nvSpPr>
        <p:spPr>
          <a:xfrm>
            <a:off x="3383280" y="1188720"/>
            <a:ext cx="2423160"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Case 2: P(z &gt; a)</a:t>
            </a:r>
            <a:endParaRPr lang="en-US" sz="1400" dirty="0"/>
          </a:p>
        </p:txBody>
      </p:sp>
      <p:pic>
        <p:nvPicPr>
          <p:cNvPr id="12" name="Image 1" descr="preencoded.png">    </p:cNvPr>
          <p:cNvPicPr>
            <a:picLocks noChangeAspect="1"/>
          </p:cNvPicPr>
          <p:nvPr/>
        </p:nvPicPr>
        <p:blipFill>
          <a:blip r:embed="rId2"/>
          <a:stretch>
            <a:fillRect/>
          </a:stretch>
        </p:blipFill>
        <p:spPr>
          <a:xfrm>
            <a:off x="3429000" y="1554480"/>
            <a:ext cx="2331720" cy="1170432"/>
          </a:xfrm>
          <a:prstGeom prst="rect">
            <a:avLst/>
          </a:prstGeom>
        </p:spPr>
      </p:pic>
      <p:sp>
        <p:nvSpPr>
          <p:cNvPr id="13" name="Shape 9"/>
          <p:cNvSpPr/>
          <p:nvPr/>
        </p:nvSpPr>
        <p:spPr>
          <a:xfrm>
            <a:off x="3474720" y="2880360"/>
            <a:ext cx="2240280" cy="502920"/>
          </a:xfrm>
          <a:prstGeom prst="rect">
            <a:avLst/>
          </a:prstGeom>
          <a:solidFill>
            <a:srgbClr val="1E2761"/>
          </a:solidFill>
          <a:ln/>
        </p:spPr>
      </p:sp>
      <p:sp>
        <p:nvSpPr>
          <p:cNvPr id="14" name="Text 10"/>
          <p:cNvSpPr/>
          <p:nvPr/>
        </p:nvSpPr>
        <p:spPr>
          <a:xfrm>
            <a:off x="3474720" y="2880360"/>
            <a:ext cx="22402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1 − P(z &lt; a)</a:t>
            </a:r>
            <a:endParaRPr lang="en-US" sz="1200" dirty="0"/>
          </a:p>
        </p:txBody>
      </p:sp>
      <p:sp>
        <p:nvSpPr>
          <p:cNvPr id="15" name="Shape 11"/>
          <p:cNvSpPr/>
          <p:nvPr/>
        </p:nvSpPr>
        <p:spPr>
          <a:xfrm>
            <a:off x="6126480" y="1097280"/>
            <a:ext cx="2697480" cy="33832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Text 12"/>
          <p:cNvSpPr/>
          <p:nvPr/>
        </p:nvSpPr>
        <p:spPr>
          <a:xfrm>
            <a:off x="6263640" y="1188720"/>
            <a:ext cx="2423160"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Case 3: P(a &lt; z &lt; b)</a:t>
            </a:r>
            <a:endParaRPr lang="en-US" sz="1400" dirty="0"/>
          </a:p>
        </p:txBody>
      </p:sp>
      <p:pic>
        <p:nvPicPr>
          <p:cNvPr id="17" name="Image 2" descr="preencoded.png">    </p:cNvPr>
          <p:cNvPicPr>
            <a:picLocks noChangeAspect="1"/>
          </p:cNvPicPr>
          <p:nvPr/>
        </p:nvPicPr>
        <p:blipFill>
          <a:blip r:embed="rId3"/>
          <a:stretch>
            <a:fillRect/>
          </a:stretch>
        </p:blipFill>
        <p:spPr>
          <a:xfrm>
            <a:off x="6309360" y="1554480"/>
            <a:ext cx="2331720" cy="1170432"/>
          </a:xfrm>
          <a:prstGeom prst="rect">
            <a:avLst/>
          </a:prstGeom>
        </p:spPr>
      </p:pic>
      <p:sp>
        <p:nvSpPr>
          <p:cNvPr id="18" name="Shape 13"/>
          <p:cNvSpPr/>
          <p:nvPr/>
        </p:nvSpPr>
        <p:spPr>
          <a:xfrm>
            <a:off x="6355080" y="2880360"/>
            <a:ext cx="2240280" cy="502920"/>
          </a:xfrm>
          <a:prstGeom prst="rect">
            <a:avLst/>
          </a:prstGeom>
          <a:solidFill>
            <a:srgbClr val="1E2761"/>
          </a:solidFill>
          <a:ln/>
        </p:spPr>
      </p:sp>
      <p:sp>
        <p:nvSpPr>
          <p:cNvPr id="19" name="Text 14"/>
          <p:cNvSpPr/>
          <p:nvPr/>
        </p:nvSpPr>
        <p:spPr>
          <a:xfrm>
            <a:off x="6355080" y="2880360"/>
            <a:ext cx="2240280" cy="50292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 P(z &lt; b) − P(z &lt; a)</a:t>
            </a:r>
            <a:endParaRPr lang="en-US" sz="1200" dirty="0"/>
          </a:p>
        </p:txBody>
      </p:sp>
      <p:sp>
        <p:nvSpPr>
          <p:cNvPr id="20" name="Text 15"/>
          <p:cNvSpPr/>
          <p:nvPr/>
        </p:nvSpPr>
        <p:spPr>
          <a:xfrm>
            <a:off x="548640" y="4617720"/>
            <a:ext cx="8046720" cy="2743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Tip:  Sketch the curve and shade the area FIRST — then decide which case you're in.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Worked Example: P(−1.20 &lt; z &lt; 1.50)</a:t>
            </a:r>
            <a:endParaRPr lang="en-US" sz="2600" dirty="0"/>
          </a:p>
        </p:txBody>
      </p:sp>
      <p:pic>
        <p:nvPicPr>
          <p:cNvPr id="5" name="Image 0" descr="preencoded.png">    </p:cNvPr>
          <p:cNvPicPr>
            <a:picLocks noChangeAspect="1"/>
          </p:cNvPicPr>
          <p:nvPr/>
        </p:nvPicPr>
        <p:blipFill>
          <a:blip r:embed="rId1"/>
          <a:stretch>
            <a:fillRect/>
          </a:stretch>
        </p:blipFill>
        <p:spPr>
          <a:xfrm>
            <a:off x="5029200" y="1005840"/>
            <a:ext cx="3657600" cy="1828800"/>
          </a:xfrm>
          <a:prstGeom prst="rect">
            <a:avLst/>
          </a:prstGeom>
        </p:spPr>
      </p:pic>
      <p:sp>
        <p:nvSpPr>
          <p:cNvPr id="6" name="Text 3"/>
          <p:cNvSpPr/>
          <p:nvPr/>
        </p:nvSpPr>
        <p:spPr>
          <a:xfrm>
            <a:off x="5303520" y="2834640"/>
            <a:ext cx="3200400" cy="457200"/>
          </a:xfrm>
          <a:prstGeom prst="rect">
            <a:avLst/>
          </a:prstGeom>
          <a:noFill/>
          <a:ln/>
        </p:spPr>
        <p:txBody>
          <a:bodyPr wrap="square" lIns="0" tIns="0" rIns="0" bIns="0" rtlCol="0" anchor="ctr"/>
          <a:lstStyle/>
          <a:p>
            <a:pPr algn="ctr" indent="0" marL="0">
              <a:buNone/>
            </a:pPr>
            <a:r>
              <a:rPr lang="en-US" sz="1200" dirty="0">
                <a:solidFill>
                  <a:srgbClr val="718096"/>
                </a:solidFill>
                <a:latin typeface="Calibri" pitchFamily="34" charset="0"/>
                <a:ea typeface="Calibri" pitchFamily="34" charset="-122"/>
                <a:cs typeface="Calibri" pitchFamily="34" charset="-120"/>
              </a:rPr>
              <a:t>Shaded area =</a:t>
            </a:r>
            <a:endParaRPr lang="en-US" sz="1200" dirty="0"/>
          </a:p>
          <a:p>
            <a:pPr algn="ctr" indent="0" marL="0">
              <a:buNone/>
            </a:pPr>
            <a:r>
              <a:rPr lang="en-US" sz="1200" dirty="0">
                <a:solidFill>
                  <a:srgbClr val="718096"/>
                </a:solidFill>
                <a:latin typeface="Calibri" pitchFamily="34" charset="0"/>
                <a:ea typeface="Calibri" pitchFamily="34" charset="-122"/>
                <a:cs typeface="Calibri" pitchFamily="34" charset="-120"/>
              </a:rPr>
              <a:t>P(−1.20 &lt; z &lt; 1.50)</a:t>
            </a:r>
            <a:endParaRPr lang="en-US" sz="1200" dirty="0"/>
          </a:p>
        </p:txBody>
      </p:sp>
      <p:sp>
        <p:nvSpPr>
          <p:cNvPr id="7" name="Shape 4"/>
          <p:cNvSpPr/>
          <p:nvPr/>
        </p:nvSpPr>
        <p:spPr>
          <a:xfrm>
            <a:off x="548640" y="1097280"/>
            <a:ext cx="429768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Shape 5"/>
          <p:cNvSpPr/>
          <p:nvPr/>
        </p:nvSpPr>
        <p:spPr>
          <a:xfrm>
            <a:off x="685800" y="1234440"/>
            <a:ext cx="320040" cy="320040"/>
          </a:xfrm>
          <a:prstGeom prst="ellipse">
            <a:avLst/>
          </a:prstGeom>
          <a:solidFill>
            <a:srgbClr val="028090"/>
          </a:solidFill>
          <a:ln/>
        </p:spPr>
      </p:sp>
      <p:sp>
        <p:nvSpPr>
          <p:cNvPr id="9" name="Text 6"/>
          <p:cNvSpPr/>
          <p:nvPr/>
        </p:nvSpPr>
        <p:spPr>
          <a:xfrm>
            <a:off x="685800" y="12344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143000" y="1188720"/>
            <a:ext cx="356616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Identify the case: we need the area BETWEEN two z-values → Case 3</a:t>
            </a:r>
            <a:endParaRPr lang="en-US" sz="1300" dirty="0"/>
          </a:p>
        </p:txBody>
      </p:sp>
      <p:sp>
        <p:nvSpPr>
          <p:cNvPr id="11" name="Shape 8"/>
          <p:cNvSpPr/>
          <p:nvPr/>
        </p:nvSpPr>
        <p:spPr>
          <a:xfrm>
            <a:off x="548640" y="1783080"/>
            <a:ext cx="429768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Shape 9"/>
          <p:cNvSpPr/>
          <p:nvPr/>
        </p:nvSpPr>
        <p:spPr>
          <a:xfrm>
            <a:off x="685800" y="1920240"/>
            <a:ext cx="320040" cy="320040"/>
          </a:xfrm>
          <a:prstGeom prst="ellipse">
            <a:avLst/>
          </a:prstGeom>
          <a:solidFill>
            <a:srgbClr val="028090"/>
          </a:solidFill>
          <a:ln/>
        </p:spPr>
      </p:sp>
      <p:sp>
        <p:nvSpPr>
          <p:cNvPr id="13" name="Text 10"/>
          <p:cNvSpPr/>
          <p:nvPr/>
        </p:nvSpPr>
        <p:spPr>
          <a:xfrm>
            <a:off x="685800" y="19202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143000" y="1874520"/>
            <a:ext cx="356616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Look up P(z &lt; 1.50) in Table 5</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Row 1.5, Column .00 → 0.9332</a:t>
            </a:r>
            <a:endParaRPr lang="en-US" sz="1300" dirty="0"/>
          </a:p>
        </p:txBody>
      </p:sp>
      <p:sp>
        <p:nvSpPr>
          <p:cNvPr id="15" name="Shape 12"/>
          <p:cNvSpPr/>
          <p:nvPr/>
        </p:nvSpPr>
        <p:spPr>
          <a:xfrm>
            <a:off x="548640" y="2560320"/>
            <a:ext cx="429768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3"/>
          <p:cNvSpPr/>
          <p:nvPr/>
        </p:nvSpPr>
        <p:spPr>
          <a:xfrm>
            <a:off x="685800" y="2697480"/>
            <a:ext cx="320040" cy="320040"/>
          </a:xfrm>
          <a:prstGeom prst="ellipse">
            <a:avLst/>
          </a:prstGeom>
          <a:solidFill>
            <a:srgbClr val="028090"/>
          </a:solidFill>
          <a:ln/>
        </p:spPr>
      </p:sp>
      <p:sp>
        <p:nvSpPr>
          <p:cNvPr id="17" name="Text 14"/>
          <p:cNvSpPr/>
          <p:nvPr/>
        </p:nvSpPr>
        <p:spPr>
          <a:xfrm>
            <a:off x="685800" y="26974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143000" y="2651760"/>
            <a:ext cx="356616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Look up P(z &lt; −1.20) in Table 5</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Row −1.2, Column .00 → 0.1151</a:t>
            </a:r>
            <a:endParaRPr lang="en-US" sz="1300" dirty="0"/>
          </a:p>
        </p:txBody>
      </p:sp>
      <p:sp>
        <p:nvSpPr>
          <p:cNvPr id="19" name="Shape 16"/>
          <p:cNvSpPr/>
          <p:nvPr/>
        </p:nvSpPr>
        <p:spPr>
          <a:xfrm>
            <a:off x="548640" y="3337560"/>
            <a:ext cx="429768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0" name="Shape 17"/>
          <p:cNvSpPr/>
          <p:nvPr/>
        </p:nvSpPr>
        <p:spPr>
          <a:xfrm>
            <a:off x="685800" y="3474720"/>
            <a:ext cx="320040" cy="320040"/>
          </a:xfrm>
          <a:prstGeom prst="ellipse">
            <a:avLst/>
          </a:prstGeom>
          <a:solidFill>
            <a:srgbClr val="028090"/>
          </a:solidFill>
          <a:ln/>
        </p:spPr>
      </p:sp>
      <p:sp>
        <p:nvSpPr>
          <p:cNvPr id="21" name="Text 18"/>
          <p:cNvSpPr/>
          <p:nvPr/>
        </p:nvSpPr>
        <p:spPr>
          <a:xfrm>
            <a:off x="685800" y="347472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p:nvPr/>
        </p:nvSpPr>
        <p:spPr>
          <a:xfrm>
            <a:off x="1143000" y="3429000"/>
            <a:ext cx="356616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Subtract:  0.9332 − 0.1151 = 0.8181</a:t>
            </a:r>
            <a:endParaRPr lang="en-US" sz="1300" dirty="0"/>
          </a:p>
        </p:txBody>
      </p:sp>
      <p:sp>
        <p:nvSpPr>
          <p:cNvPr id="23" name="Shape 20"/>
          <p:cNvSpPr/>
          <p:nvPr/>
        </p:nvSpPr>
        <p:spPr>
          <a:xfrm>
            <a:off x="548640" y="4069080"/>
            <a:ext cx="8046720" cy="73152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4" name="Text 21"/>
          <p:cNvSpPr/>
          <p:nvPr/>
        </p:nvSpPr>
        <p:spPr>
          <a:xfrm>
            <a:off x="777240" y="4114800"/>
            <a:ext cx="4572000" cy="32004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Result: P(−1.20 &lt; z &lt; 1.50) = 0.8181</a:t>
            </a:r>
            <a:endParaRPr lang="en-US" sz="1600" dirty="0"/>
          </a:p>
        </p:txBody>
      </p:sp>
      <p:sp>
        <p:nvSpPr>
          <p:cNvPr id="25" name="Text 22"/>
          <p:cNvSpPr/>
          <p:nvPr/>
        </p:nvSpPr>
        <p:spPr>
          <a:xfrm>
            <a:off x="777240" y="4434840"/>
            <a:ext cx="7589520" cy="320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Interpretation: There is an 81.81% probability that a randomly selected z-value falls between −1.20 and 1.50.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Worked Example: P(z &gt; 0.85)</a:t>
            </a:r>
            <a:endParaRPr lang="en-US" sz="2600" dirty="0"/>
          </a:p>
        </p:txBody>
      </p:sp>
      <p:pic>
        <p:nvPicPr>
          <p:cNvPr id="5" name="Image 0" descr="preencoded.png">    </p:cNvPr>
          <p:cNvPicPr>
            <a:picLocks noChangeAspect="1"/>
          </p:cNvPicPr>
          <p:nvPr/>
        </p:nvPicPr>
        <p:blipFill>
          <a:blip r:embed="rId1"/>
          <a:stretch>
            <a:fillRect/>
          </a:stretch>
        </p:blipFill>
        <p:spPr>
          <a:xfrm>
            <a:off x="5029200" y="1005840"/>
            <a:ext cx="3657600" cy="1828800"/>
          </a:xfrm>
          <a:prstGeom prst="rect">
            <a:avLst/>
          </a:prstGeom>
        </p:spPr>
      </p:pic>
      <p:sp>
        <p:nvSpPr>
          <p:cNvPr id="6" name="Text 3"/>
          <p:cNvSpPr/>
          <p:nvPr/>
        </p:nvSpPr>
        <p:spPr>
          <a:xfrm>
            <a:off x="5303520" y="2834640"/>
            <a:ext cx="3200400" cy="320040"/>
          </a:xfrm>
          <a:prstGeom prst="rect">
            <a:avLst/>
          </a:prstGeom>
          <a:noFill/>
          <a:ln/>
        </p:spPr>
        <p:txBody>
          <a:bodyPr wrap="square" lIns="0" tIns="0" rIns="0" bIns="0" rtlCol="0" anchor="ctr"/>
          <a:lstStyle/>
          <a:p>
            <a:pPr algn="ctr" indent="0" marL="0">
              <a:buNone/>
            </a:pPr>
            <a:r>
              <a:rPr lang="en-US" sz="1200" dirty="0">
                <a:solidFill>
                  <a:srgbClr val="718096"/>
                </a:solidFill>
                <a:latin typeface="Calibri" pitchFamily="34" charset="0"/>
                <a:ea typeface="Calibri" pitchFamily="34" charset="-122"/>
                <a:cs typeface="Calibri" pitchFamily="34" charset="-120"/>
              </a:rPr>
              <a:t>Shaded area = P(z &gt; 0.85)</a:t>
            </a:r>
            <a:endParaRPr lang="en-US" sz="1200" dirty="0"/>
          </a:p>
        </p:txBody>
      </p:sp>
      <p:sp>
        <p:nvSpPr>
          <p:cNvPr id="7" name="Shape 4"/>
          <p:cNvSpPr/>
          <p:nvPr/>
        </p:nvSpPr>
        <p:spPr>
          <a:xfrm>
            <a:off x="548640" y="1097280"/>
            <a:ext cx="429768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Shape 5"/>
          <p:cNvSpPr/>
          <p:nvPr/>
        </p:nvSpPr>
        <p:spPr>
          <a:xfrm>
            <a:off x="685800" y="1234440"/>
            <a:ext cx="320040" cy="320040"/>
          </a:xfrm>
          <a:prstGeom prst="ellipse">
            <a:avLst/>
          </a:prstGeom>
          <a:solidFill>
            <a:srgbClr val="028090"/>
          </a:solidFill>
          <a:ln/>
        </p:spPr>
      </p:sp>
      <p:sp>
        <p:nvSpPr>
          <p:cNvPr id="9" name="Text 6"/>
          <p:cNvSpPr/>
          <p:nvPr/>
        </p:nvSpPr>
        <p:spPr>
          <a:xfrm>
            <a:off x="685800" y="12344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p:nvPr/>
        </p:nvSpPr>
        <p:spPr>
          <a:xfrm>
            <a:off x="1143000" y="1188720"/>
            <a:ext cx="356616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Identify the case: area to the RIGHT of z → Case 2</a:t>
            </a:r>
            <a:endParaRPr lang="en-US" sz="1300" dirty="0"/>
          </a:p>
        </p:txBody>
      </p:sp>
      <p:sp>
        <p:nvSpPr>
          <p:cNvPr id="11" name="Shape 8"/>
          <p:cNvSpPr/>
          <p:nvPr/>
        </p:nvSpPr>
        <p:spPr>
          <a:xfrm>
            <a:off x="548640" y="1783080"/>
            <a:ext cx="429768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Shape 9"/>
          <p:cNvSpPr/>
          <p:nvPr/>
        </p:nvSpPr>
        <p:spPr>
          <a:xfrm>
            <a:off x="685800" y="1920240"/>
            <a:ext cx="320040" cy="320040"/>
          </a:xfrm>
          <a:prstGeom prst="ellipse">
            <a:avLst/>
          </a:prstGeom>
          <a:solidFill>
            <a:srgbClr val="028090"/>
          </a:solidFill>
          <a:ln/>
        </p:spPr>
      </p:sp>
      <p:sp>
        <p:nvSpPr>
          <p:cNvPr id="13" name="Text 10"/>
          <p:cNvSpPr/>
          <p:nvPr/>
        </p:nvSpPr>
        <p:spPr>
          <a:xfrm>
            <a:off x="685800" y="19202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p:nvPr/>
        </p:nvSpPr>
        <p:spPr>
          <a:xfrm>
            <a:off x="1143000" y="1874520"/>
            <a:ext cx="356616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Look up P(z &lt; 0.85) in Table 5</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Row 0.8, Column .05 → 0.8023</a:t>
            </a:r>
            <a:endParaRPr lang="en-US" sz="1300" dirty="0"/>
          </a:p>
        </p:txBody>
      </p:sp>
      <p:sp>
        <p:nvSpPr>
          <p:cNvPr id="15" name="Shape 12"/>
          <p:cNvSpPr/>
          <p:nvPr/>
        </p:nvSpPr>
        <p:spPr>
          <a:xfrm>
            <a:off x="548640" y="2560320"/>
            <a:ext cx="429768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3"/>
          <p:cNvSpPr/>
          <p:nvPr/>
        </p:nvSpPr>
        <p:spPr>
          <a:xfrm>
            <a:off x="685800" y="2697480"/>
            <a:ext cx="320040" cy="320040"/>
          </a:xfrm>
          <a:prstGeom prst="ellipse">
            <a:avLst/>
          </a:prstGeom>
          <a:solidFill>
            <a:srgbClr val="028090"/>
          </a:solidFill>
          <a:ln/>
        </p:spPr>
      </p:sp>
      <p:sp>
        <p:nvSpPr>
          <p:cNvPr id="17" name="Text 14"/>
          <p:cNvSpPr/>
          <p:nvPr/>
        </p:nvSpPr>
        <p:spPr>
          <a:xfrm>
            <a:off x="685800" y="26974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p:nvPr/>
        </p:nvSpPr>
        <p:spPr>
          <a:xfrm>
            <a:off x="1143000" y="2651760"/>
            <a:ext cx="356616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Apply complement: P(z &gt; 0.85) = 1 − 0.8023 = 0.1977</a:t>
            </a:r>
            <a:endParaRPr lang="en-US" sz="1300" dirty="0"/>
          </a:p>
        </p:txBody>
      </p:sp>
      <p:sp>
        <p:nvSpPr>
          <p:cNvPr id="19" name="Shape 16"/>
          <p:cNvSpPr/>
          <p:nvPr/>
        </p:nvSpPr>
        <p:spPr>
          <a:xfrm>
            <a:off x="548640" y="3337560"/>
            <a:ext cx="8046720" cy="73152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0" name="Text 17"/>
          <p:cNvSpPr/>
          <p:nvPr/>
        </p:nvSpPr>
        <p:spPr>
          <a:xfrm>
            <a:off x="777240" y="3383280"/>
            <a:ext cx="4572000" cy="32004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Result: P(z &gt; 0.85) = 0.1977</a:t>
            </a:r>
            <a:endParaRPr lang="en-US" sz="1600" dirty="0"/>
          </a:p>
        </p:txBody>
      </p:sp>
      <p:sp>
        <p:nvSpPr>
          <p:cNvPr id="21" name="Text 18"/>
          <p:cNvSpPr/>
          <p:nvPr/>
        </p:nvSpPr>
        <p:spPr>
          <a:xfrm>
            <a:off x="777240" y="3703320"/>
            <a:ext cx="7589520" cy="27432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Interpretation: About 19.77% of the standard normal distribution lies above z = 0.85.</a:t>
            </a:r>
            <a:endParaRPr lang="en-US" sz="1200" dirty="0"/>
          </a:p>
        </p:txBody>
      </p:sp>
      <p:sp>
        <p:nvSpPr>
          <p:cNvPr id="22" name="Shape 19"/>
          <p:cNvSpPr/>
          <p:nvPr/>
        </p:nvSpPr>
        <p:spPr>
          <a:xfrm>
            <a:off x="548640" y="420624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23" name="Image 1" descr="preencoded.png">    </p:cNvPr>
          <p:cNvPicPr>
            <a:picLocks noChangeAspect="1"/>
          </p:cNvPicPr>
          <p:nvPr/>
        </p:nvPicPr>
        <p:blipFill>
          <a:blip r:embed="rId2"/>
          <a:stretch>
            <a:fillRect/>
          </a:stretch>
        </p:blipFill>
        <p:spPr>
          <a:xfrm>
            <a:off x="731520" y="4297680"/>
            <a:ext cx="274320" cy="274320"/>
          </a:xfrm>
          <a:prstGeom prst="rect">
            <a:avLst/>
          </a:prstGeom>
        </p:spPr>
      </p:pic>
      <p:sp>
        <p:nvSpPr>
          <p:cNvPr id="24" name="Text 20"/>
          <p:cNvSpPr/>
          <p:nvPr/>
        </p:nvSpPr>
        <p:spPr>
          <a:xfrm>
            <a:off x="1143000" y="4251960"/>
            <a:ext cx="1828800" cy="274320"/>
          </a:xfrm>
          <a:prstGeom prst="rect">
            <a:avLst/>
          </a:prstGeom>
          <a:noFill/>
          <a:ln/>
        </p:spPr>
        <p:txBody>
          <a:bodyPr wrap="square" lIns="0" tIns="0" rIns="0" bIns="0" rtlCol="0" anchor="ctr"/>
          <a:lstStyle/>
          <a:p>
            <a:pPr indent="0" marL="0">
              <a:buNone/>
            </a:pPr>
            <a:r>
              <a:rPr lang="en-US" sz="1200" b="1" dirty="0">
                <a:solidFill>
                  <a:srgbClr val="E53E3E"/>
                </a:solidFill>
                <a:latin typeface="Calibri" pitchFamily="34" charset="0"/>
                <a:ea typeface="Calibri" pitchFamily="34" charset="-122"/>
                <a:cs typeface="Calibri" pitchFamily="34" charset="-120"/>
              </a:rPr>
              <a:t>Common Mistake:</a:t>
            </a:r>
            <a:endParaRPr lang="en-US" sz="1200" dirty="0"/>
          </a:p>
        </p:txBody>
      </p:sp>
      <p:sp>
        <p:nvSpPr>
          <p:cNvPr id="25" name="Text 21"/>
          <p:cNvSpPr/>
          <p:nvPr/>
        </p:nvSpPr>
        <p:spPr>
          <a:xfrm>
            <a:off x="1143000" y="4507992"/>
            <a:ext cx="7315200" cy="27432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Students often read 0.8023 from the table and report it as the answer. But the table gives left-tail area. For right-tail, you MUST subtract from 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1: 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Practice: Standard Normal Problems</a:t>
            </a:r>
            <a:endParaRPr lang="en-US" sz="2600" dirty="0"/>
          </a:p>
        </p:txBody>
      </p:sp>
      <p:sp>
        <p:nvSpPr>
          <p:cNvPr id="5" name="Shape 3"/>
          <p:cNvSpPr/>
          <p:nvPr/>
        </p:nvSpPr>
        <p:spPr>
          <a:xfrm>
            <a:off x="548640" y="114300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731520" y="1307592"/>
            <a:ext cx="347472" cy="347472"/>
          </a:xfrm>
          <a:prstGeom prst="ellipse">
            <a:avLst/>
          </a:prstGeom>
          <a:solidFill>
            <a:srgbClr val="028090"/>
          </a:solidFill>
          <a:ln/>
        </p:spPr>
      </p:sp>
      <p:sp>
        <p:nvSpPr>
          <p:cNvPr id="7" name="Text 5"/>
          <p:cNvSpPr/>
          <p:nvPr/>
        </p:nvSpPr>
        <p:spPr>
          <a:xfrm>
            <a:off x="731520" y="1307592"/>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1234440"/>
            <a:ext cx="4572000" cy="32004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Find P(z &lt; 2.33)</a:t>
            </a:r>
            <a:endParaRPr lang="en-US" sz="1500" dirty="0"/>
          </a:p>
        </p:txBody>
      </p:sp>
      <p:sp>
        <p:nvSpPr>
          <p:cNvPr id="9" name="Text 7"/>
          <p:cNvSpPr/>
          <p:nvPr/>
        </p:nvSpPr>
        <p:spPr>
          <a:xfrm>
            <a:off x="1280160" y="1527048"/>
            <a:ext cx="4572000" cy="22860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Case 1 — read directly</a:t>
            </a:r>
            <a:endParaRPr lang="en-US" sz="1100" dirty="0"/>
          </a:p>
        </p:txBody>
      </p:sp>
      <p:sp>
        <p:nvSpPr>
          <p:cNvPr id="10" name="Shape 8"/>
          <p:cNvSpPr/>
          <p:nvPr/>
        </p:nvSpPr>
        <p:spPr>
          <a:xfrm>
            <a:off x="548640" y="201168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731520" y="2176272"/>
            <a:ext cx="347472" cy="347472"/>
          </a:xfrm>
          <a:prstGeom prst="ellipse">
            <a:avLst/>
          </a:prstGeom>
          <a:solidFill>
            <a:srgbClr val="028090"/>
          </a:solidFill>
          <a:ln/>
        </p:spPr>
      </p:sp>
      <p:sp>
        <p:nvSpPr>
          <p:cNvPr id="12" name="Text 10"/>
          <p:cNvSpPr/>
          <p:nvPr/>
        </p:nvSpPr>
        <p:spPr>
          <a:xfrm>
            <a:off x="731520" y="2176272"/>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280160" y="2103120"/>
            <a:ext cx="4572000" cy="32004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Find P(z &gt; −0.55)</a:t>
            </a:r>
            <a:endParaRPr lang="en-US" sz="1500" dirty="0"/>
          </a:p>
        </p:txBody>
      </p:sp>
      <p:sp>
        <p:nvSpPr>
          <p:cNvPr id="14" name="Text 12"/>
          <p:cNvSpPr/>
          <p:nvPr/>
        </p:nvSpPr>
        <p:spPr>
          <a:xfrm>
            <a:off x="1280160" y="2395728"/>
            <a:ext cx="4572000" cy="22860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Case 2 — complement</a:t>
            </a:r>
            <a:endParaRPr lang="en-US" sz="1100" dirty="0"/>
          </a:p>
        </p:txBody>
      </p:sp>
      <p:sp>
        <p:nvSpPr>
          <p:cNvPr id="15" name="Shape 13"/>
          <p:cNvSpPr/>
          <p:nvPr/>
        </p:nvSpPr>
        <p:spPr>
          <a:xfrm>
            <a:off x="548640" y="288036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731520" y="3044952"/>
            <a:ext cx="347472" cy="347472"/>
          </a:xfrm>
          <a:prstGeom prst="ellipse">
            <a:avLst/>
          </a:prstGeom>
          <a:solidFill>
            <a:srgbClr val="028090"/>
          </a:solidFill>
          <a:ln/>
        </p:spPr>
      </p:sp>
      <p:sp>
        <p:nvSpPr>
          <p:cNvPr id="17" name="Text 15"/>
          <p:cNvSpPr/>
          <p:nvPr/>
        </p:nvSpPr>
        <p:spPr>
          <a:xfrm>
            <a:off x="731520" y="3044952"/>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80160" y="2971800"/>
            <a:ext cx="4572000" cy="32004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Find P(0.40 &lt; z &lt; 2.10)</a:t>
            </a:r>
            <a:endParaRPr lang="en-US" sz="1500" dirty="0"/>
          </a:p>
        </p:txBody>
      </p:sp>
      <p:sp>
        <p:nvSpPr>
          <p:cNvPr id="19" name="Text 17"/>
          <p:cNvSpPr/>
          <p:nvPr/>
        </p:nvSpPr>
        <p:spPr>
          <a:xfrm>
            <a:off x="1280160" y="3264408"/>
            <a:ext cx="4572000" cy="22860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Case 3 — subtract two areas</a:t>
            </a:r>
            <a:endParaRPr lang="en-US" sz="1100" dirty="0"/>
          </a:p>
        </p:txBody>
      </p:sp>
      <p:sp>
        <p:nvSpPr>
          <p:cNvPr id="20" name="Shape 18"/>
          <p:cNvSpPr/>
          <p:nvPr/>
        </p:nvSpPr>
        <p:spPr>
          <a:xfrm>
            <a:off x="548640" y="3749040"/>
            <a:ext cx="8046720" cy="685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731520" y="3913632"/>
            <a:ext cx="347472" cy="347472"/>
          </a:xfrm>
          <a:prstGeom prst="ellipse">
            <a:avLst/>
          </a:prstGeom>
          <a:solidFill>
            <a:srgbClr val="028090"/>
          </a:solidFill>
          <a:ln/>
        </p:spPr>
      </p:sp>
      <p:sp>
        <p:nvSpPr>
          <p:cNvPr id="22" name="Text 20"/>
          <p:cNvSpPr/>
          <p:nvPr/>
        </p:nvSpPr>
        <p:spPr>
          <a:xfrm>
            <a:off x="731520" y="3913632"/>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280160" y="3840480"/>
            <a:ext cx="4572000" cy="32004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Find P(−1.96 &lt; z &lt; 1.96)</a:t>
            </a:r>
            <a:endParaRPr lang="en-US" sz="1500" dirty="0"/>
          </a:p>
        </p:txBody>
      </p:sp>
      <p:sp>
        <p:nvSpPr>
          <p:cNvPr id="24" name="Text 22"/>
          <p:cNvSpPr/>
          <p:nvPr/>
        </p:nvSpPr>
        <p:spPr>
          <a:xfrm>
            <a:off x="1280160" y="4133088"/>
            <a:ext cx="4572000" cy="22860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Case 3 — what percent is this?</a:t>
            </a:r>
            <a:endParaRPr lang="en-US" sz="1100" dirty="0"/>
          </a:p>
        </p:txBody>
      </p:sp>
      <p:sp>
        <p:nvSpPr>
          <p:cNvPr id="25" name="Text 23"/>
          <p:cNvSpPr/>
          <p:nvPr/>
        </p:nvSpPr>
        <p:spPr>
          <a:xfrm>
            <a:off x="548640" y="4663440"/>
            <a:ext cx="8046720" cy="274320"/>
          </a:xfrm>
          <a:prstGeom prst="rect">
            <a:avLst/>
          </a:prstGeom>
          <a:noFill/>
          <a:ln/>
        </p:spPr>
        <p:txBody>
          <a:bodyPr wrap="square" lIns="0" tIns="0" rIns="0" bIns="0" rtlCol="0" anchor="ctr"/>
          <a:lstStyle/>
          <a:p>
            <a:pPr algn="ctr" indent="0" marL="0">
              <a:buNone/>
            </a:pPr>
            <a:r>
              <a:rPr lang="en-US" sz="1200" i="1" dirty="0">
                <a:solidFill>
                  <a:srgbClr val="718096"/>
                </a:solidFill>
                <a:latin typeface="Calibri" pitchFamily="34" charset="0"/>
                <a:ea typeface="Calibri" pitchFamily="34" charset="-122"/>
                <a:cs typeface="Calibri" pitchFamily="34" charset="-120"/>
              </a:rPr>
              <a:t>Try these with your table — answers in the speaker notes!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Why We Convert: From x to z</a:t>
            </a:r>
            <a:endParaRPr lang="en-US" sz="2600" dirty="0"/>
          </a:p>
        </p:txBody>
      </p:sp>
      <p:sp>
        <p:nvSpPr>
          <p:cNvPr id="5" name="Shape 3"/>
          <p:cNvSpPr/>
          <p:nvPr/>
        </p:nvSpPr>
        <p:spPr>
          <a:xfrm>
            <a:off x="548640" y="1097280"/>
            <a:ext cx="3657600" cy="21031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731520" y="1188720"/>
            <a:ext cx="3291840"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Georgia" pitchFamily="34" charset="0"/>
                <a:ea typeface="Georgia" pitchFamily="34" charset="-122"/>
                <a:cs typeface="Georgia" pitchFamily="34" charset="-120"/>
              </a:rPr>
              <a:t>Original Distribution</a:t>
            </a:r>
            <a:endParaRPr lang="en-US" sz="1300" dirty="0"/>
          </a:p>
        </p:txBody>
      </p:sp>
      <p:sp>
        <p:nvSpPr>
          <p:cNvPr id="7" name="Text 5"/>
          <p:cNvSpPr/>
          <p:nvPr/>
        </p:nvSpPr>
        <p:spPr>
          <a:xfrm>
            <a:off x="731520" y="1508760"/>
            <a:ext cx="3291840" cy="73152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x ~ Normal(μ, σ)</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Any mean, any std dev</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No table available!</a:t>
            </a:r>
            <a:endParaRPr lang="en-US" sz="1200" dirty="0"/>
          </a:p>
        </p:txBody>
      </p:sp>
      <p:sp>
        <p:nvSpPr>
          <p:cNvPr id="8" name="Text 6"/>
          <p:cNvSpPr/>
          <p:nvPr/>
        </p:nvSpPr>
        <p:spPr>
          <a:xfrm>
            <a:off x="731520" y="2651760"/>
            <a:ext cx="3291840" cy="320040"/>
          </a:xfrm>
          <a:prstGeom prst="rect">
            <a:avLst/>
          </a:prstGeom>
          <a:noFill/>
          <a:ln/>
        </p:spPr>
        <p:txBody>
          <a:bodyPr wrap="square" lIns="0" tIns="0" rIns="0" bIns="0" rtlCol="0" anchor="ctr"/>
          <a:lstStyle/>
          <a:p>
            <a:pPr algn="ctr" indent="0" marL="0">
              <a:buNone/>
            </a:pPr>
            <a:r>
              <a:rPr lang="en-US" sz="1400" dirty="0">
                <a:solidFill>
                  <a:srgbClr val="E53E3E"/>
                </a:solidFill>
                <a:latin typeface="Georgia" pitchFamily="34" charset="0"/>
                <a:ea typeface="Georgia" pitchFamily="34" charset="-122"/>
                <a:cs typeface="Georgia" pitchFamily="34" charset="-120"/>
              </a:rPr>
              <a:t>μ = ?, σ = ?</a:t>
            </a:r>
            <a:endParaRPr lang="en-US" sz="1400" dirty="0"/>
          </a:p>
        </p:txBody>
      </p:sp>
      <p:pic>
        <p:nvPicPr>
          <p:cNvPr id="9" name="Image 0" descr="preencoded.png">    </p:cNvPr>
          <p:cNvPicPr>
            <a:picLocks noChangeAspect="1"/>
          </p:cNvPicPr>
          <p:nvPr/>
        </p:nvPicPr>
        <p:blipFill>
          <a:blip r:embed="rId1"/>
          <a:stretch>
            <a:fillRect/>
          </a:stretch>
        </p:blipFill>
        <p:spPr>
          <a:xfrm>
            <a:off x="4343400" y="1920240"/>
            <a:ext cx="457200" cy="457200"/>
          </a:xfrm>
          <a:prstGeom prst="rect">
            <a:avLst/>
          </a:prstGeom>
        </p:spPr>
      </p:pic>
      <p:sp>
        <p:nvSpPr>
          <p:cNvPr id="10" name="Shape 7"/>
          <p:cNvSpPr/>
          <p:nvPr/>
        </p:nvSpPr>
        <p:spPr>
          <a:xfrm>
            <a:off x="4251960" y="1828800"/>
            <a:ext cx="640080" cy="640080"/>
          </a:xfrm>
          <a:prstGeom prst="ellipse">
            <a:avLst/>
          </a:prstGeom>
          <a:solidFill>
            <a:srgbClr val="028090"/>
          </a:solidFill>
          <a:ln/>
        </p:spPr>
      </p:sp>
      <p:pic>
        <p:nvPicPr>
          <p:cNvPr id="11" name="Image 1" descr="preencoded.png">    </p:cNvPr>
          <p:cNvPicPr>
            <a:picLocks noChangeAspect="1"/>
          </p:cNvPicPr>
          <p:nvPr/>
        </p:nvPicPr>
        <p:blipFill>
          <a:blip r:embed="rId2"/>
          <a:stretch>
            <a:fillRect/>
          </a:stretch>
        </p:blipFill>
        <p:spPr>
          <a:xfrm>
            <a:off x="4343400" y="1920240"/>
            <a:ext cx="457200" cy="457200"/>
          </a:xfrm>
          <a:prstGeom prst="rect">
            <a:avLst/>
          </a:prstGeom>
        </p:spPr>
      </p:pic>
      <p:sp>
        <p:nvSpPr>
          <p:cNvPr id="12" name="Shape 8"/>
          <p:cNvSpPr/>
          <p:nvPr/>
        </p:nvSpPr>
        <p:spPr>
          <a:xfrm>
            <a:off x="5029200" y="1097280"/>
            <a:ext cx="3657600" cy="21031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9"/>
          <p:cNvSpPr/>
          <p:nvPr/>
        </p:nvSpPr>
        <p:spPr>
          <a:xfrm>
            <a:off x="5212080" y="1188720"/>
            <a:ext cx="3291840" cy="274320"/>
          </a:xfrm>
          <a:prstGeom prst="rect">
            <a:avLst/>
          </a:prstGeom>
          <a:noFill/>
          <a:ln/>
        </p:spPr>
        <p:txBody>
          <a:bodyPr wrap="square" lIns="0" tIns="0" rIns="0" bIns="0" rtlCol="0" anchor="ctr"/>
          <a:lstStyle/>
          <a:p>
            <a:pPr algn="ctr" indent="0" marL="0">
              <a:buNone/>
            </a:pPr>
            <a:r>
              <a:rPr lang="en-US" sz="1300" b="1" dirty="0">
                <a:solidFill>
                  <a:srgbClr val="028090"/>
                </a:solidFill>
                <a:latin typeface="Georgia" pitchFamily="34" charset="0"/>
                <a:ea typeface="Georgia" pitchFamily="34" charset="-122"/>
                <a:cs typeface="Georgia" pitchFamily="34" charset="-120"/>
              </a:rPr>
              <a:t>Standard Normal</a:t>
            </a:r>
            <a:endParaRPr lang="en-US" sz="1300" dirty="0"/>
          </a:p>
        </p:txBody>
      </p:sp>
      <p:sp>
        <p:nvSpPr>
          <p:cNvPr id="14" name="Text 10"/>
          <p:cNvSpPr/>
          <p:nvPr/>
        </p:nvSpPr>
        <p:spPr>
          <a:xfrm>
            <a:off x="5212080" y="1508760"/>
            <a:ext cx="3291840" cy="73152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z ~ Normal(0, 1)</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Mean = 0, Std dev = 1</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Table 5 works!</a:t>
            </a:r>
            <a:endParaRPr lang="en-US" sz="1200" dirty="0"/>
          </a:p>
        </p:txBody>
      </p:sp>
      <p:sp>
        <p:nvSpPr>
          <p:cNvPr id="15" name="Text 11"/>
          <p:cNvSpPr/>
          <p:nvPr/>
        </p:nvSpPr>
        <p:spPr>
          <a:xfrm>
            <a:off x="5212080" y="2651760"/>
            <a:ext cx="3291840" cy="320040"/>
          </a:xfrm>
          <a:prstGeom prst="rect">
            <a:avLst/>
          </a:prstGeom>
          <a:noFill/>
          <a:ln/>
        </p:spPr>
        <p:txBody>
          <a:bodyPr wrap="square" lIns="0" tIns="0" rIns="0" bIns="0" rtlCol="0" anchor="ctr"/>
          <a:lstStyle/>
          <a:p>
            <a:pPr algn="ctr" indent="0" marL="0">
              <a:buNone/>
            </a:pPr>
            <a:r>
              <a:rPr lang="en-US" sz="1400" b="1" dirty="0">
                <a:solidFill>
                  <a:srgbClr val="00A896"/>
                </a:solidFill>
                <a:latin typeface="Georgia" pitchFamily="34" charset="0"/>
                <a:ea typeface="Georgia" pitchFamily="34" charset="-122"/>
                <a:cs typeface="Georgia" pitchFamily="34" charset="-120"/>
              </a:rPr>
              <a:t>μ = 0, σ = 1</a:t>
            </a:r>
            <a:endParaRPr lang="en-US" sz="1400" dirty="0"/>
          </a:p>
        </p:txBody>
      </p:sp>
      <p:sp>
        <p:nvSpPr>
          <p:cNvPr id="16" name="Shape 12"/>
          <p:cNvSpPr/>
          <p:nvPr/>
        </p:nvSpPr>
        <p:spPr>
          <a:xfrm>
            <a:off x="1828800" y="3520440"/>
            <a:ext cx="5486400" cy="685800"/>
          </a:xfrm>
          <a:prstGeom prst="rect">
            <a:avLst/>
          </a:prstGeom>
          <a:solidFill>
            <a:srgbClr val="1E2761"/>
          </a:solidFill>
          <a:ln/>
          <a:effectLst>
            <a:outerShdw sx="100000" sy="100000" kx="0" ky="0" algn="bl" rotWithShape="0" blurRad="50800" dist="25400" dir="8100000">
              <a:srgbClr val="000000">
                <a:alpha val="12000"/>
              </a:srgbClr>
            </a:outerShdw>
          </a:effectLst>
        </p:spPr>
      </p:sp>
      <p:sp>
        <p:nvSpPr>
          <p:cNvPr id="17" name="Text 13"/>
          <p:cNvSpPr/>
          <p:nvPr/>
        </p:nvSpPr>
        <p:spPr>
          <a:xfrm>
            <a:off x="1828800" y="3520440"/>
            <a:ext cx="5486400" cy="68580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z  =  (x − μ) / σ</a:t>
            </a:r>
            <a:endParaRPr lang="en-US" sz="2200" dirty="0"/>
          </a:p>
        </p:txBody>
      </p:sp>
      <p:sp>
        <p:nvSpPr>
          <p:cNvPr id="18" name="Shape 14"/>
          <p:cNvSpPr/>
          <p:nvPr/>
        </p:nvSpPr>
        <p:spPr>
          <a:xfrm>
            <a:off x="548640" y="4434840"/>
            <a:ext cx="8046720" cy="45720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19" name="Text 15"/>
          <p:cNvSpPr/>
          <p:nvPr/>
        </p:nvSpPr>
        <p:spPr>
          <a:xfrm>
            <a:off x="777240" y="4462272"/>
            <a:ext cx="75895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This single formula lets us convert ANY normal distribution problem into a standard normal problem that we can solve with Table 5.</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Formula: Converting x to z</a:t>
            </a:r>
            <a:endParaRPr lang="en-US" sz="2600" dirty="0"/>
          </a:p>
        </p:txBody>
      </p:sp>
      <p:sp>
        <p:nvSpPr>
          <p:cNvPr id="5" name="Shape 3"/>
          <p:cNvSpPr/>
          <p:nvPr/>
        </p:nvSpPr>
        <p:spPr>
          <a:xfrm>
            <a:off x="1371600" y="1188720"/>
            <a:ext cx="6400800" cy="777240"/>
          </a:xfrm>
          <a:prstGeom prst="rect">
            <a:avLst/>
          </a:prstGeom>
          <a:solidFill>
            <a:srgbClr val="1E2761"/>
          </a:solidFill>
          <a:ln/>
          <a:effectLst>
            <a:outerShdw sx="100000" sy="100000" kx="0" ky="0" algn="bl" rotWithShape="0" blurRad="50800" dist="25400" dir="8100000">
              <a:srgbClr val="000000">
                <a:alpha val="12000"/>
              </a:srgbClr>
            </a:outerShdw>
          </a:effectLst>
        </p:spPr>
      </p:sp>
      <p:sp>
        <p:nvSpPr>
          <p:cNvPr id="6" name="Text 4"/>
          <p:cNvSpPr/>
          <p:nvPr/>
        </p:nvSpPr>
        <p:spPr>
          <a:xfrm>
            <a:off x="1371600" y="1188720"/>
            <a:ext cx="64008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z  =  (x − μ) / σ</a:t>
            </a:r>
            <a:endParaRPr lang="en-US" sz="2200" dirty="0"/>
          </a:p>
        </p:txBody>
      </p:sp>
      <p:sp>
        <p:nvSpPr>
          <p:cNvPr id="7" name="Text 5"/>
          <p:cNvSpPr/>
          <p:nvPr/>
        </p:nvSpPr>
        <p:spPr>
          <a:xfrm>
            <a:off x="548640" y="2194560"/>
            <a:ext cx="45720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Procedure for finding P(a ≤ x ≤ b):</a:t>
            </a:r>
            <a:endParaRPr lang="en-US" sz="1400" dirty="0"/>
          </a:p>
        </p:txBody>
      </p:sp>
      <p:sp>
        <p:nvSpPr>
          <p:cNvPr id="8" name="Shape 6"/>
          <p:cNvSpPr/>
          <p:nvPr/>
        </p:nvSpPr>
        <p:spPr>
          <a:xfrm>
            <a:off x="548640" y="2606040"/>
            <a:ext cx="804672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685800" y="2743200"/>
            <a:ext cx="320040" cy="320040"/>
          </a:xfrm>
          <a:prstGeom prst="ellipse">
            <a:avLst/>
          </a:prstGeom>
          <a:solidFill>
            <a:srgbClr val="028090"/>
          </a:solidFill>
          <a:ln/>
        </p:spPr>
      </p:sp>
      <p:sp>
        <p:nvSpPr>
          <p:cNvPr id="10" name="Text 8"/>
          <p:cNvSpPr/>
          <p:nvPr/>
        </p:nvSpPr>
        <p:spPr>
          <a:xfrm>
            <a:off x="685800" y="274320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1143000" y="2697480"/>
            <a:ext cx="73152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Sketch the normal curve, mark μ, and shade the region of interest</a:t>
            </a:r>
            <a:endParaRPr lang="en-US" sz="1300" dirty="0"/>
          </a:p>
        </p:txBody>
      </p:sp>
      <p:sp>
        <p:nvSpPr>
          <p:cNvPr id="12" name="Shape 10"/>
          <p:cNvSpPr/>
          <p:nvPr/>
        </p:nvSpPr>
        <p:spPr>
          <a:xfrm>
            <a:off x="548640" y="3200400"/>
            <a:ext cx="804672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1"/>
          <p:cNvSpPr/>
          <p:nvPr/>
        </p:nvSpPr>
        <p:spPr>
          <a:xfrm>
            <a:off x="685800" y="3337560"/>
            <a:ext cx="320040" cy="320040"/>
          </a:xfrm>
          <a:prstGeom prst="ellipse">
            <a:avLst/>
          </a:prstGeom>
          <a:solidFill>
            <a:srgbClr val="028090"/>
          </a:solidFill>
          <a:ln/>
        </p:spPr>
      </p:sp>
      <p:sp>
        <p:nvSpPr>
          <p:cNvPr id="14" name="Text 12"/>
          <p:cNvSpPr/>
          <p:nvPr/>
        </p:nvSpPr>
        <p:spPr>
          <a:xfrm>
            <a:off x="685800" y="33375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143000" y="3291840"/>
            <a:ext cx="73152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Convert each x boundary to z:   z = (x − μ) / σ</a:t>
            </a:r>
            <a:endParaRPr lang="en-US" sz="1300" dirty="0"/>
          </a:p>
        </p:txBody>
      </p:sp>
      <p:sp>
        <p:nvSpPr>
          <p:cNvPr id="16" name="Shape 14"/>
          <p:cNvSpPr/>
          <p:nvPr/>
        </p:nvSpPr>
        <p:spPr>
          <a:xfrm>
            <a:off x="548640" y="3794760"/>
            <a:ext cx="804672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5"/>
          <p:cNvSpPr/>
          <p:nvPr/>
        </p:nvSpPr>
        <p:spPr>
          <a:xfrm>
            <a:off x="685800" y="3931920"/>
            <a:ext cx="320040" cy="320040"/>
          </a:xfrm>
          <a:prstGeom prst="ellipse">
            <a:avLst/>
          </a:prstGeom>
          <a:solidFill>
            <a:srgbClr val="028090"/>
          </a:solidFill>
          <a:ln/>
        </p:spPr>
      </p:sp>
      <p:sp>
        <p:nvSpPr>
          <p:cNvPr id="18" name="Text 16"/>
          <p:cNvSpPr/>
          <p:nvPr/>
        </p:nvSpPr>
        <p:spPr>
          <a:xfrm>
            <a:off x="685800" y="393192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143000" y="3886200"/>
            <a:ext cx="73152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Use Table 5 to find the area (apply the correct case: left, right, or between)</a:t>
            </a:r>
            <a:endParaRPr lang="en-US" sz="1300" dirty="0"/>
          </a:p>
        </p:txBody>
      </p:sp>
      <p:sp>
        <p:nvSpPr>
          <p:cNvPr id="20" name="Shape 18"/>
          <p:cNvSpPr/>
          <p:nvPr/>
        </p:nvSpPr>
        <p:spPr>
          <a:xfrm>
            <a:off x="548640" y="4389120"/>
            <a:ext cx="804672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685800" y="4526280"/>
            <a:ext cx="320040" cy="320040"/>
          </a:xfrm>
          <a:prstGeom prst="ellipse">
            <a:avLst/>
          </a:prstGeom>
          <a:solidFill>
            <a:srgbClr val="028090"/>
          </a:solidFill>
          <a:ln/>
        </p:spPr>
      </p:sp>
      <p:sp>
        <p:nvSpPr>
          <p:cNvPr id="22" name="Text 20"/>
          <p:cNvSpPr/>
          <p:nvPr/>
        </p:nvSpPr>
        <p:spPr>
          <a:xfrm>
            <a:off x="685800" y="45262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143000" y="4480560"/>
            <a:ext cx="73152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Interpret the result as a probability or percentage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Worked Example: Finding P(3 ≤ x ≤ 6)</a:t>
            </a:r>
            <a:endParaRPr lang="en-US" sz="2600" dirty="0"/>
          </a:p>
        </p:txBody>
      </p:sp>
      <p:sp>
        <p:nvSpPr>
          <p:cNvPr id="5" name="Shape 3"/>
          <p:cNvSpPr/>
          <p:nvPr/>
        </p:nvSpPr>
        <p:spPr>
          <a:xfrm>
            <a:off x="548640" y="1051560"/>
            <a:ext cx="8046720" cy="64008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2743200" cy="22860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Problem (HW #5 format):</a:t>
            </a:r>
            <a:endParaRPr lang="en-US" sz="1100" dirty="0"/>
          </a:p>
        </p:txBody>
      </p:sp>
      <p:sp>
        <p:nvSpPr>
          <p:cNvPr id="7" name="Text 5"/>
          <p:cNvSpPr/>
          <p:nvPr/>
        </p:nvSpPr>
        <p:spPr>
          <a:xfrm>
            <a:off x="777240" y="1344168"/>
            <a:ext cx="758952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x has a normal distribution with μ = 4 and σ = 2. Find P(3 ≤ x ≤ 6).</a:t>
            </a:r>
            <a:endParaRPr lang="en-US" sz="1400" dirty="0"/>
          </a:p>
        </p:txBody>
      </p:sp>
      <p:sp>
        <p:nvSpPr>
          <p:cNvPr id="8" name="Shape 6"/>
          <p:cNvSpPr/>
          <p:nvPr/>
        </p:nvSpPr>
        <p:spPr>
          <a:xfrm>
            <a:off x="548640" y="1874520"/>
            <a:ext cx="45720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7"/>
          <p:cNvSpPr/>
          <p:nvPr/>
        </p:nvSpPr>
        <p:spPr>
          <a:xfrm>
            <a:off x="685800" y="2011680"/>
            <a:ext cx="320040" cy="320040"/>
          </a:xfrm>
          <a:prstGeom prst="ellipse">
            <a:avLst/>
          </a:prstGeom>
          <a:solidFill>
            <a:srgbClr val="028090"/>
          </a:solidFill>
          <a:ln/>
        </p:spPr>
      </p:sp>
      <p:sp>
        <p:nvSpPr>
          <p:cNvPr id="10" name="Text 8"/>
          <p:cNvSpPr/>
          <p:nvPr/>
        </p:nvSpPr>
        <p:spPr>
          <a:xfrm>
            <a:off x="685800" y="20116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9"/>
          <p:cNvSpPr/>
          <p:nvPr/>
        </p:nvSpPr>
        <p:spPr>
          <a:xfrm>
            <a:off x="1143000" y="1965960"/>
            <a:ext cx="384048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Convert x = 3:    z₁ = (3 − 4) / 2 = −0.50</a:t>
            </a:r>
            <a:endParaRPr lang="en-US" sz="1300" dirty="0"/>
          </a:p>
        </p:txBody>
      </p:sp>
      <p:sp>
        <p:nvSpPr>
          <p:cNvPr id="12" name="Shape 10"/>
          <p:cNvSpPr/>
          <p:nvPr/>
        </p:nvSpPr>
        <p:spPr>
          <a:xfrm>
            <a:off x="548640" y="2468880"/>
            <a:ext cx="45720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1"/>
          <p:cNvSpPr/>
          <p:nvPr/>
        </p:nvSpPr>
        <p:spPr>
          <a:xfrm>
            <a:off x="685800" y="2606040"/>
            <a:ext cx="320040" cy="320040"/>
          </a:xfrm>
          <a:prstGeom prst="ellipse">
            <a:avLst/>
          </a:prstGeom>
          <a:solidFill>
            <a:srgbClr val="028090"/>
          </a:solidFill>
          <a:ln/>
        </p:spPr>
      </p:sp>
      <p:sp>
        <p:nvSpPr>
          <p:cNvPr id="14" name="Text 12"/>
          <p:cNvSpPr/>
          <p:nvPr/>
        </p:nvSpPr>
        <p:spPr>
          <a:xfrm>
            <a:off x="685800" y="26060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3"/>
          <p:cNvSpPr/>
          <p:nvPr/>
        </p:nvSpPr>
        <p:spPr>
          <a:xfrm>
            <a:off x="1143000" y="2560320"/>
            <a:ext cx="384048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Convert x = 6:    z₂ = (6 − 4) / 2 = 1.00</a:t>
            </a:r>
            <a:endParaRPr lang="en-US" sz="1300" dirty="0"/>
          </a:p>
        </p:txBody>
      </p:sp>
      <p:sp>
        <p:nvSpPr>
          <p:cNvPr id="16" name="Shape 14"/>
          <p:cNvSpPr/>
          <p:nvPr/>
        </p:nvSpPr>
        <p:spPr>
          <a:xfrm>
            <a:off x="548640" y="3063240"/>
            <a:ext cx="457200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5"/>
          <p:cNvSpPr/>
          <p:nvPr/>
        </p:nvSpPr>
        <p:spPr>
          <a:xfrm>
            <a:off x="685800" y="3200400"/>
            <a:ext cx="320040" cy="320040"/>
          </a:xfrm>
          <a:prstGeom prst="ellipse">
            <a:avLst/>
          </a:prstGeom>
          <a:solidFill>
            <a:srgbClr val="028090"/>
          </a:solidFill>
          <a:ln/>
        </p:spPr>
      </p:sp>
      <p:sp>
        <p:nvSpPr>
          <p:cNvPr id="18" name="Text 16"/>
          <p:cNvSpPr/>
          <p:nvPr/>
        </p:nvSpPr>
        <p:spPr>
          <a:xfrm>
            <a:off x="685800" y="320040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p:nvPr/>
        </p:nvSpPr>
        <p:spPr>
          <a:xfrm>
            <a:off x="1143000" y="3154680"/>
            <a:ext cx="384048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Table lookup:  P(z &lt; 1.00) = 0.8413</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                         P(z &lt; −0.50) = 0.3085</a:t>
            </a:r>
            <a:endParaRPr lang="en-US" sz="1300" dirty="0"/>
          </a:p>
        </p:txBody>
      </p:sp>
      <p:sp>
        <p:nvSpPr>
          <p:cNvPr id="20" name="Shape 18"/>
          <p:cNvSpPr/>
          <p:nvPr/>
        </p:nvSpPr>
        <p:spPr>
          <a:xfrm>
            <a:off x="548640" y="3794760"/>
            <a:ext cx="457200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685800" y="3931920"/>
            <a:ext cx="320040" cy="320040"/>
          </a:xfrm>
          <a:prstGeom prst="ellipse">
            <a:avLst/>
          </a:prstGeom>
          <a:solidFill>
            <a:srgbClr val="028090"/>
          </a:solidFill>
          <a:ln/>
        </p:spPr>
      </p:sp>
      <p:sp>
        <p:nvSpPr>
          <p:cNvPr id="22" name="Text 20"/>
          <p:cNvSpPr/>
          <p:nvPr/>
        </p:nvSpPr>
        <p:spPr>
          <a:xfrm>
            <a:off x="685800" y="393192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143000" y="3886200"/>
            <a:ext cx="384048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Subtract:  0.8413 − 0.3085 = 0.5328</a:t>
            </a:r>
            <a:endParaRPr lang="en-US" sz="1300" dirty="0"/>
          </a:p>
        </p:txBody>
      </p:sp>
      <p:pic>
        <p:nvPicPr>
          <p:cNvPr id="24" name="Image 0" descr="preencoded.png">    </p:cNvPr>
          <p:cNvPicPr>
            <a:picLocks noChangeAspect="1"/>
          </p:cNvPicPr>
          <p:nvPr/>
        </p:nvPicPr>
        <p:blipFill>
          <a:blip r:embed="rId1"/>
          <a:stretch>
            <a:fillRect/>
          </a:stretch>
        </p:blipFill>
        <p:spPr>
          <a:xfrm>
            <a:off x="5303520" y="1828800"/>
            <a:ext cx="3474720" cy="1737360"/>
          </a:xfrm>
          <a:prstGeom prst="rect">
            <a:avLst/>
          </a:prstGeom>
        </p:spPr>
      </p:pic>
      <p:sp>
        <p:nvSpPr>
          <p:cNvPr id="25" name="Text 22"/>
          <p:cNvSpPr/>
          <p:nvPr/>
        </p:nvSpPr>
        <p:spPr>
          <a:xfrm>
            <a:off x="5303520" y="3520440"/>
            <a:ext cx="3474720" cy="228600"/>
          </a:xfrm>
          <a:prstGeom prst="rect">
            <a:avLst/>
          </a:prstGeom>
          <a:noFill/>
          <a:ln/>
        </p:spPr>
        <p:txBody>
          <a:bodyPr wrap="square" lIns="0" tIns="0" rIns="0" bIns="0"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z-scale</a:t>
            </a:r>
            <a:endParaRPr lang="en-US" sz="1000" dirty="0"/>
          </a:p>
        </p:txBody>
      </p:sp>
      <p:sp>
        <p:nvSpPr>
          <p:cNvPr id="26" name="Shape 23"/>
          <p:cNvSpPr/>
          <p:nvPr/>
        </p:nvSpPr>
        <p:spPr>
          <a:xfrm>
            <a:off x="548640" y="4434840"/>
            <a:ext cx="8046720" cy="50292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7" name="Text 24"/>
          <p:cNvSpPr/>
          <p:nvPr/>
        </p:nvSpPr>
        <p:spPr>
          <a:xfrm>
            <a:off x="777240" y="4453128"/>
            <a:ext cx="3657600" cy="22860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P(3 ≤ x ≤ 6) = 0.5328</a:t>
            </a:r>
            <a:endParaRPr lang="en-US" sz="1500" dirty="0"/>
          </a:p>
        </p:txBody>
      </p:sp>
      <p:sp>
        <p:nvSpPr>
          <p:cNvPr id="28" name="Text 25"/>
          <p:cNvSpPr/>
          <p:nvPr/>
        </p:nvSpPr>
        <p:spPr>
          <a:xfrm>
            <a:off x="777240" y="4681728"/>
            <a:ext cx="7315200" cy="2286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About 53.28% of x-values fall between 3 and 6.</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Worked Example: Left and Right Tail</a:t>
            </a:r>
            <a:endParaRPr lang="en-US" sz="2600" dirty="0"/>
          </a:p>
        </p:txBody>
      </p:sp>
      <p:sp>
        <p:nvSpPr>
          <p:cNvPr id="5" name="Shape 3"/>
          <p:cNvSpPr/>
          <p:nvPr/>
        </p:nvSpPr>
        <p:spPr>
          <a:xfrm>
            <a:off x="548640" y="1051560"/>
            <a:ext cx="8046720" cy="50292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36576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Weights are normally distributed: μ = 172 lb, σ = 29 lb</a:t>
            </a:r>
            <a:endParaRPr lang="en-US" sz="1400" dirty="0"/>
          </a:p>
        </p:txBody>
      </p:sp>
      <p:sp>
        <p:nvSpPr>
          <p:cNvPr id="7" name="Shape 5"/>
          <p:cNvSpPr/>
          <p:nvPr/>
        </p:nvSpPr>
        <p:spPr>
          <a:xfrm>
            <a:off x="548640" y="1737360"/>
            <a:ext cx="3931920" cy="21031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Shape 6"/>
          <p:cNvSpPr/>
          <p:nvPr/>
        </p:nvSpPr>
        <p:spPr>
          <a:xfrm>
            <a:off x="548640" y="1737360"/>
            <a:ext cx="73152" cy="2103120"/>
          </a:xfrm>
          <a:prstGeom prst="rect">
            <a:avLst/>
          </a:prstGeom>
          <a:solidFill>
            <a:srgbClr val="028090"/>
          </a:solidFill>
          <a:ln/>
        </p:spPr>
      </p:sp>
      <p:sp>
        <p:nvSpPr>
          <p:cNvPr id="9" name="Text 7"/>
          <p:cNvSpPr/>
          <p:nvPr/>
        </p:nvSpPr>
        <p:spPr>
          <a:xfrm>
            <a:off x="777240" y="1828800"/>
            <a:ext cx="3200400" cy="27432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Find P(x &lt; 150)</a:t>
            </a:r>
            <a:endParaRPr lang="en-US" sz="1400" dirty="0"/>
          </a:p>
        </p:txBody>
      </p:sp>
      <p:sp>
        <p:nvSpPr>
          <p:cNvPr id="10" name="Text 8"/>
          <p:cNvSpPr/>
          <p:nvPr/>
        </p:nvSpPr>
        <p:spPr>
          <a:xfrm>
            <a:off x="777240" y="2148840"/>
            <a:ext cx="3474720" cy="1463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z = (150 − 172) / 29 = −0.76</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Table: P(z &lt; −0.76) = 0.2236</a:t>
            </a:r>
            <a:endParaRPr lang="en-US" sz="1200" dirty="0"/>
          </a:p>
          <a:p>
            <a:pPr indent="0" marL="0">
              <a:buNone/>
            </a:pPr>
            <a:endParaRPr lang="en-US" sz="1200" dirty="0"/>
          </a:p>
          <a:p>
            <a:pPr indent="0" marL="0">
              <a:buNone/>
            </a:pPr>
            <a:r>
              <a:rPr lang="en-US" sz="1300" b="1" dirty="0">
                <a:solidFill>
                  <a:srgbClr val="1E2761"/>
                </a:solidFill>
                <a:latin typeface="Georgia" pitchFamily="34" charset="0"/>
                <a:ea typeface="Georgia" pitchFamily="34" charset="-122"/>
                <a:cs typeface="Georgia" pitchFamily="34" charset="-120"/>
              </a:rPr>
              <a:t>P(x &lt; 150) = 0.2236</a:t>
            </a:r>
            <a:endParaRPr lang="en-US" sz="1200" dirty="0"/>
          </a:p>
        </p:txBody>
      </p:sp>
      <p:sp>
        <p:nvSpPr>
          <p:cNvPr id="11" name="Shape 9"/>
          <p:cNvSpPr/>
          <p:nvPr/>
        </p:nvSpPr>
        <p:spPr>
          <a:xfrm>
            <a:off x="4754880" y="1737360"/>
            <a:ext cx="3931920" cy="21031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Shape 10"/>
          <p:cNvSpPr/>
          <p:nvPr/>
        </p:nvSpPr>
        <p:spPr>
          <a:xfrm>
            <a:off x="4754880" y="1737360"/>
            <a:ext cx="73152" cy="2103120"/>
          </a:xfrm>
          <a:prstGeom prst="rect">
            <a:avLst/>
          </a:prstGeom>
          <a:solidFill>
            <a:srgbClr val="E53E3E"/>
          </a:solidFill>
          <a:ln/>
        </p:spPr>
      </p:sp>
      <p:sp>
        <p:nvSpPr>
          <p:cNvPr id="13" name="Text 11"/>
          <p:cNvSpPr/>
          <p:nvPr/>
        </p:nvSpPr>
        <p:spPr>
          <a:xfrm>
            <a:off x="4983480" y="1828800"/>
            <a:ext cx="3200400" cy="274320"/>
          </a:xfrm>
          <a:prstGeom prst="rect">
            <a:avLst/>
          </a:prstGeom>
          <a:noFill/>
          <a:ln/>
        </p:spPr>
        <p:txBody>
          <a:bodyPr wrap="square" lIns="0" tIns="0" rIns="0" bIns="0" rtlCol="0" anchor="ctr"/>
          <a:lstStyle/>
          <a:p>
            <a:pPr indent="0" marL="0">
              <a:buNone/>
            </a:pPr>
            <a:r>
              <a:rPr lang="en-US" sz="1400" b="1" dirty="0">
                <a:solidFill>
                  <a:srgbClr val="E53E3E"/>
                </a:solidFill>
                <a:latin typeface="Georgia" pitchFamily="34" charset="0"/>
                <a:ea typeface="Georgia" pitchFamily="34" charset="-122"/>
                <a:cs typeface="Georgia" pitchFamily="34" charset="-120"/>
              </a:rPr>
              <a:t>Find P(x &gt; 200)</a:t>
            </a:r>
            <a:endParaRPr lang="en-US" sz="1400" dirty="0"/>
          </a:p>
        </p:txBody>
      </p:sp>
      <p:sp>
        <p:nvSpPr>
          <p:cNvPr id="14" name="Text 12"/>
          <p:cNvSpPr/>
          <p:nvPr/>
        </p:nvSpPr>
        <p:spPr>
          <a:xfrm>
            <a:off x="4983480" y="2148840"/>
            <a:ext cx="3474720" cy="1463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z = (200 − 172) / 29 = 0.97</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Table: P(z &lt; 0.97) = 0.8340</a:t>
            </a:r>
            <a:endParaRPr lang="en-US" sz="1200" dirty="0"/>
          </a:p>
          <a:p>
            <a:pPr indent="0" marL="0">
              <a:buNone/>
            </a:pPr>
            <a:endParaRPr lang="en-US" sz="1200" dirty="0"/>
          </a:p>
          <a:p>
            <a:pPr indent="0" marL="0">
              <a:buNone/>
            </a:pPr>
            <a:r>
              <a:rPr lang="en-US" sz="1300" b="1" dirty="0">
                <a:solidFill>
                  <a:srgbClr val="1E2761"/>
                </a:solidFill>
                <a:latin typeface="Georgia" pitchFamily="34" charset="0"/>
                <a:ea typeface="Georgia" pitchFamily="34" charset="-122"/>
                <a:cs typeface="Georgia" pitchFamily="34" charset="-120"/>
              </a:rPr>
              <a:t>P(x &gt; 200) = 1 − 0.8340 = 0.1660</a:t>
            </a:r>
            <a:endParaRPr lang="en-US" sz="1200" dirty="0"/>
          </a:p>
        </p:txBody>
      </p:sp>
      <p:sp>
        <p:nvSpPr>
          <p:cNvPr id="15" name="Shape 13"/>
          <p:cNvSpPr/>
          <p:nvPr/>
        </p:nvSpPr>
        <p:spPr>
          <a:xfrm>
            <a:off x="548640" y="4069080"/>
            <a:ext cx="8046720" cy="77724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6" name="Image 0" descr="preencoded.png">    </p:cNvPr>
          <p:cNvPicPr>
            <a:picLocks noChangeAspect="1"/>
          </p:cNvPicPr>
          <p:nvPr/>
        </p:nvPicPr>
        <p:blipFill>
          <a:blip r:embed="rId1"/>
          <a:stretch>
            <a:fillRect/>
          </a:stretch>
        </p:blipFill>
        <p:spPr>
          <a:xfrm>
            <a:off x="731520" y="4206240"/>
            <a:ext cx="274320" cy="274320"/>
          </a:xfrm>
          <a:prstGeom prst="rect">
            <a:avLst/>
          </a:prstGeom>
        </p:spPr>
      </p:pic>
      <p:sp>
        <p:nvSpPr>
          <p:cNvPr id="17" name="Text 14"/>
          <p:cNvSpPr/>
          <p:nvPr/>
        </p:nvSpPr>
        <p:spPr>
          <a:xfrm>
            <a:off x="1188720" y="4160520"/>
            <a:ext cx="7223760" cy="5943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Pattern: Convert x to z first, then apply the same three cases from Part 1. Left tail = read table directly. Right tail = subtract from 1.</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Applied: Police Response Time</a:t>
            </a:r>
            <a:endParaRPr lang="en-US" sz="2600" dirty="0"/>
          </a:p>
        </p:txBody>
      </p:sp>
      <p:sp>
        <p:nvSpPr>
          <p:cNvPr id="5" name="Shape 3"/>
          <p:cNvSpPr/>
          <p:nvPr/>
        </p:nvSpPr>
        <p:spPr>
          <a:xfrm>
            <a:off x="548640" y="1051560"/>
            <a:ext cx="8046720" cy="73152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2743200" cy="22860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Problem (matches HW #28):</a:t>
            </a:r>
            <a:endParaRPr lang="en-US" sz="1100" dirty="0"/>
          </a:p>
        </p:txBody>
      </p:sp>
      <p:sp>
        <p:nvSpPr>
          <p:cNvPr id="7" name="Text 5"/>
          <p:cNvSpPr/>
          <p:nvPr/>
        </p:nvSpPr>
        <p:spPr>
          <a:xfrm>
            <a:off x="777240" y="1344168"/>
            <a:ext cx="7589520" cy="36576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Police response time is normally distributed with μ = 8.4 min and σ = 1.7 min.</a:t>
            </a:r>
            <a:endParaRPr lang="en-US" sz="1300" dirty="0"/>
          </a:p>
        </p:txBody>
      </p:sp>
      <p:sp>
        <p:nvSpPr>
          <p:cNvPr id="8" name="Shape 6"/>
          <p:cNvSpPr/>
          <p:nvPr/>
        </p:nvSpPr>
        <p:spPr>
          <a:xfrm>
            <a:off x="548640" y="1920240"/>
            <a:ext cx="3474720" cy="1463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685800" y="1965960"/>
            <a:ext cx="3108960" cy="27432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(a) P(5 &lt; x &lt; 10)</a:t>
            </a:r>
            <a:endParaRPr lang="en-US" sz="1300" dirty="0"/>
          </a:p>
        </p:txBody>
      </p:sp>
      <p:sp>
        <p:nvSpPr>
          <p:cNvPr id="10" name="Text 8"/>
          <p:cNvSpPr/>
          <p:nvPr/>
        </p:nvSpPr>
        <p:spPr>
          <a:xfrm>
            <a:off x="685800" y="2286000"/>
            <a:ext cx="3108960" cy="10058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z₁ = (5−8.4)/1.7 = −2.00</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z₂ = (10−8.4)/1.7 = 0.94</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 0.8264 − 0.0228</a:t>
            </a:r>
            <a:endParaRPr lang="en-US" sz="1100" dirty="0"/>
          </a:p>
          <a:p>
            <a:pPr indent="0" marL="0">
              <a:buNone/>
            </a:pPr>
            <a:r>
              <a:rPr lang="en-US" sz="1300" b="1" dirty="0">
                <a:solidFill>
                  <a:srgbClr val="028090"/>
                </a:solidFill>
                <a:latin typeface="Calibri" pitchFamily="34" charset="0"/>
                <a:ea typeface="Calibri" pitchFamily="34" charset="-122"/>
                <a:cs typeface="Calibri" pitchFamily="34" charset="-120"/>
              </a:rPr>
              <a:t>= 0.8036</a:t>
            </a:r>
            <a:endParaRPr lang="en-US" sz="1100" dirty="0"/>
          </a:p>
        </p:txBody>
      </p:sp>
      <p:sp>
        <p:nvSpPr>
          <p:cNvPr id="11" name="Shape 9"/>
          <p:cNvSpPr/>
          <p:nvPr/>
        </p:nvSpPr>
        <p:spPr>
          <a:xfrm>
            <a:off x="4206240" y="1920240"/>
            <a:ext cx="2103120" cy="1463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Text 10"/>
          <p:cNvSpPr/>
          <p:nvPr/>
        </p:nvSpPr>
        <p:spPr>
          <a:xfrm>
            <a:off x="4343400" y="1965960"/>
            <a:ext cx="1828800" cy="27432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 P(x &lt; 5)</a:t>
            </a:r>
            <a:endParaRPr lang="en-US" sz="1300" dirty="0"/>
          </a:p>
        </p:txBody>
      </p:sp>
      <p:sp>
        <p:nvSpPr>
          <p:cNvPr id="13" name="Text 11"/>
          <p:cNvSpPr/>
          <p:nvPr/>
        </p:nvSpPr>
        <p:spPr>
          <a:xfrm>
            <a:off x="4343400" y="2286000"/>
            <a:ext cx="1828800" cy="91440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z = −2.00</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P(z &lt; −2.00)</a:t>
            </a:r>
            <a:endParaRPr lang="en-US" sz="1100" dirty="0"/>
          </a:p>
          <a:p>
            <a:pPr indent="0" marL="0">
              <a:buNone/>
            </a:pPr>
            <a:r>
              <a:rPr lang="en-US" sz="1300" b="1" dirty="0">
                <a:solidFill>
                  <a:srgbClr val="028090"/>
                </a:solidFill>
                <a:latin typeface="Calibri" pitchFamily="34" charset="0"/>
                <a:ea typeface="Calibri" pitchFamily="34" charset="-122"/>
                <a:cs typeface="Calibri" pitchFamily="34" charset="-120"/>
              </a:rPr>
              <a:t>= 0.0228</a:t>
            </a:r>
            <a:endParaRPr lang="en-US" sz="1100" dirty="0"/>
          </a:p>
        </p:txBody>
      </p:sp>
      <p:sp>
        <p:nvSpPr>
          <p:cNvPr id="14" name="Shape 12"/>
          <p:cNvSpPr/>
          <p:nvPr/>
        </p:nvSpPr>
        <p:spPr>
          <a:xfrm>
            <a:off x="6492240" y="1920240"/>
            <a:ext cx="2194560" cy="1463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5" name="Text 13"/>
          <p:cNvSpPr/>
          <p:nvPr/>
        </p:nvSpPr>
        <p:spPr>
          <a:xfrm>
            <a:off x="6629400" y="1965960"/>
            <a:ext cx="1828800" cy="27432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(c) P(x &gt; 10)</a:t>
            </a:r>
            <a:endParaRPr lang="en-US" sz="1300" dirty="0"/>
          </a:p>
        </p:txBody>
      </p:sp>
      <p:sp>
        <p:nvSpPr>
          <p:cNvPr id="16" name="Text 14"/>
          <p:cNvSpPr/>
          <p:nvPr/>
        </p:nvSpPr>
        <p:spPr>
          <a:xfrm>
            <a:off x="6629400" y="2286000"/>
            <a:ext cx="1828800" cy="10058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z = 0.94</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1 − P(z &lt; 0.94)</a:t>
            </a:r>
            <a:endParaRPr lang="en-US" sz="1100" dirty="0"/>
          </a:p>
          <a:p>
            <a:pPr indent="0" marL="0">
              <a:buNone/>
            </a:pPr>
            <a:r>
              <a:rPr lang="en-US" sz="1100" dirty="0">
                <a:solidFill>
                  <a:srgbClr val="2D3748"/>
                </a:solidFill>
                <a:latin typeface="Calibri" pitchFamily="34" charset="0"/>
                <a:ea typeface="Calibri" pitchFamily="34" charset="-122"/>
                <a:cs typeface="Calibri" pitchFamily="34" charset="-120"/>
              </a:rPr>
              <a:t>= 1 − 0.8264</a:t>
            </a:r>
            <a:endParaRPr lang="en-US" sz="1100" dirty="0"/>
          </a:p>
          <a:p>
            <a:pPr indent="0" marL="0">
              <a:buNone/>
            </a:pPr>
            <a:r>
              <a:rPr lang="en-US" sz="1300" b="1" dirty="0">
                <a:solidFill>
                  <a:srgbClr val="028090"/>
                </a:solidFill>
                <a:latin typeface="Calibri" pitchFamily="34" charset="0"/>
                <a:ea typeface="Calibri" pitchFamily="34" charset="-122"/>
                <a:cs typeface="Calibri" pitchFamily="34" charset="-120"/>
              </a:rPr>
              <a:t>= 0.1736</a:t>
            </a:r>
            <a:endParaRPr lang="en-US" sz="1100" dirty="0"/>
          </a:p>
        </p:txBody>
      </p:sp>
      <p:sp>
        <p:nvSpPr>
          <p:cNvPr id="17" name="Shape 15"/>
          <p:cNvSpPr/>
          <p:nvPr/>
        </p:nvSpPr>
        <p:spPr>
          <a:xfrm>
            <a:off x="548640" y="3611880"/>
            <a:ext cx="8046720" cy="123444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8" name="Image 0" descr="preencoded.png">    </p:cNvPr>
          <p:cNvPicPr>
            <a:picLocks noChangeAspect="1"/>
          </p:cNvPicPr>
          <p:nvPr/>
        </p:nvPicPr>
        <p:blipFill>
          <a:blip r:embed="rId1"/>
          <a:stretch>
            <a:fillRect/>
          </a:stretch>
        </p:blipFill>
        <p:spPr>
          <a:xfrm>
            <a:off x="731520" y="3749040"/>
            <a:ext cx="274320" cy="274320"/>
          </a:xfrm>
          <a:prstGeom prst="rect">
            <a:avLst/>
          </a:prstGeom>
        </p:spPr>
      </p:pic>
      <p:sp>
        <p:nvSpPr>
          <p:cNvPr id="19" name="Text 16"/>
          <p:cNvSpPr/>
          <p:nvPr/>
        </p:nvSpPr>
        <p:spPr>
          <a:xfrm>
            <a:off x="1188720" y="3703320"/>
            <a:ext cx="274320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Interpretations:</a:t>
            </a:r>
            <a:endParaRPr lang="en-US" sz="1300" dirty="0"/>
          </a:p>
        </p:txBody>
      </p:sp>
      <p:sp>
        <p:nvSpPr>
          <p:cNvPr id="20" name="Text 17"/>
          <p:cNvSpPr/>
          <p:nvPr/>
        </p:nvSpPr>
        <p:spPr>
          <a:xfrm>
            <a:off x="1188720" y="3977640"/>
            <a:ext cx="7132320" cy="7772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 About 80.36% of response times fall between 5 and 10 minutes</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(b) Only 2.28% of calls get a response in under 5 minutes</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(c) About 17.36% of calls take more than 10 minutes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Inverse Normal: The Reverse Problem</a:t>
            </a:r>
            <a:endParaRPr lang="en-US" sz="2600" dirty="0"/>
          </a:p>
        </p:txBody>
      </p:sp>
      <p:sp>
        <p:nvSpPr>
          <p:cNvPr id="5" name="Shape 3"/>
          <p:cNvSpPr/>
          <p:nvPr/>
        </p:nvSpPr>
        <p:spPr>
          <a:xfrm>
            <a:off x="548640" y="1097280"/>
            <a:ext cx="3840480" cy="1828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73152" cy="1828800"/>
          </a:xfrm>
          <a:prstGeom prst="rect">
            <a:avLst/>
          </a:prstGeom>
          <a:solidFill>
            <a:srgbClr val="028090"/>
          </a:solidFill>
          <a:ln/>
        </p:spPr>
      </p:sp>
      <p:sp>
        <p:nvSpPr>
          <p:cNvPr id="7" name="Text 5"/>
          <p:cNvSpPr/>
          <p:nvPr/>
        </p:nvSpPr>
        <p:spPr>
          <a:xfrm>
            <a:off x="777240" y="1188720"/>
            <a:ext cx="3383280" cy="27432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Forward Problem</a:t>
            </a:r>
            <a:endParaRPr lang="en-US" sz="1400" dirty="0"/>
          </a:p>
        </p:txBody>
      </p:sp>
      <p:sp>
        <p:nvSpPr>
          <p:cNvPr id="8" name="Text 6"/>
          <p:cNvSpPr/>
          <p:nvPr/>
        </p:nvSpPr>
        <p:spPr>
          <a:xfrm>
            <a:off x="777240" y="1508760"/>
            <a:ext cx="338328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Given: x value</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Find: probability (area)</a:t>
            </a:r>
            <a:endParaRPr lang="en-US" sz="1300" dirty="0"/>
          </a:p>
        </p:txBody>
      </p:sp>
      <p:sp>
        <p:nvSpPr>
          <p:cNvPr id="9" name="Text 7"/>
          <p:cNvSpPr/>
          <p:nvPr/>
        </p:nvSpPr>
        <p:spPr>
          <a:xfrm>
            <a:off x="777240" y="2103120"/>
            <a:ext cx="3383280" cy="54864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"What is the probability that</a:t>
            </a:r>
            <a:endParaRPr lang="en-US" sz="1200" dirty="0"/>
          </a:p>
          <a:p>
            <a:pPr indent="0" marL="0">
              <a:buNone/>
            </a:pPr>
            <a:r>
              <a:rPr lang="en-US" sz="1200" i="1" dirty="0">
                <a:solidFill>
                  <a:srgbClr val="718096"/>
                </a:solidFill>
                <a:latin typeface="Calibri" pitchFamily="34" charset="0"/>
                <a:ea typeface="Calibri" pitchFamily="34" charset="-122"/>
                <a:cs typeface="Calibri" pitchFamily="34" charset="-120"/>
              </a:rPr>
              <a:t>response time is under 5 min?"</a:t>
            </a:r>
            <a:endParaRPr lang="en-US" sz="1200" dirty="0"/>
          </a:p>
        </p:txBody>
      </p:sp>
      <p:sp>
        <p:nvSpPr>
          <p:cNvPr id="10" name="Shape 8"/>
          <p:cNvSpPr/>
          <p:nvPr/>
        </p:nvSpPr>
        <p:spPr>
          <a:xfrm>
            <a:off x="4754880" y="1097280"/>
            <a:ext cx="3931920" cy="1828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4754880" y="1097280"/>
            <a:ext cx="73152" cy="1828800"/>
          </a:xfrm>
          <a:prstGeom prst="rect">
            <a:avLst/>
          </a:prstGeom>
          <a:solidFill>
            <a:srgbClr val="065A82"/>
          </a:solidFill>
          <a:ln/>
        </p:spPr>
      </p:sp>
      <p:sp>
        <p:nvSpPr>
          <p:cNvPr id="12" name="Text 10"/>
          <p:cNvSpPr/>
          <p:nvPr/>
        </p:nvSpPr>
        <p:spPr>
          <a:xfrm>
            <a:off x="4983480" y="1188720"/>
            <a:ext cx="3474720" cy="274320"/>
          </a:xfrm>
          <a:prstGeom prst="rect">
            <a:avLst/>
          </a:prstGeom>
          <a:noFill/>
          <a:ln/>
        </p:spPr>
        <p:txBody>
          <a:bodyPr wrap="square" lIns="0" tIns="0" rIns="0" bIns="0" rtlCol="0" anchor="ctr"/>
          <a:lstStyle/>
          <a:p>
            <a:pPr indent="0" marL="0">
              <a:buNone/>
            </a:pPr>
            <a:r>
              <a:rPr lang="en-US" sz="1400" b="1" dirty="0">
                <a:solidFill>
                  <a:srgbClr val="065A82"/>
                </a:solidFill>
                <a:latin typeface="Georgia" pitchFamily="34" charset="0"/>
                <a:ea typeface="Georgia" pitchFamily="34" charset="-122"/>
                <a:cs typeface="Georgia" pitchFamily="34" charset="-120"/>
              </a:rPr>
              <a:t>Inverse Problem</a:t>
            </a:r>
            <a:endParaRPr lang="en-US" sz="1400" dirty="0"/>
          </a:p>
        </p:txBody>
      </p:sp>
      <p:sp>
        <p:nvSpPr>
          <p:cNvPr id="13" name="Text 11"/>
          <p:cNvSpPr/>
          <p:nvPr/>
        </p:nvSpPr>
        <p:spPr>
          <a:xfrm>
            <a:off x="4983480" y="1508760"/>
            <a:ext cx="34747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Given: probability (area)</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Find: x value</a:t>
            </a:r>
            <a:endParaRPr lang="en-US" sz="1300" dirty="0"/>
          </a:p>
        </p:txBody>
      </p:sp>
      <p:sp>
        <p:nvSpPr>
          <p:cNvPr id="14" name="Text 12"/>
          <p:cNvSpPr/>
          <p:nvPr/>
        </p:nvSpPr>
        <p:spPr>
          <a:xfrm>
            <a:off x="4983480" y="2103120"/>
            <a:ext cx="3474720" cy="54864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"How long should the guarantee</a:t>
            </a:r>
            <a:endParaRPr lang="en-US" sz="1200" dirty="0"/>
          </a:p>
          <a:p>
            <a:pPr indent="0" marL="0">
              <a:buNone/>
            </a:pPr>
            <a:r>
              <a:rPr lang="en-US" sz="1200" i="1" dirty="0">
                <a:solidFill>
                  <a:srgbClr val="718096"/>
                </a:solidFill>
                <a:latin typeface="Calibri" pitchFamily="34" charset="0"/>
                <a:ea typeface="Calibri" pitchFamily="34" charset="-122"/>
                <a:cs typeface="Calibri" pitchFamily="34" charset="-120"/>
              </a:rPr>
              <a:t>be to cover 93% of products?"</a:t>
            </a:r>
            <a:endParaRPr lang="en-US" sz="1200" dirty="0"/>
          </a:p>
        </p:txBody>
      </p:sp>
      <p:sp>
        <p:nvSpPr>
          <p:cNvPr id="15" name="Text 13"/>
          <p:cNvSpPr/>
          <p:nvPr/>
        </p:nvSpPr>
        <p:spPr>
          <a:xfrm>
            <a:off x="548640" y="3154680"/>
            <a:ext cx="4572000" cy="32004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When do we use inverse normal?</a:t>
            </a:r>
            <a:endParaRPr lang="en-US" sz="1400" dirty="0"/>
          </a:p>
        </p:txBody>
      </p:sp>
      <p:pic>
        <p:nvPicPr>
          <p:cNvPr id="16" name="Image 0" descr="preencoded.png">    </p:cNvPr>
          <p:cNvPicPr>
            <a:picLocks noChangeAspect="1"/>
          </p:cNvPicPr>
          <p:nvPr/>
        </p:nvPicPr>
        <p:blipFill>
          <a:blip r:embed="rId1"/>
          <a:stretch>
            <a:fillRect/>
          </a:stretch>
        </p:blipFill>
        <p:spPr>
          <a:xfrm>
            <a:off x="640080" y="3566160"/>
            <a:ext cx="201168" cy="201168"/>
          </a:xfrm>
          <a:prstGeom prst="rect">
            <a:avLst/>
          </a:prstGeom>
        </p:spPr>
      </p:pic>
      <p:sp>
        <p:nvSpPr>
          <p:cNvPr id="17" name="Text 14"/>
          <p:cNvSpPr/>
          <p:nvPr/>
        </p:nvSpPr>
        <p:spPr>
          <a:xfrm>
            <a:off x="1005840" y="3520440"/>
            <a:ext cx="7315200" cy="320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Guarantee/warranty problems — "How long should we guarantee?"</a:t>
            </a:r>
            <a:endParaRPr lang="en-US" sz="1200" dirty="0"/>
          </a:p>
        </p:txBody>
      </p:sp>
      <p:pic>
        <p:nvPicPr>
          <p:cNvPr id="18" name="Image 1" descr="preencoded.png">    </p:cNvPr>
          <p:cNvPicPr>
            <a:picLocks noChangeAspect="1"/>
          </p:cNvPicPr>
          <p:nvPr/>
        </p:nvPicPr>
        <p:blipFill>
          <a:blip r:embed="rId2"/>
          <a:stretch>
            <a:fillRect/>
          </a:stretch>
        </p:blipFill>
        <p:spPr>
          <a:xfrm>
            <a:off x="640080" y="3977640"/>
            <a:ext cx="201168" cy="201168"/>
          </a:xfrm>
          <a:prstGeom prst="rect">
            <a:avLst/>
          </a:prstGeom>
        </p:spPr>
      </p:pic>
      <p:sp>
        <p:nvSpPr>
          <p:cNvPr id="19" name="Text 15"/>
          <p:cNvSpPr/>
          <p:nvPr/>
        </p:nvSpPr>
        <p:spPr>
          <a:xfrm>
            <a:off x="1005840" y="3931920"/>
            <a:ext cx="7315200" cy="320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Percentile problems — "What score is the 90th percentile?"</a:t>
            </a:r>
            <a:endParaRPr lang="en-US" sz="1200" dirty="0"/>
          </a:p>
        </p:txBody>
      </p:sp>
      <p:pic>
        <p:nvPicPr>
          <p:cNvPr id="20" name="Image 2" descr="preencoded.png">    </p:cNvPr>
          <p:cNvPicPr>
            <a:picLocks noChangeAspect="1"/>
          </p:cNvPicPr>
          <p:nvPr/>
        </p:nvPicPr>
        <p:blipFill>
          <a:blip r:embed="rId3"/>
          <a:stretch>
            <a:fillRect/>
          </a:stretch>
        </p:blipFill>
        <p:spPr>
          <a:xfrm>
            <a:off x="640080" y="4389120"/>
            <a:ext cx="201168" cy="201168"/>
          </a:xfrm>
          <a:prstGeom prst="rect">
            <a:avLst/>
          </a:prstGeom>
        </p:spPr>
      </p:pic>
      <p:sp>
        <p:nvSpPr>
          <p:cNvPr id="21" name="Text 16"/>
          <p:cNvSpPr/>
          <p:nvPr/>
        </p:nvSpPr>
        <p:spPr>
          <a:xfrm>
            <a:off x="1005840" y="4343400"/>
            <a:ext cx="7315200" cy="320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Cutoff problems — "What value separates the top 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Formula: From Probability to x</a:t>
            </a:r>
            <a:endParaRPr lang="en-US" sz="2600" dirty="0"/>
          </a:p>
        </p:txBody>
      </p:sp>
      <p:sp>
        <p:nvSpPr>
          <p:cNvPr id="5" name="Shape 3"/>
          <p:cNvSpPr/>
          <p:nvPr/>
        </p:nvSpPr>
        <p:spPr>
          <a:xfrm>
            <a:off x="548640" y="1097280"/>
            <a:ext cx="804672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685800" y="1234440"/>
            <a:ext cx="320040" cy="320040"/>
          </a:xfrm>
          <a:prstGeom prst="ellipse">
            <a:avLst/>
          </a:prstGeom>
          <a:solidFill>
            <a:srgbClr val="028090"/>
          </a:solidFill>
          <a:ln/>
        </p:spPr>
      </p:sp>
      <p:sp>
        <p:nvSpPr>
          <p:cNvPr id="7" name="Text 5"/>
          <p:cNvSpPr/>
          <p:nvPr/>
        </p:nvSpPr>
        <p:spPr>
          <a:xfrm>
            <a:off x="685800" y="12344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143000" y="1188720"/>
            <a:ext cx="731520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Start with the given probability (area). Sketch the curve and shade the region.</a:t>
            </a:r>
            <a:endParaRPr lang="en-US" sz="1300" dirty="0"/>
          </a:p>
        </p:txBody>
      </p:sp>
      <p:sp>
        <p:nvSpPr>
          <p:cNvPr id="9" name="Shape 7"/>
          <p:cNvSpPr/>
          <p:nvPr/>
        </p:nvSpPr>
        <p:spPr>
          <a:xfrm>
            <a:off x="548640" y="1828800"/>
            <a:ext cx="804672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685800" y="1965960"/>
            <a:ext cx="320040" cy="320040"/>
          </a:xfrm>
          <a:prstGeom prst="ellipse">
            <a:avLst/>
          </a:prstGeom>
          <a:solidFill>
            <a:srgbClr val="028090"/>
          </a:solidFill>
          <a:ln/>
        </p:spPr>
      </p:sp>
      <p:sp>
        <p:nvSpPr>
          <p:cNvPr id="11" name="Text 9"/>
          <p:cNvSpPr/>
          <p:nvPr/>
        </p:nvSpPr>
        <p:spPr>
          <a:xfrm>
            <a:off x="685800" y="19659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143000" y="1920240"/>
            <a:ext cx="731520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Convert to a LEFT-tail area if needed.</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If given right-tail area, subtract from 1 first.</a:t>
            </a:r>
            <a:endParaRPr lang="en-US" sz="1300" dirty="0"/>
          </a:p>
        </p:txBody>
      </p:sp>
      <p:sp>
        <p:nvSpPr>
          <p:cNvPr id="13" name="Shape 11"/>
          <p:cNvSpPr/>
          <p:nvPr/>
        </p:nvSpPr>
        <p:spPr>
          <a:xfrm>
            <a:off x="548640" y="2560320"/>
            <a:ext cx="804672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685800" y="2697480"/>
            <a:ext cx="320040" cy="320040"/>
          </a:xfrm>
          <a:prstGeom prst="ellipse">
            <a:avLst/>
          </a:prstGeom>
          <a:solidFill>
            <a:srgbClr val="028090"/>
          </a:solidFill>
          <a:ln/>
        </p:spPr>
      </p:sp>
      <p:sp>
        <p:nvSpPr>
          <p:cNvPr id="15" name="Text 13"/>
          <p:cNvSpPr/>
          <p:nvPr/>
        </p:nvSpPr>
        <p:spPr>
          <a:xfrm>
            <a:off x="685800" y="26974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1143000" y="2651760"/>
            <a:ext cx="731520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Look up the area in the BODY of Table 5 (not the margins).</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Find the closest value. Read the z-score from the row and column.</a:t>
            </a:r>
            <a:endParaRPr lang="en-US" sz="1300" dirty="0"/>
          </a:p>
        </p:txBody>
      </p:sp>
      <p:sp>
        <p:nvSpPr>
          <p:cNvPr id="17" name="Shape 15"/>
          <p:cNvSpPr/>
          <p:nvPr/>
        </p:nvSpPr>
        <p:spPr>
          <a:xfrm>
            <a:off x="1371600" y="3383280"/>
            <a:ext cx="6400800" cy="777240"/>
          </a:xfrm>
          <a:prstGeom prst="rect">
            <a:avLst/>
          </a:prstGeom>
          <a:solidFill>
            <a:srgbClr val="1E2761"/>
          </a:solidFill>
          <a:ln/>
          <a:effectLst>
            <a:outerShdw sx="100000" sy="100000" kx="0" ky="0" algn="bl" rotWithShape="0" blurRad="50800" dist="25400" dir="8100000">
              <a:srgbClr val="000000">
                <a:alpha val="12000"/>
              </a:srgbClr>
            </a:outerShdw>
          </a:effectLst>
        </p:spPr>
      </p:sp>
      <p:sp>
        <p:nvSpPr>
          <p:cNvPr id="18" name="Text 16"/>
          <p:cNvSpPr/>
          <p:nvPr/>
        </p:nvSpPr>
        <p:spPr>
          <a:xfrm>
            <a:off x="1371600" y="3383280"/>
            <a:ext cx="64008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x  =  z · σ  +  μ</a:t>
            </a:r>
            <a:endParaRPr lang="en-US" sz="2200" dirty="0"/>
          </a:p>
        </p:txBody>
      </p:sp>
      <p:sp>
        <p:nvSpPr>
          <p:cNvPr id="19" name="Text 17"/>
          <p:cNvSpPr/>
          <p:nvPr/>
        </p:nvSpPr>
        <p:spPr>
          <a:xfrm>
            <a:off x="1371600" y="4160520"/>
            <a:ext cx="6400800" cy="274320"/>
          </a:xfrm>
          <a:prstGeom prst="rect">
            <a:avLst/>
          </a:prstGeom>
          <a:noFill/>
          <a:ln/>
        </p:spPr>
        <p:txBody>
          <a:bodyPr wrap="square" lIns="0" tIns="0" rIns="0" bIns="0" rtlCol="0" anchor="ctr"/>
          <a:lstStyle/>
          <a:p>
            <a:pPr algn="ctr" indent="0" marL="0">
              <a:buNone/>
            </a:pPr>
            <a:r>
              <a:rPr lang="en-US" sz="1200" dirty="0">
                <a:solidFill>
                  <a:srgbClr val="718096"/>
                </a:solidFill>
                <a:latin typeface="Calibri" pitchFamily="34" charset="0"/>
                <a:ea typeface="Calibri" pitchFamily="34" charset="-122"/>
                <a:cs typeface="Calibri" pitchFamily="34" charset="-120"/>
              </a:rPr>
              <a:t>Step 4:  Plug in z, σ, and μ to find x</a:t>
            </a:r>
            <a:endParaRPr lang="en-US" sz="1200" dirty="0"/>
          </a:p>
        </p:txBody>
      </p:sp>
      <p:sp>
        <p:nvSpPr>
          <p:cNvPr id="20" name="Shape 18"/>
          <p:cNvSpPr/>
          <p:nvPr/>
        </p:nvSpPr>
        <p:spPr>
          <a:xfrm>
            <a:off x="548640" y="4480560"/>
            <a:ext cx="8046720" cy="45720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21" name="Image 0" descr="preencoded.png">    </p:cNvPr>
          <p:cNvPicPr>
            <a:picLocks noChangeAspect="1"/>
          </p:cNvPicPr>
          <p:nvPr/>
        </p:nvPicPr>
        <p:blipFill>
          <a:blip r:embed="rId1"/>
          <a:stretch>
            <a:fillRect/>
          </a:stretch>
        </p:blipFill>
        <p:spPr>
          <a:xfrm>
            <a:off x="731520" y="4526280"/>
            <a:ext cx="228600" cy="228600"/>
          </a:xfrm>
          <a:prstGeom prst="rect">
            <a:avLst/>
          </a:prstGeom>
        </p:spPr>
      </p:pic>
      <p:sp>
        <p:nvSpPr>
          <p:cNvPr id="22" name="Text 19"/>
          <p:cNvSpPr/>
          <p:nvPr/>
        </p:nvSpPr>
        <p:spPr>
          <a:xfrm>
            <a:off x="1097280" y="4498848"/>
            <a:ext cx="731520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Remember: if the area is in the LEFT tail (below the mean), z will be NEGATIVE. Don't drop the sign!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Worked Example: Guarantee Problem</a:t>
            </a:r>
            <a:endParaRPr lang="en-US" sz="2600" dirty="0"/>
          </a:p>
        </p:txBody>
      </p:sp>
      <p:sp>
        <p:nvSpPr>
          <p:cNvPr id="5" name="Shape 3"/>
          <p:cNvSpPr/>
          <p:nvPr/>
        </p:nvSpPr>
        <p:spPr>
          <a:xfrm>
            <a:off x="548640" y="1051560"/>
            <a:ext cx="8046720" cy="82296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73152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 video game system has a mean life of 30 months (σ = 4 months), normally distributed. The company will refund the full price if it fails during the guarantee period. How long should the guarantee be if they want no more than 7% refunded?</a:t>
            </a:r>
            <a:endParaRPr lang="en-US" sz="1300" dirty="0"/>
          </a:p>
        </p:txBody>
      </p:sp>
      <p:pic>
        <p:nvPicPr>
          <p:cNvPr id="7" name="Image 0" descr="preencoded.png">    </p:cNvPr>
          <p:cNvPicPr>
            <a:picLocks noChangeAspect="1"/>
          </p:cNvPicPr>
          <p:nvPr/>
        </p:nvPicPr>
        <p:blipFill>
          <a:blip r:embed="rId1"/>
          <a:stretch>
            <a:fillRect/>
          </a:stretch>
        </p:blipFill>
        <p:spPr>
          <a:xfrm>
            <a:off x="5486400" y="2011680"/>
            <a:ext cx="3200400" cy="1600200"/>
          </a:xfrm>
          <a:prstGeom prst="rect">
            <a:avLst/>
          </a:prstGeom>
        </p:spPr>
      </p:pic>
      <p:sp>
        <p:nvSpPr>
          <p:cNvPr id="8" name="Text 5"/>
          <p:cNvSpPr/>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7% in left tail</a:t>
            </a:r>
            <a:endParaRPr lang="en-US" sz="1000" dirty="0"/>
          </a:p>
        </p:txBody>
      </p:sp>
      <p:sp>
        <p:nvSpPr>
          <p:cNvPr id="9" name="Shape 6"/>
          <p:cNvSpPr/>
          <p:nvPr/>
        </p:nvSpPr>
        <p:spPr>
          <a:xfrm>
            <a:off x="548640" y="2011680"/>
            <a:ext cx="475488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7"/>
          <p:cNvSpPr/>
          <p:nvPr/>
        </p:nvSpPr>
        <p:spPr>
          <a:xfrm>
            <a:off x="685800" y="2148840"/>
            <a:ext cx="320040" cy="320040"/>
          </a:xfrm>
          <a:prstGeom prst="ellipse">
            <a:avLst/>
          </a:prstGeom>
          <a:solidFill>
            <a:srgbClr val="028090"/>
          </a:solidFill>
          <a:ln/>
        </p:spPr>
      </p:sp>
      <p:sp>
        <p:nvSpPr>
          <p:cNvPr id="11" name="Text 8"/>
          <p:cNvSpPr/>
          <p:nvPr/>
        </p:nvSpPr>
        <p:spPr>
          <a:xfrm>
            <a:off x="685800" y="21488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9"/>
          <p:cNvSpPr/>
          <p:nvPr/>
        </p:nvSpPr>
        <p:spPr>
          <a:xfrm>
            <a:off x="1143000" y="2103120"/>
            <a:ext cx="402336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We want 7% in the LEFT tail (products that fail before the guarantee ends)</a:t>
            </a:r>
            <a:endParaRPr lang="en-US" sz="1300" dirty="0"/>
          </a:p>
        </p:txBody>
      </p:sp>
      <p:sp>
        <p:nvSpPr>
          <p:cNvPr id="13" name="Shape 10"/>
          <p:cNvSpPr/>
          <p:nvPr/>
        </p:nvSpPr>
        <p:spPr>
          <a:xfrm>
            <a:off x="548640" y="2606040"/>
            <a:ext cx="475488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1"/>
          <p:cNvSpPr/>
          <p:nvPr/>
        </p:nvSpPr>
        <p:spPr>
          <a:xfrm>
            <a:off x="685800" y="2743200"/>
            <a:ext cx="320040" cy="320040"/>
          </a:xfrm>
          <a:prstGeom prst="ellipse">
            <a:avLst/>
          </a:prstGeom>
          <a:solidFill>
            <a:srgbClr val="028090"/>
          </a:solidFill>
          <a:ln/>
        </p:spPr>
      </p:sp>
      <p:sp>
        <p:nvSpPr>
          <p:cNvPr id="15" name="Text 12"/>
          <p:cNvSpPr/>
          <p:nvPr/>
        </p:nvSpPr>
        <p:spPr>
          <a:xfrm>
            <a:off x="685800" y="274320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1143000" y="2697480"/>
            <a:ext cx="402336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Look up area 0.0700 in body of Table 5</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Closest: 0.0694 → z = −1.48</a:t>
            </a:r>
            <a:endParaRPr lang="en-US" sz="1300" dirty="0"/>
          </a:p>
        </p:txBody>
      </p:sp>
      <p:sp>
        <p:nvSpPr>
          <p:cNvPr id="17" name="Shape 14"/>
          <p:cNvSpPr/>
          <p:nvPr/>
        </p:nvSpPr>
        <p:spPr>
          <a:xfrm>
            <a:off x="548640" y="3291840"/>
            <a:ext cx="475488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Shape 15"/>
          <p:cNvSpPr/>
          <p:nvPr/>
        </p:nvSpPr>
        <p:spPr>
          <a:xfrm>
            <a:off x="685800" y="3429000"/>
            <a:ext cx="320040" cy="320040"/>
          </a:xfrm>
          <a:prstGeom prst="ellipse">
            <a:avLst/>
          </a:prstGeom>
          <a:solidFill>
            <a:srgbClr val="028090"/>
          </a:solidFill>
          <a:ln/>
        </p:spPr>
      </p:sp>
      <p:sp>
        <p:nvSpPr>
          <p:cNvPr id="19" name="Text 16"/>
          <p:cNvSpPr/>
          <p:nvPr/>
        </p:nvSpPr>
        <p:spPr>
          <a:xfrm>
            <a:off x="685800" y="342900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143000" y="3383280"/>
            <a:ext cx="402336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Convert to x:  x = z·σ + μ</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x = (−1.48)(4) + 30 = −5.92 + 30 = 24.08</a:t>
            </a:r>
            <a:endParaRPr lang="en-US" sz="1300" dirty="0"/>
          </a:p>
        </p:txBody>
      </p:sp>
      <p:sp>
        <p:nvSpPr>
          <p:cNvPr id="21" name="Shape 18"/>
          <p:cNvSpPr/>
          <p:nvPr/>
        </p:nvSpPr>
        <p:spPr>
          <a:xfrm>
            <a:off x="548640" y="4069080"/>
            <a:ext cx="8046720" cy="73152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2" name="Text 19"/>
          <p:cNvSpPr/>
          <p:nvPr/>
        </p:nvSpPr>
        <p:spPr>
          <a:xfrm>
            <a:off x="777240" y="4114800"/>
            <a:ext cx="4572000" cy="274320"/>
          </a:xfrm>
          <a:prstGeom prst="rect">
            <a:avLst/>
          </a:prstGeom>
          <a:noFill/>
          <a:ln/>
        </p:spPr>
        <p:txBody>
          <a:bodyPr wrap="square" lIns="0" tIns="0" rIns="0" bIns="0" rtlCol="0" anchor="ctr"/>
          <a:lstStyle/>
          <a:p>
            <a:pPr indent="0" marL="0">
              <a:buNone/>
            </a:pPr>
            <a:r>
              <a:rPr lang="en-US" sz="1600" b="1" dirty="0">
                <a:solidFill>
                  <a:srgbClr val="1E2761"/>
                </a:solidFill>
                <a:latin typeface="Georgia" pitchFamily="34" charset="0"/>
                <a:ea typeface="Georgia" pitchFamily="34" charset="-122"/>
                <a:cs typeface="Georgia" pitchFamily="34" charset="-120"/>
              </a:rPr>
              <a:t>Answer: Guarantee for 24 months.</a:t>
            </a:r>
            <a:endParaRPr lang="en-US" sz="1600" dirty="0"/>
          </a:p>
        </p:txBody>
      </p:sp>
      <p:sp>
        <p:nvSpPr>
          <p:cNvPr id="23" name="Text 20"/>
          <p:cNvSpPr/>
          <p:nvPr/>
        </p:nvSpPr>
        <p:spPr>
          <a:xfrm>
            <a:off x="777240" y="4407408"/>
            <a:ext cx="7589520" cy="3200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The company rounds down to 24 months. With this guarantee, they expect to refund no more than 7% of purchases.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Worked Example: Top Percentile Cutoff</a:t>
            </a:r>
            <a:endParaRPr lang="en-US" sz="2600" dirty="0"/>
          </a:p>
        </p:txBody>
      </p:sp>
      <p:sp>
        <p:nvSpPr>
          <p:cNvPr id="5" name="Shape 3"/>
          <p:cNvSpPr/>
          <p:nvPr/>
        </p:nvSpPr>
        <p:spPr>
          <a:xfrm>
            <a:off x="548640" y="1051560"/>
            <a:ext cx="8046720" cy="64008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5029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Exam scores are normally distributed with μ = 72 and σ = 10. What score separates the top 10% from the rest?</a:t>
            </a:r>
            <a:endParaRPr lang="en-US" sz="1400" dirty="0"/>
          </a:p>
        </p:txBody>
      </p:sp>
      <p:pic>
        <p:nvPicPr>
          <p:cNvPr id="7" name="Image 0" descr="preencoded.png">    </p:cNvPr>
          <p:cNvPicPr>
            <a:picLocks noChangeAspect="1"/>
          </p:cNvPicPr>
          <p:nvPr/>
        </p:nvPicPr>
        <p:blipFill>
          <a:blip r:embed="rId1"/>
          <a:stretch>
            <a:fillRect/>
          </a:stretch>
        </p:blipFill>
        <p:spPr>
          <a:xfrm>
            <a:off x="5303520" y="1783080"/>
            <a:ext cx="3383280" cy="1691640"/>
          </a:xfrm>
          <a:prstGeom prst="rect">
            <a:avLst/>
          </a:prstGeom>
        </p:spPr>
      </p:pic>
      <p:sp>
        <p:nvSpPr>
          <p:cNvPr id="8" name="Text 5"/>
          <p:cNvSpPr/>
          <p:nvPr/>
        </p:nvSpPr>
        <p:spPr>
          <a:xfrm>
            <a:off x="5303520" y="3429000"/>
            <a:ext cx="3383280" cy="228600"/>
          </a:xfrm>
          <a:prstGeom prst="rect">
            <a:avLst/>
          </a:prstGeom>
          <a:noFill/>
          <a:ln/>
        </p:spPr>
        <p:txBody>
          <a:bodyPr wrap="square" lIns="0" tIns="0" rIns="0" bIns="0" rtlCol="0" anchor="ctr"/>
          <a:lstStyle/>
          <a:p>
            <a:pPr algn="ctr" indent="0" marL="0">
              <a:buNone/>
            </a:pPr>
            <a:r>
              <a:rPr lang="en-US" sz="1000" dirty="0">
                <a:solidFill>
                  <a:srgbClr val="718096"/>
                </a:solidFill>
                <a:latin typeface="Calibri" pitchFamily="34" charset="0"/>
                <a:ea typeface="Calibri" pitchFamily="34" charset="-122"/>
                <a:cs typeface="Calibri" pitchFamily="34" charset="-120"/>
              </a:rPr>
              <a:t>Top 10%</a:t>
            </a:r>
            <a:endParaRPr lang="en-US" sz="1000" dirty="0"/>
          </a:p>
        </p:txBody>
      </p:sp>
      <p:sp>
        <p:nvSpPr>
          <p:cNvPr id="9" name="Shape 6"/>
          <p:cNvSpPr/>
          <p:nvPr/>
        </p:nvSpPr>
        <p:spPr>
          <a:xfrm>
            <a:off x="548640" y="1874520"/>
            <a:ext cx="457200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7"/>
          <p:cNvSpPr/>
          <p:nvPr/>
        </p:nvSpPr>
        <p:spPr>
          <a:xfrm>
            <a:off x="685800" y="2011680"/>
            <a:ext cx="320040" cy="320040"/>
          </a:xfrm>
          <a:prstGeom prst="ellipse">
            <a:avLst/>
          </a:prstGeom>
          <a:solidFill>
            <a:srgbClr val="028090"/>
          </a:solidFill>
          <a:ln/>
        </p:spPr>
      </p:sp>
      <p:sp>
        <p:nvSpPr>
          <p:cNvPr id="11" name="Text 8"/>
          <p:cNvSpPr/>
          <p:nvPr/>
        </p:nvSpPr>
        <p:spPr>
          <a:xfrm>
            <a:off x="685800" y="20116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2" name="Text 9"/>
          <p:cNvSpPr/>
          <p:nvPr/>
        </p:nvSpPr>
        <p:spPr>
          <a:xfrm>
            <a:off x="1143000" y="1965960"/>
            <a:ext cx="384048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Top 10% means 90% is to the LEFT</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Left-tail area = 1 − 0.10 = 0.90</a:t>
            </a:r>
            <a:endParaRPr lang="en-US" sz="1300" dirty="0"/>
          </a:p>
        </p:txBody>
      </p:sp>
      <p:sp>
        <p:nvSpPr>
          <p:cNvPr id="13" name="Shape 10"/>
          <p:cNvSpPr/>
          <p:nvPr/>
        </p:nvSpPr>
        <p:spPr>
          <a:xfrm>
            <a:off x="548640" y="2560320"/>
            <a:ext cx="4572000" cy="5943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1"/>
          <p:cNvSpPr/>
          <p:nvPr/>
        </p:nvSpPr>
        <p:spPr>
          <a:xfrm>
            <a:off x="685800" y="2697480"/>
            <a:ext cx="320040" cy="320040"/>
          </a:xfrm>
          <a:prstGeom prst="ellipse">
            <a:avLst/>
          </a:prstGeom>
          <a:solidFill>
            <a:srgbClr val="028090"/>
          </a:solidFill>
          <a:ln/>
        </p:spPr>
      </p:sp>
      <p:sp>
        <p:nvSpPr>
          <p:cNvPr id="15" name="Text 12"/>
          <p:cNvSpPr/>
          <p:nvPr/>
        </p:nvSpPr>
        <p:spPr>
          <a:xfrm>
            <a:off x="685800" y="26974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3"/>
          <p:cNvSpPr/>
          <p:nvPr/>
        </p:nvSpPr>
        <p:spPr>
          <a:xfrm>
            <a:off x="1143000" y="2651760"/>
            <a:ext cx="3840480" cy="4114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Look up area 0.9000 in body of Table 5</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Closest: 0.8997 → z = 1.28</a:t>
            </a:r>
            <a:endParaRPr lang="en-US" sz="1300" dirty="0"/>
          </a:p>
        </p:txBody>
      </p:sp>
      <p:sp>
        <p:nvSpPr>
          <p:cNvPr id="17" name="Shape 14"/>
          <p:cNvSpPr/>
          <p:nvPr/>
        </p:nvSpPr>
        <p:spPr>
          <a:xfrm>
            <a:off x="548640" y="3246120"/>
            <a:ext cx="4572000" cy="548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Shape 15"/>
          <p:cNvSpPr/>
          <p:nvPr/>
        </p:nvSpPr>
        <p:spPr>
          <a:xfrm>
            <a:off x="685800" y="3383280"/>
            <a:ext cx="320040" cy="320040"/>
          </a:xfrm>
          <a:prstGeom prst="ellipse">
            <a:avLst/>
          </a:prstGeom>
          <a:solidFill>
            <a:srgbClr val="028090"/>
          </a:solidFill>
          <a:ln/>
        </p:spPr>
      </p:sp>
      <p:sp>
        <p:nvSpPr>
          <p:cNvPr id="19" name="Text 16"/>
          <p:cNvSpPr/>
          <p:nvPr/>
        </p:nvSpPr>
        <p:spPr>
          <a:xfrm>
            <a:off x="685800" y="33832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0" name="Text 17"/>
          <p:cNvSpPr/>
          <p:nvPr/>
        </p:nvSpPr>
        <p:spPr>
          <a:xfrm>
            <a:off x="1143000" y="3337560"/>
            <a:ext cx="3840480" cy="3657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Convert: x = (1.28)(10) + 72 = 84.8</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Round to 85</a:t>
            </a:r>
            <a:endParaRPr lang="en-US" sz="1300" dirty="0"/>
          </a:p>
        </p:txBody>
      </p:sp>
      <p:sp>
        <p:nvSpPr>
          <p:cNvPr id="21" name="Shape 18"/>
          <p:cNvSpPr/>
          <p:nvPr/>
        </p:nvSpPr>
        <p:spPr>
          <a:xfrm>
            <a:off x="548640" y="3977640"/>
            <a:ext cx="8046720" cy="68580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2" name="Text 19"/>
          <p:cNvSpPr/>
          <p:nvPr/>
        </p:nvSpPr>
        <p:spPr>
          <a:xfrm>
            <a:off x="777240" y="4023360"/>
            <a:ext cx="4572000" cy="2743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A score of 85 separates the top 10%.</a:t>
            </a:r>
            <a:endParaRPr lang="en-US" sz="1500" dirty="0"/>
          </a:p>
        </p:txBody>
      </p:sp>
      <p:sp>
        <p:nvSpPr>
          <p:cNvPr id="23" name="Text 20"/>
          <p:cNvSpPr/>
          <p:nvPr/>
        </p:nvSpPr>
        <p:spPr>
          <a:xfrm>
            <a:off x="777240" y="4315968"/>
            <a:ext cx="7315200" cy="27432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Students scoring 85 or above are in the 90th percentile or higher.</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2: NONSTANDARD NORMAL</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Practice: Nonstandard Normal Problems</a:t>
            </a:r>
            <a:endParaRPr lang="en-US" sz="2600" dirty="0"/>
          </a:p>
        </p:txBody>
      </p:sp>
      <p:sp>
        <p:nvSpPr>
          <p:cNvPr id="5" name="Shape 3"/>
          <p:cNvSpPr/>
          <p:nvPr/>
        </p:nvSpPr>
        <p:spPr>
          <a:xfrm>
            <a:off x="548640" y="1051560"/>
            <a:ext cx="8046720" cy="62179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731520" y="1197864"/>
            <a:ext cx="320040" cy="320040"/>
          </a:xfrm>
          <a:prstGeom prst="ellipse">
            <a:avLst/>
          </a:prstGeom>
          <a:solidFill>
            <a:srgbClr val="028090"/>
          </a:solidFill>
          <a:ln/>
        </p:spPr>
      </p:sp>
      <p:sp>
        <p:nvSpPr>
          <p:cNvPr id="7" name="Text 5"/>
          <p:cNvSpPr/>
          <p:nvPr/>
        </p:nvSpPr>
        <p:spPr>
          <a:xfrm>
            <a:off x="731520" y="1197864"/>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1234440" y="1097280"/>
            <a:ext cx="5029200" cy="34747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P(10 ≤ x ≤ 26);  μ = 15, σ = 4</a:t>
            </a:r>
            <a:endParaRPr lang="en-US" sz="1300" dirty="0"/>
          </a:p>
        </p:txBody>
      </p:sp>
      <p:sp>
        <p:nvSpPr>
          <p:cNvPr id="9" name="Text 7"/>
          <p:cNvSpPr/>
          <p:nvPr/>
        </p:nvSpPr>
        <p:spPr>
          <a:xfrm>
            <a:off x="1234440" y="1417320"/>
            <a:ext cx="4572000" cy="201168"/>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Convert both endpoints → Case 3</a:t>
            </a:r>
            <a:endParaRPr lang="en-US" sz="1000" dirty="0"/>
          </a:p>
        </p:txBody>
      </p:sp>
      <p:sp>
        <p:nvSpPr>
          <p:cNvPr id="10" name="Shape 8"/>
          <p:cNvSpPr/>
          <p:nvPr/>
        </p:nvSpPr>
        <p:spPr>
          <a:xfrm>
            <a:off x="548640" y="1828800"/>
            <a:ext cx="8046720" cy="62179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731520" y="1975104"/>
            <a:ext cx="320040" cy="320040"/>
          </a:xfrm>
          <a:prstGeom prst="ellipse">
            <a:avLst/>
          </a:prstGeom>
          <a:solidFill>
            <a:srgbClr val="028090"/>
          </a:solidFill>
          <a:ln/>
        </p:spPr>
      </p:sp>
      <p:sp>
        <p:nvSpPr>
          <p:cNvPr id="12" name="Text 10"/>
          <p:cNvSpPr/>
          <p:nvPr/>
        </p:nvSpPr>
        <p:spPr>
          <a:xfrm>
            <a:off x="731520" y="1975104"/>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1234440" y="1874520"/>
            <a:ext cx="5029200" cy="34747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P(50 ≤ x ≤ 70);  μ = 40, σ = 15</a:t>
            </a:r>
            <a:endParaRPr lang="en-US" sz="1300" dirty="0"/>
          </a:p>
        </p:txBody>
      </p:sp>
      <p:sp>
        <p:nvSpPr>
          <p:cNvPr id="14" name="Text 12"/>
          <p:cNvSpPr/>
          <p:nvPr/>
        </p:nvSpPr>
        <p:spPr>
          <a:xfrm>
            <a:off x="1234440" y="2194560"/>
            <a:ext cx="4572000" cy="201168"/>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Both z-values will be positive</a:t>
            </a:r>
            <a:endParaRPr lang="en-US" sz="1000" dirty="0"/>
          </a:p>
        </p:txBody>
      </p:sp>
      <p:sp>
        <p:nvSpPr>
          <p:cNvPr id="15" name="Shape 13"/>
          <p:cNvSpPr/>
          <p:nvPr/>
        </p:nvSpPr>
        <p:spPr>
          <a:xfrm>
            <a:off x="548640" y="2606040"/>
            <a:ext cx="8046720" cy="62179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731520" y="2752344"/>
            <a:ext cx="320040" cy="320040"/>
          </a:xfrm>
          <a:prstGeom prst="ellipse">
            <a:avLst/>
          </a:prstGeom>
          <a:solidFill>
            <a:srgbClr val="028090"/>
          </a:solidFill>
          <a:ln/>
        </p:spPr>
      </p:sp>
      <p:sp>
        <p:nvSpPr>
          <p:cNvPr id="17" name="Text 15"/>
          <p:cNvSpPr/>
          <p:nvPr/>
        </p:nvSpPr>
        <p:spPr>
          <a:xfrm>
            <a:off x="731520" y="2752344"/>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1234440" y="2651760"/>
            <a:ext cx="5029200" cy="34747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P(7 ≤ x ≤ 9);  μ = 5, σ = 1.2</a:t>
            </a:r>
            <a:endParaRPr lang="en-US" sz="1300" dirty="0"/>
          </a:p>
        </p:txBody>
      </p:sp>
      <p:sp>
        <p:nvSpPr>
          <p:cNvPr id="19" name="Text 17"/>
          <p:cNvSpPr/>
          <p:nvPr/>
        </p:nvSpPr>
        <p:spPr>
          <a:xfrm>
            <a:off x="1234440" y="2971800"/>
            <a:ext cx="4572000" cy="201168"/>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Convert → Table → Subtract</a:t>
            </a:r>
            <a:endParaRPr lang="en-US" sz="1000" dirty="0"/>
          </a:p>
        </p:txBody>
      </p:sp>
      <p:sp>
        <p:nvSpPr>
          <p:cNvPr id="20" name="Shape 18"/>
          <p:cNvSpPr/>
          <p:nvPr/>
        </p:nvSpPr>
        <p:spPr>
          <a:xfrm>
            <a:off x="548640" y="3383280"/>
            <a:ext cx="8046720" cy="62179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731520" y="3529584"/>
            <a:ext cx="320040" cy="320040"/>
          </a:xfrm>
          <a:prstGeom prst="ellipse">
            <a:avLst/>
          </a:prstGeom>
          <a:solidFill>
            <a:srgbClr val="028090"/>
          </a:solidFill>
          <a:ln/>
        </p:spPr>
      </p:sp>
      <p:sp>
        <p:nvSpPr>
          <p:cNvPr id="22" name="Text 20"/>
          <p:cNvSpPr/>
          <p:nvPr/>
        </p:nvSpPr>
        <p:spPr>
          <a:xfrm>
            <a:off x="731520" y="3529584"/>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1234440" y="3429000"/>
            <a:ext cx="5029200" cy="34747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Response time μ = 8.4, σ = 1.7.</a:t>
            </a:r>
            <a:endParaRPr lang="en-US" sz="1300" dirty="0"/>
          </a:p>
          <a:p>
            <a:pPr indent="0" marL="0">
              <a:buNone/>
            </a:pPr>
            <a:r>
              <a:rPr lang="en-US" sz="1300" b="1" dirty="0">
                <a:solidFill>
                  <a:srgbClr val="1E2761"/>
                </a:solidFill>
                <a:latin typeface="Georgia" pitchFamily="34" charset="0"/>
                <a:ea typeface="Georgia" pitchFamily="34" charset="-122"/>
                <a:cs typeface="Georgia" pitchFamily="34" charset="-120"/>
              </a:rPr>
              <a:t>Find P(x &lt; 5), P(5 &lt; x &lt; 10), P(x &gt; 10)</a:t>
            </a:r>
            <a:endParaRPr lang="en-US" sz="1300" dirty="0"/>
          </a:p>
        </p:txBody>
      </p:sp>
      <p:sp>
        <p:nvSpPr>
          <p:cNvPr id="24" name="Text 22"/>
          <p:cNvSpPr/>
          <p:nvPr/>
        </p:nvSpPr>
        <p:spPr>
          <a:xfrm>
            <a:off x="1234440" y="3749040"/>
            <a:ext cx="4572000" cy="201168"/>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Three parts — all three cases!</a:t>
            </a:r>
            <a:endParaRPr lang="en-US" sz="1000" dirty="0"/>
          </a:p>
        </p:txBody>
      </p:sp>
      <p:sp>
        <p:nvSpPr>
          <p:cNvPr id="25" name="Shape 23"/>
          <p:cNvSpPr/>
          <p:nvPr/>
        </p:nvSpPr>
        <p:spPr>
          <a:xfrm>
            <a:off x="548640" y="4160520"/>
            <a:ext cx="8046720" cy="621792"/>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6" name="Shape 24"/>
          <p:cNvSpPr/>
          <p:nvPr/>
        </p:nvSpPr>
        <p:spPr>
          <a:xfrm>
            <a:off x="731520" y="4306824"/>
            <a:ext cx="320040" cy="320040"/>
          </a:xfrm>
          <a:prstGeom prst="ellipse">
            <a:avLst/>
          </a:prstGeom>
          <a:solidFill>
            <a:srgbClr val="028090"/>
          </a:solidFill>
          <a:ln/>
        </p:spPr>
      </p:sp>
      <p:sp>
        <p:nvSpPr>
          <p:cNvPr id="27" name="Text 25"/>
          <p:cNvSpPr/>
          <p:nvPr/>
        </p:nvSpPr>
        <p:spPr>
          <a:xfrm>
            <a:off x="731520" y="4306824"/>
            <a:ext cx="320040" cy="32004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1234440" y="4206240"/>
            <a:ext cx="5029200" cy="347472"/>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Battery life: μ = 500 hrs, σ = 40 hrs.</a:t>
            </a:r>
            <a:endParaRPr lang="en-US" sz="1300" dirty="0"/>
          </a:p>
          <a:p>
            <a:pPr indent="0" marL="0">
              <a:buNone/>
            </a:pPr>
            <a:r>
              <a:rPr lang="en-US" sz="1300" b="1" dirty="0">
                <a:solidFill>
                  <a:srgbClr val="1E2761"/>
                </a:solidFill>
                <a:latin typeface="Georgia" pitchFamily="34" charset="0"/>
                <a:ea typeface="Georgia" pitchFamily="34" charset="-122"/>
                <a:cs typeface="Georgia" pitchFamily="34" charset="-120"/>
              </a:rPr>
              <a:t>Guarantee so only 8% are returned. Find x.</a:t>
            </a:r>
            <a:endParaRPr lang="en-US" sz="1300" dirty="0"/>
          </a:p>
        </p:txBody>
      </p:sp>
      <p:sp>
        <p:nvSpPr>
          <p:cNvPr id="29" name="Text 27"/>
          <p:cNvSpPr/>
          <p:nvPr/>
        </p:nvSpPr>
        <p:spPr>
          <a:xfrm>
            <a:off x="1234440" y="4526280"/>
            <a:ext cx="4572000" cy="201168"/>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Inverse — look up 0.08 in table body</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From Individuals to Samples</a:t>
            </a:r>
            <a:endParaRPr lang="en-US" sz="2600" dirty="0"/>
          </a:p>
        </p:txBody>
      </p:sp>
      <p:sp>
        <p:nvSpPr>
          <p:cNvPr id="5" name="Shape 3"/>
          <p:cNvSpPr/>
          <p:nvPr/>
        </p:nvSpPr>
        <p:spPr>
          <a:xfrm>
            <a:off x="548640" y="1097280"/>
            <a:ext cx="8046720" cy="13716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Text 4"/>
          <p:cNvSpPr/>
          <p:nvPr/>
        </p:nvSpPr>
        <p:spPr>
          <a:xfrm>
            <a:off x="777240" y="1188720"/>
            <a:ext cx="4572000" cy="27432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A thought experiment:</a:t>
            </a:r>
            <a:endParaRPr lang="en-US" sz="1400" dirty="0"/>
          </a:p>
        </p:txBody>
      </p:sp>
      <p:sp>
        <p:nvSpPr>
          <p:cNvPr id="7" name="Text 5"/>
          <p:cNvSpPr/>
          <p:nvPr/>
        </p:nvSpPr>
        <p:spPr>
          <a:xfrm>
            <a:off x="777240" y="1508760"/>
            <a:ext cx="7589520" cy="9144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1.  Pick one random person and weigh them. Record it.</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2.  Now pick 30 random people. Compute their mean weight. Record it.</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3.  Repeat step 2 many times. Plot all those sample means.</a:t>
            </a:r>
            <a:endParaRPr lang="en-US" sz="1300" dirty="0"/>
          </a:p>
          <a:p>
            <a:pPr indent="0" marL="0">
              <a:buNone/>
            </a:pPr>
            <a:endParaRPr lang="en-US" sz="1300" dirty="0"/>
          </a:p>
          <a:p>
            <a:pPr indent="0" marL="0">
              <a:buNone/>
            </a:pPr>
            <a:r>
              <a:rPr lang="en-US" sz="1400" b="1" dirty="0">
                <a:solidFill>
                  <a:srgbClr val="1E2761"/>
                </a:solidFill>
                <a:latin typeface="Calibri" pitchFamily="34" charset="0"/>
                <a:ea typeface="Calibri" pitchFamily="34" charset="-122"/>
                <a:cs typeface="Calibri" pitchFamily="34" charset="-120"/>
              </a:rPr>
              <a:t>What does the distribution of sample means look like?</a:t>
            </a:r>
            <a:endParaRPr lang="en-US" sz="1300" dirty="0"/>
          </a:p>
        </p:txBody>
      </p:sp>
      <p:sp>
        <p:nvSpPr>
          <p:cNvPr id="8" name="Shape 6"/>
          <p:cNvSpPr/>
          <p:nvPr/>
        </p:nvSpPr>
        <p:spPr>
          <a:xfrm>
            <a:off x="548640" y="2743200"/>
            <a:ext cx="384048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Text 7"/>
          <p:cNvSpPr/>
          <p:nvPr/>
        </p:nvSpPr>
        <p:spPr>
          <a:xfrm>
            <a:off x="731520" y="2834640"/>
            <a:ext cx="3474720" cy="274320"/>
          </a:xfrm>
          <a:prstGeom prst="rect">
            <a:avLst/>
          </a:prstGeom>
          <a:noFill/>
          <a:ln/>
        </p:spPr>
        <p:txBody>
          <a:bodyPr wrap="square" lIns="0" tIns="0" rIns="0" bIns="0" rtlCol="0" anchor="ctr"/>
          <a:lstStyle/>
          <a:p>
            <a:pPr algn="ctr" indent="0" marL="0">
              <a:buNone/>
            </a:pPr>
            <a:r>
              <a:rPr lang="en-US" sz="1300" b="1" dirty="0">
                <a:solidFill>
                  <a:srgbClr val="1E2761"/>
                </a:solidFill>
                <a:latin typeface="Georgia" pitchFamily="34" charset="0"/>
                <a:ea typeface="Georgia" pitchFamily="34" charset="-122"/>
                <a:cs typeface="Georgia" pitchFamily="34" charset="-120"/>
              </a:rPr>
              <a:t>Individual Values</a:t>
            </a:r>
            <a:endParaRPr lang="en-US" sz="1300" dirty="0"/>
          </a:p>
        </p:txBody>
      </p:sp>
      <p:sp>
        <p:nvSpPr>
          <p:cNvPr id="10" name="Text 8"/>
          <p:cNvSpPr/>
          <p:nvPr/>
        </p:nvSpPr>
        <p:spPr>
          <a:xfrm>
            <a:off x="731520" y="3108960"/>
            <a:ext cx="3474720" cy="91440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Wide spread</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High variability</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Any one person can be</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far from the mean</a:t>
            </a:r>
            <a:endParaRPr lang="en-US" sz="1200" dirty="0"/>
          </a:p>
        </p:txBody>
      </p:sp>
      <p:sp>
        <p:nvSpPr>
          <p:cNvPr id="11" name="Text 9"/>
          <p:cNvSpPr/>
          <p:nvPr/>
        </p:nvSpPr>
        <p:spPr>
          <a:xfrm>
            <a:off x="731520" y="4114800"/>
            <a:ext cx="3474720" cy="320040"/>
          </a:xfrm>
          <a:prstGeom prst="rect">
            <a:avLst/>
          </a:prstGeom>
          <a:noFill/>
          <a:ln/>
        </p:spPr>
        <p:txBody>
          <a:bodyPr wrap="square" lIns="0" tIns="0" rIns="0" bIns="0" rtlCol="0" anchor="ctr"/>
          <a:lstStyle/>
          <a:p>
            <a:pPr algn="ctr" indent="0" marL="0">
              <a:buNone/>
            </a:pPr>
            <a:r>
              <a:rPr lang="en-US" sz="1600" b="1" dirty="0">
                <a:solidFill>
                  <a:srgbClr val="E53E3E"/>
                </a:solidFill>
                <a:latin typeface="Georgia" pitchFamily="34" charset="0"/>
                <a:ea typeface="Georgia" pitchFamily="34" charset="-122"/>
                <a:cs typeface="Georgia" pitchFamily="34" charset="-120"/>
              </a:rPr>
              <a:t>Uses σ</a:t>
            </a:r>
            <a:endParaRPr lang="en-US" sz="1600" dirty="0"/>
          </a:p>
        </p:txBody>
      </p:sp>
      <p:sp>
        <p:nvSpPr>
          <p:cNvPr id="12" name="Shape 10"/>
          <p:cNvSpPr/>
          <p:nvPr/>
        </p:nvSpPr>
        <p:spPr>
          <a:xfrm>
            <a:off x="4754880" y="2743200"/>
            <a:ext cx="3931920" cy="20116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1"/>
          <p:cNvSpPr/>
          <p:nvPr/>
        </p:nvSpPr>
        <p:spPr>
          <a:xfrm>
            <a:off x="4937760" y="2834640"/>
            <a:ext cx="3566160" cy="274320"/>
          </a:xfrm>
          <a:prstGeom prst="rect">
            <a:avLst/>
          </a:prstGeom>
          <a:noFill/>
          <a:ln/>
        </p:spPr>
        <p:txBody>
          <a:bodyPr wrap="square" lIns="0" tIns="0" rIns="0" bIns="0" rtlCol="0" anchor="ctr"/>
          <a:lstStyle/>
          <a:p>
            <a:pPr algn="ctr" indent="0" marL="0">
              <a:buNone/>
            </a:pPr>
            <a:r>
              <a:rPr lang="en-US" sz="1300" b="1" dirty="0">
                <a:solidFill>
                  <a:srgbClr val="028090"/>
                </a:solidFill>
                <a:latin typeface="Georgia" pitchFamily="34" charset="0"/>
                <a:ea typeface="Georgia" pitchFamily="34" charset="-122"/>
                <a:cs typeface="Georgia" pitchFamily="34" charset="-120"/>
              </a:rPr>
              <a:t>Sample Means</a:t>
            </a:r>
            <a:endParaRPr lang="en-US" sz="1300" dirty="0"/>
          </a:p>
        </p:txBody>
      </p:sp>
      <p:sp>
        <p:nvSpPr>
          <p:cNvPr id="14" name="Text 12"/>
          <p:cNvSpPr/>
          <p:nvPr/>
        </p:nvSpPr>
        <p:spPr>
          <a:xfrm>
            <a:off x="4937760" y="3108960"/>
            <a:ext cx="3566160" cy="914400"/>
          </a:xfrm>
          <a:prstGeom prst="rect">
            <a:avLst/>
          </a:prstGeom>
          <a:noFill/>
          <a:ln/>
        </p:spPr>
        <p:txBody>
          <a:bodyPr wrap="square" lIns="0" tIns="0" rIns="0" bIns="0" rtlCol="0" anchor="ctr"/>
          <a:lstStyle/>
          <a:p>
            <a:pPr algn="ctr" indent="0" marL="0">
              <a:buNone/>
            </a:pPr>
            <a:r>
              <a:rPr lang="en-US" sz="1200" dirty="0">
                <a:solidFill>
                  <a:srgbClr val="2D3748"/>
                </a:solidFill>
                <a:latin typeface="Calibri" pitchFamily="34" charset="0"/>
                <a:ea typeface="Calibri" pitchFamily="34" charset="-122"/>
                <a:cs typeface="Calibri" pitchFamily="34" charset="-120"/>
              </a:rPr>
              <a:t>Narrow spread</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Low variability</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Averages tend to cluster</a:t>
            </a:r>
            <a:endParaRPr lang="en-US" sz="1200" dirty="0"/>
          </a:p>
          <a:p>
            <a:pPr algn="ctr" indent="0" marL="0">
              <a:buNone/>
            </a:pPr>
            <a:r>
              <a:rPr lang="en-US" sz="1200" dirty="0">
                <a:solidFill>
                  <a:srgbClr val="2D3748"/>
                </a:solidFill>
                <a:latin typeface="Calibri" pitchFamily="34" charset="0"/>
                <a:ea typeface="Calibri" pitchFamily="34" charset="-122"/>
                <a:cs typeface="Calibri" pitchFamily="34" charset="-120"/>
              </a:rPr>
              <a:t>near the population mean</a:t>
            </a:r>
            <a:endParaRPr lang="en-US" sz="1200" dirty="0"/>
          </a:p>
        </p:txBody>
      </p:sp>
      <p:sp>
        <p:nvSpPr>
          <p:cNvPr id="15" name="Text 13"/>
          <p:cNvSpPr/>
          <p:nvPr/>
        </p:nvSpPr>
        <p:spPr>
          <a:xfrm>
            <a:off x="4937760" y="4114800"/>
            <a:ext cx="3566160" cy="320040"/>
          </a:xfrm>
          <a:prstGeom prst="rect">
            <a:avLst/>
          </a:prstGeom>
          <a:noFill/>
          <a:ln/>
        </p:spPr>
        <p:txBody>
          <a:bodyPr wrap="square" lIns="0" tIns="0" rIns="0" bIns="0" rtlCol="0" anchor="ctr"/>
          <a:lstStyle/>
          <a:p>
            <a:pPr algn="ctr" indent="0" marL="0">
              <a:buNone/>
            </a:pPr>
            <a:r>
              <a:rPr lang="en-US" sz="1600" b="1" dirty="0">
                <a:solidFill>
                  <a:srgbClr val="028090"/>
                </a:solidFill>
                <a:latin typeface="Georgia" pitchFamily="34" charset="0"/>
                <a:ea typeface="Georgia" pitchFamily="34" charset="-122"/>
                <a:cs typeface="Georgia" pitchFamily="34" charset="-120"/>
              </a:rPr>
              <a:t>Uses σ / √n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What Is a Sampling Distribution?</a:t>
            </a:r>
            <a:endParaRPr lang="en-US" sz="2600" dirty="0"/>
          </a:p>
        </p:txBody>
      </p:sp>
      <p:sp>
        <p:nvSpPr>
          <p:cNvPr id="5" name="Shape 3"/>
          <p:cNvSpPr/>
          <p:nvPr/>
        </p:nvSpPr>
        <p:spPr>
          <a:xfrm>
            <a:off x="548640" y="1097280"/>
            <a:ext cx="8046720" cy="10972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73152" cy="1097280"/>
          </a:xfrm>
          <a:prstGeom prst="rect">
            <a:avLst/>
          </a:prstGeom>
          <a:solidFill>
            <a:srgbClr val="028090"/>
          </a:solidFill>
          <a:ln/>
        </p:spPr>
      </p:sp>
      <p:sp>
        <p:nvSpPr>
          <p:cNvPr id="7" name="Text 5"/>
          <p:cNvSpPr/>
          <p:nvPr/>
        </p:nvSpPr>
        <p:spPr>
          <a:xfrm>
            <a:off x="777240" y="1188720"/>
            <a:ext cx="2743200" cy="27432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Definition</a:t>
            </a:r>
            <a:endParaRPr lang="en-US" sz="1400" dirty="0"/>
          </a:p>
        </p:txBody>
      </p:sp>
      <p:sp>
        <p:nvSpPr>
          <p:cNvPr id="8" name="Text 6"/>
          <p:cNvSpPr/>
          <p:nvPr/>
        </p:nvSpPr>
        <p:spPr>
          <a:xfrm>
            <a:off x="777240" y="1508760"/>
            <a:ext cx="7589520" cy="59436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The sampling distribution of the mean (x̄) is the probability distribution of all possible sample means when all samples of the same size n are taken from the same population.</a:t>
            </a:r>
            <a:endParaRPr lang="en-US" sz="1300" dirty="0"/>
          </a:p>
        </p:txBody>
      </p:sp>
      <p:sp>
        <p:nvSpPr>
          <p:cNvPr id="9" name="Shape 7"/>
          <p:cNvSpPr/>
          <p:nvPr/>
        </p:nvSpPr>
        <p:spPr>
          <a:xfrm>
            <a:off x="548640" y="2468880"/>
            <a:ext cx="237744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Text 8"/>
          <p:cNvSpPr/>
          <p:nvPr/>
        </p:nvSpPr>
        <p:spPr>
          <a:xfrm>
            <a:off x="685800" y="2606040"/>
            <a:ext cx="2103120" cy="73152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Population</a:t>
            </a:r>
            <a:endParaRPr lang="en-US" sz="1400" dirty="0"/>
          </a:p>
        </p:txBody>
      </p:sp>
      <p:sp>
        <p:nvSpPr>
          <p:cNvPr id="11" name="Text 9"/>
          <p:cNvSpPr/>
          <p:nvPr/>
        </p:nvSpPr>
        <p:spPr>
          <a:xfrm>
            <a:off x="685800" y="3337560"/>
            <a:ext cx="2103120" cy="274320"/>
          </a:xfrm>
          <a:prstGeom prst="rect">
            <a:avLst/>
          </a:prstGeom>
          <a:noFill/>
          <a:ln/>
        </p:spPr>
        <p:txBody>
          <a:bodyPr wrap="square" lIns="0" tIns="0" rIns="0" bIns="0"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μ, σ known</a:t>
            </a:r>
            <a:endParaRPr lang="en-US" sz="1100" dirty="0"/>
          </a:p>
        </p:txBody>
      </p:sp>
      <p:sp>
        <p:nvSpPr>
          <p:cNvPr id="12" name="Shape 10"/>
          <p:cNvSpPr/>
          <p:nvPr/>
        </p:nvSpPr>
        <p:spPr>
          <a:xfrm>
            <a:off x="3108960" y="2468880"/>
            <a:ext cx="237744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1"/>
          <p:cNvSpPr/>
          <p:nvPr/>
        </p:nvSpPr>
        <p:spPr>
          <a:xfrm>
            <a:off x="3246120" y="2606040"/>
            <a:ext cx="2103120" cy="731520"/>
          </a:xfrm>
          <a:prstGeom prst="rect">
            <a:avLst/>
          </a:prstGeom>
          <a:noFill/>
          <a:ln/>
        </p:spPr>
        <p:txBody>
          <a:bodyPr wrap="square" lIns="0" tIns="0" rIns="0" bIns="0" rtlCol="0" anchor="ctr"/>
          <a:lstStyle/>
          <a:p>
            <a:pPr algn="ctr" indent="0" marL="0">
              <a:buNone/>
            </a:pPr>
            <a:r>
              <a:rPr lang="en-US" sz="1400" b="1" dirty="0">
                <a:solidFill>
                  <a:srgbClr val="028090"/>
                </a:solidFill>
                <a:latin typeface="Georgia" pitchFamily="34" charset="0"/>
                <a:ea typeface="Georgia" pitchFamily="34" charset="-122"/>
                <a:cs typeface="Georgia" pitchFamily="34" charset="-120"/>
              </a:rPr>
              <a:t>Take many</a:t>
            </a:r>
            <a:endParaRPr lang="en-US" sz="1400" dirty="0"/>
          </a:p>
          <a:p>
            <a:pPr algn="ctr" indent="0" marL="0">
              <a:buNone/>
            </a:pPr>
            <a:r>
              <a:rPr lang="en-US" sz="1400" b="1" dirty="0">
                <a:solidFill>
                  <a:srgbClr val="028090"/>
                </a:solidFill>
                <a:latin typeface="Georgia" pitchFamily="34" charset="0"/>
                <a:ea typeface="Georgia" pitchFamily="34" charset="-122"/>
                <a:cs typeface="Georgia" pitchFamily="34" charset="-120"/>
              </a:rPr>
              <a:t>samples of</a:t>
            </a:r>
            <a:endParaRPr lang="en-US" sz="1400" dirty="0"/>
          </a:p>
          <a:p>
            <a:pPr algn="ctr" indent="0" marL="0">
              <a:buNone/>
            </a:pPr>
            <a:r>
              <a:rPr lang="en-US" sz="1400" b="1" dirty="0">
                <a:solidFill>
                  <a:srgbClr val="028090"/>
                </a:solidFill>
                <a:latin typeface="Georgia" pitchFamily="34" charset="0"/>
                <a:ea typeface="Georgia" pitchFamily="34" charset="-122"/>
                <a:cs typeface="Georgia" pitchFamily="34" charset="-120"/>
              </a:rPr>
              <a:t>size n</a:t>
            </a:r>
            <a:endParaRPr lang="en-US" sz="1400" dirty="0"/>
          </a:p>
        </p:txBody>
      </p:sp>
      <p:sp>
        <p:nvSpPr>
          <p:cNvPr id="14" name="Shape 12"/>
          <p:cNvSpPr/>
          <p:nvPr/>
        </p:nvSpPr>
        <p:spPr>
          <a:xfrm>
            <a:off x="5669280" y="2468880"/>
            <a:ext cx="2377440" cy="128016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5" name="Text 13"/>
          <p:cNvSpPr/>
          <p:nvPr/>
        </p:nvSpPr>
        <p:spPr>
          <a:xfrm>
            <a:off x="5806440" y="2606040"/>
            <a:ext cx="2103120" cy="731520"/>
          </a:xfrm>
          <a:prstGeom prst="rect">
            <a:avLst/>
          </a:prstGeom>
          <a:noFill/>
          <a:ln/>
        </p:spPr>
        <p:txBody>
          <a:bodyPr wrap="square" lIns="0" tIns="0" rIns="0" bIns="0" rtlCol="0" anchor="ctr"/>
          <a:lstStyle/>
          <a:p>
            <a:pPr algn="ctr" indent="0" marL="0">
              <a:buNone/>
            </a:pPr>
            <a:r>
              <a:rPr lang="en-US" sz="1400" b="1" dirty="0">
                <a:solidFill>
                  <a:srgbClr val="065A82"/>
                </a:solidFill>
                <a:latin typeface="Georgia" pitchFamily="34" charset="0"/>
                <a:ea typeface="Georgia" pitchFamily="34" charset="-122"/>
                <a:cs typeface="Georgia" pitchFamily="34" charset="-120"/>
              </a:rPr>
              <a:t>Compute x̄</a:t>
            </a:r>
            <a:endParaRPr lang="en-US" sz="1400" dirty="0"/>
          </a:p>
          <a:p>
            <a:pPr algn="ctr" indent="0" marL="0">
              <a:buNone/>
            </a:pPr>
            <a:r>
              <a:rPr lang="en-US" sz="1400" b="1" dirty="0">
                <a:solidFill>
                  <a:srgbClr val="065A82"/>
                </a:solidFill>
                <a:latin typeface="Georgia" pitchFamily="34" charset="0"/>
                <a:ea typeface="Georgia" pitchFamily="34" charset="-122"/>
                <a:cs typeface="Georgia" pitchFamily="34" charset="-120"/>
              </a:rPr>
              <a:t>for each</a:t>
            </a:r>
            <a:endParaRPr lang="en-US" sz="1400" dirty="0"/>
          </a:p>
          <a:p>
            <a:pPr algn="ctr" indent="0" marL="0">
              <a:buNone/>
            </a:pPr>
            <a:r>
              <a:rPr lang="en-US" sz="1400" b="1" dirty="0">
                <a:solidFill>
                  <a:srgbClr val="065A82"/>
                </a:solidFill>
                <a:latin typeface="Georgia" pitchFamily="34" charset="0"/>
                <a:ea typeface="Georgia" pitchFamily="34" charset="-122"/>
                <a:cs typeface="Georgia" pitchFamily="34" charset="-120"/>
              </a:rPr>
              <a:t>sample</a:t>
            </a:r>
            <a:endParaRPr lang="en-US" sz="1400" dirty="0"/>
          </a:p>
        </p:txBody>
      </p:sp>
      <p:sp>
        <p:nvSpPr>
          <p:cNvPr id="16" name="Text 14"/>
          <p:cNvSpPr/>
          <p:nvPr/>
        </p:nvSpPr>
        <p:spPr>
          <a:xfrm>
            <a:off x="2743200" y="2743200"/>
            <a:ext cx="457200" cy="548640"/>
          </a:xfrm>
          <a:prstGeom prst="rect">
            <a:avLst/>
          </a:prstGeom>
          <a:noFill/>
          <a:ln/>
        </p:spPr>
        <p:txBody>
          <a:bodyPr wrap="square" rtlCol="0" anchor="ctr"/>
          <a:lstStyle/>
          <a:p>
            <a:pPr algn="ctr" indent="0" marL="0">
              <a:buNone/>
            </a:pPr>
            <a:r>
              <a:rPr lang="en-US" sz="2800" dirty="0">
                <a:solidFill>
                  <a:srgbClr val="028090"/>
                </a:solidFill>
              </a:rPr>
              <a:t>→</a:t>
            </a:r>
            <a:endParaRPr lang="en-US" sz="2800" dirty="0"/>
          </a:p>
        </p:txBody>
      </p:sp>
      <p:sp>
        <p:nvSpPr>
          <p:cNvPr id="17" name="Text 15"/>
          <p:cNvSpPr/>
          <p:nvPr/>
        </p:nvSpPr>
        <p:spPr>
          <a:xfrm>
            <a:off x="5303520" y="2743200"/>
            <a:ext cx="457200" cy="548640"/>
          </a:xfrm>
          <a:prstGeom prst="rect">
            <a:avLst/>
          </a:prstGeom>
          <a:noFill/>
          <a:ln/>
        </p:spPr>
        <p:txBody>
          <a:bodyPr wrap="square" rtlCol="0" anchor="ctr"/>
          <a:lstStyle/>
          <a:p>
            <a:pPr algn="ctr" indent="0" marL="0">
              <a:buNone/>
            </a:pPr>
            <a:r>
              <a:rPr lang="en-US" sz="2800" dirty="0">
                <a:solidFill>
                  <a:srgbClr val="028090"/>
                </a:solidFill>
              </a:rPr>
              <a:t>→</a:t>
            </a:r>
            <a:endParaRPr lang="en-US" sz="2800" dirty="0"/>
          </a:p>
        </p:txBody>
      </p:sp>
      <p:sp>
        <p:nvSpPr>
          <p:cNvPr id="18" name="Shape 16"/>
          <p:cNvSpPr/>
          <p:nvPr/>
        </p:nvSpPr>
        <p:spPr>
          <a:xfrm>
            <a:off x="548640" y="3977640"/>
            <a:ext cx="8046720" cy="86868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19" name="Text 17"/>
          <p:cNvSpPr/>
          <p:nvPr/>
        </p:nvSpPr>
        <p:spPr>
          <a:xfrm>
            <a:off x="777240" y="4023360"/>
            <a:ext cx="4572000" cy="27432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Key properties of the sampling distribution:</a:t>
            </a:r>
            <a:endParaRPr lang="en-US" sz="1300" dirty="0"/>
          </a:p>
        </p:txBody>
      </p:sp>
      <p:sp>
        <p:nvSpPr>
          <p:cNvPr id="20" name="Text 18"/>
          <p:cNvSpPr/>
          <p:nvPr/>
        </p:nvSpPr>
        <p:spPr>
          <a:xfrm>
            <a:off x="777240" y="4297680"/>
            <a:ext cx="7589520" cy="50292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 The mean of all sample means equals the population mean: μ_x̄ = μ</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 The spread is smaller: σ_x̄ = σ / √n  (called the standard error)</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 The shape approaches normal as n increases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The Central Limit Theorem</a:t>
            </a:r>
            <a:endParaRPr lang="en-US" sz="2600" dirty="0"/>
          </a:p>
        </p:txBody>
      </p:sp>
      <p:sp>
        <p:nvSpPr>
          <p:cNvPr id="5" name="Shape 3"/>
          <p:cNvSpPr/>
          <p:nvPr/>
        </p:nvSpPr>
        <p:spPr>
          <a:xfrm>
            <a:off x="548640" y="1097280"/>
            <a:ext cx="8046720" cy="2103120"/>
          </a:xfrm>
          <a:prstGeom prst="rect">
            <a:avLst/>
          </a:prstGeom>
          <a:solidFill>
            <a:srgbClr val="1E2761"/>
          </a:solidFill>
          <a:ln/>
          <a:effectLst>
            <a:outerShdw sx="100000" sy="100000" kx="0" ky="0" algn="bl" rotWithShape="0" blurRad="76200" dist="25400" dir="8100000">
              <a:srgbClr val="000000">
                <a:alpha val="15000"/>
              </a:srgbClr>
            </a:outerShdw>
          </a:effectLst>
        </p:spPr>
      </p:sp>
      <p:sp>
        <p:nvSpPr>
          <p:cNvPr id="6" name="Text 4"/>
          <p:cNvSpPr/>
          <p:nvPr/>
        </p:nvSpPr>
        <p:spPr>
          <a:xfrm>
            <a:off x="777240" y="1234440"/>
            <a:ext cx="7589520" cy="320040"/>
          </a:xfrm>
          <a:prstGeom prst="rect">
            <a:avLst/>
          </a:prstGeom>
          <a:noFill/>
          <a:ln/>
        </p:spPr>
        <p:txBody>
          <a:bodyPr wrap="square" lIns="0" tIns="0" rIns="0" bIns="0" rtlCol="0" anchor="ctr"/>
          <a:lstStyle/>
          <a:p>
            <a:pPr indent="0" marL="0">
              <a:buNone/>
            </a:pPr>
            <a:r>
              <a:rPr lang="en-US" sz="1800" b="1" dirty="0">
                <a:solidFill>
                  <a:srgbClr val="CADCFC"/>
                </a:solidFill>
                <a:latin typeface="Georgia" pitchFamily="34" charset="0"/>
                <a:ea typeface="Georgia" pitchFamily="34" charset="-122"/>
                <a:cs typeface="Georgia" pitchFamily="34" charset="-120"/>
              </a:rPr>
              <a:t>Central Limit Theorem</a:t>
            </a:r>
            <a:endParaRPr lang="en-US" sz="1800" dirty="0"/>
          </a:p>
        </p:txBody>
      </p:sp>
      <p:sp>
        <p:nvSpPr>
          <p:cNvPr id="7" name="Text 5"/>
          <p:cNvSpPr/>
          <p:nvPr/>
        </p:nvSpPr>
        <p:spPr>
          <a:xfrm>
            <a:off x="777240" y="1645920"/>
            <a:ext cx="7589520" cy="6400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If random samples of size n are drawn from ANY population with mean μ and standard deviation σ, then as n increases, the distribution of sample means x̄ approaches a normal distribution with:</a:t>
            </a:r>
            <a:endParaRPr lang="en-US" sz="1400" dirty="0"/>
          </a:p>
        </p:txBody>
      </p:sp>
      <p:sp>
        <p:nvSpPr>
          <p:cNvPr id="8" name="Shape 6"/>
          <p:cNvSpPr/>
          <p:nvPr/>
        </p:nvSpPr>
        <p:spPr>
          <a:xfrm>
            <a:off x="1371600" y="2377440"/>
            <a:ext cx="2926080" cy="548640"/>
          </a:xfrm>
          <a:prstGeom prst="rect">
            <a:avLst/>
          </a:prstGeom>
          <a:solidFill>
            <a:srgbClr val="028090"/>
          </a:solidFill>
          <a:ln/>
        </p:spPr>
      </p:sp>
      <p:sp>
        <p:nvSpPr>
          <p:cNvPr id="9" name="Text 7"/>
          <p:cNvSpPr/>
          <p:nvPr/>
        </p:nvSpPr>
        <p:spPr>
          <a:xfrm>
            <a:off x="1371600" y="2377440"/>
            <a:ext cx="292608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μ_x̄  =  μ</a:t>
            </a:r>
            <a:endParaRPr lang="en-US" sz="2200" dirty="0"/>
          </a:p>
        </p:txBody>
      </p:sp>
      <p:sp>
        <p:nvSpPr>
          <p:cNvPr id="10" name="Shape 8"/>
          <p:cNvSpPr/>
          <p:nvPr/>
        </p:nvSpPr>
        <p:spPr>
          <a:xfrm>
            <a:off x="4846320" y="2377440"/>
            <a:ext cx="2926080" cy="548640"/>
          </a:xfrm>
          <a:prstGeom prst="rect">
            <a:avLst/>
          </a:prstGeom>
          <a:solidFill>
            <a:srgbClr val="028090"/>
          </a:solidFill>
          <a:ln/>
        </p:spPr>
      </p:sp>
      <p:sp>
        <p:nvSpPr>
          <p:cNvPr id="11" name="Text 9"/>
          <p:cNvSpPr/>
          <p:nvPr/>
        </p:nvSpPr>
        <p:spPr>
          <a:xfrm>
            <a:off x="4846320" y="2377440"/>
            <a:ext cx="2926080" cy="5486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σ_x̄  =  σ / √n</a:t>
            </a:r>
            <a:endParaRPr lang="en-US" sz="2200" dirty="0"/>
          </a:p>
        </p:txBody>
      </p:sp>
      <p:sp>
        <p:nvSpPr>
          <p:cNvPr id="12" name="Shape 10"/>
          <p:cNvSpPr/>
          <p:nvPr/>
        </p:nvSpPr>
        <p:spPr>
          <a:xfrm>
            <a:off x="548640" y="3474720"/>
            <a:ext cx="8046720" cy="13716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Text 11"/>
          <p:cNvSpPr/>
          <p:nvPr/>
        </p:nvSpPr>
        <p:spPr>
          <a:xfrm>
            <a:off x="777240" y="3566160"/>
            <a:ext cx="27432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In plain English:</a:t>
            </a:r>
            <a:endParaRPr lang="en-US" sz="1400" dirty="0"/>
          </a:p>
        </p:txBody>
      </p:sp>
      <p:sp>
        <p:nvSpPr>
          <p:cNvPr id="14" name="Text 12"/>
          <p:cNvSpPr/>
          <p:nvPr/>
        </p:nvSpPr>
        <p:spPr>
          <a:xfrm>
            <a:off x="777240" y="3840480"/>
            <a:ext cx="7589520" cy="9144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1.  The average of averages equals the population average (no bias)</a:t>
            </a:r>
            <a:endParaRPr lang="en-US" sz="1300" dirty="0"/>
          </a:p>
          <a:p>
            <a:pPr indent="0" marL="0">
              <a:buNone/>
            </a:pP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2.  Sample means are less spread out than individual values (by a factor of √n)</a:t>
            </a:r>
            <a:endParaRPr lang="en-US" sz="1300" dirty="0"/>
          </a:p>
          <a:p>
            <a:pPr indent="0" marL="0">
              <a:buNone/>
            </a:pP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3.  The shape is approximately normal — even if the original population is NOT normal</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Key Formulas: Standard Error</a:t>
            </a:r>
            <a:endParaRPr lang="en-US" sz="2600" dirty="0"/>
          </a:p>
        </p:txBody>
      </p:sp>
      <p:sp>
        <p:nvSpPr>
          <p:cNvPr id="5" name="Shape 3"/>
          <p:cNvSpPr/>
          <p:nvPr/>
        </p:nvSpPr>
        <p:spPr>
          <a:xfrm>
            <a:off x="1371600" y="1188720"/>
            <a:ext cx="6400800" cy="777240"/>
          </a:xfrm>
          <a:prstGeom prst="rect">
            <a:avLst/>
          </a:prstGeom>
          <a:solidFill>
            <a:srgbClr val="1E2761"/>
          </a:solidFill>
          <a:ln/>
          <a:effectLst>
            <a:outerShdw sx="100000" sy="100000" kx="0" ky="0" algn="bl" rotWithShape="0" blurRad="50800" dist="25400" dir="8100000">
              <a:srgbClr val="000000">
                <a:alpha val="12000"/>
              </a:srgbClr>
            </a:outerShdw>
          </a:effectLst>
        </p:spPr>
      </p:sp>
      <p:sp>
        <p:nvSpPr>
          <p:cNvPr id="6" name="Text 4"/>
          <p:cNvSpPr/>
          <p:nvPr/>
        </p:nvSpPr>
        <p:spPr>
          <a:xfrm>
            <a:off x="1371600" y="1188720"/>
            <a:ext cx="6400800" cy="777240"/>
          </a:xfrm>
          <a:prstGeom prst="rect">
            <a:avLst/>
          </a:prstGeom>
          <a:noFill/>
          <a:ln/>
        </p:spPr>
        <p:txBody>
          <a:bodyPr wrap="square" rtlCol="0" anchor="ctr"/>
          <a:lstStyle/>
          <a:p>
            <a:pPr algn="ctr" indent="0" marL="0">
              <a:buNone/>
            </a:pPr>
            <a:r>
              <a:rPr lang="en-US" sz="2200" b="1" dirty="0">
                <a:solidFill>
                  <a:srgbClr val="FFFFFF"/>
                </a:solidFill>
                <a:latin typeface="Georgia" pitchFamily="34" charset="0"/>
                <a:ea typeface="Georgia" pitchFamily="34" charset="-122"/>
                <a:cs typeface="Georgia" pitchFamily="34" charset="-120"/>
              </a:rPr>
              <a:t>σ_x̄  =  σ / √n</a:t>
            </a:r>
            <a:endParaRPr lang="en-US" sz="2200" dirty="0"/>
          </a:p>
        </p:txBody>
      </p:sp>
      <p:sp>
        <p:nvSpPr>
          <p:cNvPr id="7" name="Text 5"/>
          <p:cNvSpPr/>
          <p:nvPr/>
        </p:nvSpPr>
        <p:spPr>
          <a:xfrm>
            <a:off x="1371600" y="2011680"/>
            <a:ext cx="6400800" cy="274320"/>
          </a:xfrm>
          <a:prstGeom prst="rect">
            <a:avLst/>
          </a:prstGeom>
          <a:noFill/>
          <a:ln/>
        </p:spPr>
        <p:txBody>
          <a:bodyPr wrap="square" lIns="0" tIns="0" rIns="0" bIns="0" rtlCol="0" anchor="ctr"/>
          <a:lstStyle/>
          <a:p>
            <a:pPr algn="ctr" indent="0" marL="0">
              <a:buNone/>
            </a:pPr>
            <a:r>
              <a:rPr lang="en-US" sz="1300" i="1" dirty="0">
                <a:solidFill>
                  <a:srgbClr val="718096"/>
                </a:solidFill>
                <a:latin typeface="Calibri" pitchFamily="34" charset="0"/>
                <a:ea typeface="Calibri" pitchFamily="34" charset="-122"/>
                <a:cs typeface="Calibri" pitchFamily="34" charset="-120"/>
              </a:rPr>
              <a:t>This is called the Standard Error of the Mean</a:t>
            </a:r>
            <a:endParaRPr lang="en-US" sz="1300" dirty="0"/>
          </a:p>
        </p:txBody>
      </p:sp>
      <p:sp>
        <p:nvSpPr>
          <p:cNvPr id="8" name="Text 6"/>
          <p:cNvSpPr/>
          <p:nvPr/>
        </p:nvSpPr>
        <p:spPr>
          <a:xfrm>
            <a:off x="548640" y="2423160"/>
            <a:ext cx="4572000" cy="274320"/>
          </a:xfrm>
          <a:prstGeom prst="rect">
            <a:avLst/>
          </a:prstGeom>
          <a:noFill/>
          <a:ln/>
        </p:spPr>
        <p:txBody>
          <a:bodyPr wrap="square" lIns="0" tIns="0" rIns="0" bIns="0" rtlCol="0" anchor="ctr"/>
          <a:lstStyle/>
          <a:p>
            <a:pPr indent="0" marL="0">
              <a:buNone/>
            </a:pPr>
            <a:r>
              <a:rPr lang="en-US" sz="1400" b="1" dirty="0">
                <a:solidFill>
                  <a:srgbClr val="1E2761"/>
                </a:solidFill>
                <a:latin typeface="Georgia" pitchFamily="34" charset="0"/>
                <a:ea typeface="Georgia" pitchFamily="34" charset="-122"/>
                <a:cs typeface="Georgia" pitchFamily="34" charset="-120"/>
              </a:rPr>
              <a:t>How sample size affects the standard error:</a:t>
            </a:r>
            <a:endParaRPr lang="en-US" sz="1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2788920"/>
          <a:ext cx="8046720" cy="1828800"/>
        </p:xfrm>
        <a:graphic>
          <a:graphicData uri="http://schemas.openxmlformats.org/drawingml/2006/table">
            <a:tbl>
              <a:tblPr/>
              <a:tblGrid>
                <a:gridCol w="1828800"/>
                <a:gridCol w="2286000"/>
                <a:gridCol w="2103120"/>
                <a:gridCol w="1828800"/>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Sample Size</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Formula</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σ_x̄  (if σ = 29)</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Effect</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1E2761"/>
                    </a:solidFill>
                  </a:tcPr>
                </a:tc>
              </a:tr>
              <a:tr h="365760">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n = 1</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σ / √1 = σ</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29</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Same as individual</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n = 9</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σ / √9 = σ/3</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9.67</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1/3 the spread</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r>
              <a:tr h="365760">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n = 25</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σ / √25 = σ/5</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5.80</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1/5 the spread</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n = 100</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σ / √100 = σ/10</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c>
                  <a:txBody>
                    <a:bodyPr/>
                    <a:lstStyle/>
                    <a:p>
                      <a:pPr algn="ctr" indent="0" marL="0">
                        <a:buNone/>
                      </a:pPr>
                      <a:r>
                        <a:rPr lang="en-US" sz="1200" b="1" dirty="0">
                          <a:solidFill>
                            <a:srgbClr val="028090"/>
                          </a:solidFill>
                          <a:latin typeface="Calibri" pitchFamily="34" charset="0"/>
                          <a:ea typeface="Calibri" pitchFamily="34" charset="-122"/>
                          <a:cs typeface="Calibri" pitchFamily="34" charset="-120"/>
                        </a:rPr>
                        <a:t>2.90</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c>
                  <a:txBody>
                    <a:bodyPr/>
                    <a:lstStyle/>
                    <a:p>
                      <a:pPr algn="ctr" indent="0" marL="0">
                        <a:buNone/>
                      </a:pPr>
                      <a:r>
                        <a:rPr lang="en-US" sz="1200" dirty="0">
                          <a:solidFill>
                            <a:srgbClr val="2D3748"/>
                          </a:solidFill>
                          <a:latin typeface="Calibri" pitchFamily="34" charset="0"/>
                          <a:ea typeface="Calibri" pitchFamily="34" charset="-122"/>
                          <a:cs typeface="Calibri" pitchFamily="34" charset="-120"/>
                        </a:rPr>
                        <a:t>1/10 the spread</a:t>
                      </a:r>
                      <a:endParaRPr lang="en-US" sz="1200" dirty="0">
                        <a:latin typeface="Calibri" charset="0"/>
                        <a:ea typeface="Calibri" charset="0"/>
                        <a:cs typeface="Calibri" charset="0"/>
                      </a:endParaRPr>
                    </a:p>
                  </a:txBody>
                  <a:tcPr marL="91440" marR="91440" marT="45720" marB="45720" anchor="ctr">
                    <a:lnL w="6350" cap="flat" cmpd="sng" algn="ctr">
                      <a:solidFill>
                        <a:srgbClr val="CADCFC"/>
                      </a:solidFill>
                      <a:prstDash val="solid"/>
                      <a:round/>
                      <a:headEnd type="none" w="med" len="med"/>
                      <a:tailEnd type="none" w="med" len="med"/>
                    </a:lnL>
                    <a:lnR w="6350" cap="flat" cmpd="sng" algn="ctr">
                      <a:solidFill>
                        <a:srgbClr val="CADCFC"/>
                      </a:solidFill>
                      <a:prstDash val="solid"/>
                      <a:round/>
                      <a:headEnd type="none" w="med" len="med"/>
                      <a:tailEnd type="none" w="med" len="med"/>
                    </a:lnR>
                    <a:lnT w="6350" cap="flat" cmpd="sng" algn="ctr">
                      <a:solidFill>
                        <a:srgbClr val="CADCFC"/>
                      </a:solidFill>
                      <a:prstDash val="solid"/>
                      <a:round/>
                      <a:headEnd type="none" w="med" len="med"/>
                      <a:tailEnd type="none" w="med" len="med"/>
                    </a:lnT>
                    <a:lnB w="6350" cap="flat" cmpd="sng" algn="ctr">
                      <a:solidFill>
                        <a:srgbClr val="CADCFC"/>
                      </a:solidFill>
                      <a:prstDash val="solid"/>
                      <a:round/>
                      <a:headEnd type="none" w="med" len="med"/>
                      <a:tailEnd type="none" w="med" len="med"/>
                    </a:lnB>
                    <a:solidFill>
                      <a:srgbClr val="EFF4F9"/>
                    </a:solidFill>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The CLT in Action</a:t>
            </a:r>
            <a:endParaRPr lang="en-US" sz="2600" dirty="0"/>
          </a:p>
        </p:txBody>
      </p:sp>
      <p:pic>
        <p:nvPicPr>
          <p:cNvPr id="5" name="Image 0" descr="preencoded.png">    </p:cNvPr>
          <p:cNvPicPr>
            <a:picLocks noChangeAspect="1"/>
          </p:cNvPicPr>
          <p:nvPr/>
        </p:nvPicPr>
        <p:blipFill>
          <a:blip r:embed="rId1"/>
          <a:stretch>
            <a:fillRect/>
          </a:stretch>
        </p:blipFill>
        <p:spPr>
          <a:xfrm>
            <a:off x="457200" y="1051560"/>
            <a:ext cx="8229600" cy="2926080"/>
          </a:xfrm>
          <a:prstGeom prst="rect">
            <a:avLst/>
          </a:prstGeom>
        </p:spPr>
      </p:pic>
      <p:sp>
        <p:nvSpPr>
          <p:cNvPr id="6" name="Shape 3"/>
          <p:cNvSpPr/>
          <p:nvPr/>
        </p:nvSpPr>
        <p:spPr>
          <a:xfrm>
            <a:off x="548640" y="4114800"/>
            <a:ext cx="8046720" cy="77724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7" name="Image 1" descr="preencoded.png">    </p:cNvPr>
          <p:cNvPicPr>
            <a:picLocks noChangeAspect="1"/>
          </p:cNvPicPr>
          <p:nvPr/>
        </p:nvPicPr>
        <p:blipFill>
          <a:blip r:embed="rId2"/>
          <a:stretch>
            <a:fillRect/>
          </a:stretch>
        </p:blipFill>
        <p:spPr>
          <a:xfrm>
            <a:off x="731520" y="4206240"/>
            <a:ext cx="274320" cy="274320"/>
          </a:xfrm>
          <a:prstGeom prst="rect">
            <a:avLst/>
          </a:prstGeom>
        </p:spPr>
      </p:pic>
      <p:sp>
        <p:nvSpPr>
          <p:cNvPr id="8" name="Text 4"/>
          <p:cNvSpPr/>
          <p:nvPr/>
        </p:nvSpPr>
        <p:spPr>
          <a:xfrm>
            <a:off x="1188720" y="4160520"/>
            <a:ext cx="7223760" cy="6400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As n increases, the distribution of x̄ gets taller and narrower — sample means cluster more tightly around μ.</a:t>
            </a:r>
            <a:endParaRPr lang="en-US" sz="1300" dirty="0"/>
          </a:p>
          <a:p>
            <a:pPr indent="0" marL="0">
              <a:buNone/>
            </a:pPr>
            <a:r>
              <a:rPr lang="en-US" sz="1300" b="1" dirty="0">
                <a:solidFill>
                  <a:srgbClr val="028090"/>
                </a:solidFill>
                <a:latin typeface="Calibri" pitchFamily="34" charset="0"/>
                <a:ea typeface="Calibri" pitchFamily="34" charset="-122"/>
                <a:cs typeface="Calibri" pitchFamily="34" charset="-120"/>
              </a:rPr>
              <a:t>This is why larger samples give more precise estimates.</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When Does the CLT Apply?</a:t>
            </a:r>
            <a:endParaRPr lang="en-US" sz="2600" dirty="0"/>
          </a:p>
        </p:txBody>
      </p:sp>
      <p:sp>
        <p:nvSpPr>
          <p:cNvPr id="5" name="Shape 3"/>
          <p:cNvSpPr/>
          <p:nvPr/>
        </p:nvSpPr>
        <p:spPr>
          <a:xfrm>
            <a:off x="548640" y="1097280"/>
            <a:ext cx="384048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3840480" cy="457200"/>
          </a:xfrm>
          <a:prstGeom prst="rect">
            <a:avLst/>
          </a:prstGeom>
          <a:solidFill>
            <a:srgbClr val="028090"/>
          </a:solidFill>
          <a:ln/>
        </p:spPr>
      </p:sp>
      <p:sp>
        <p:nvSpPr>
          <p:cNvPr id="7" name="Text 5"/>
          <p:cNvSpPr/>
          <p:nvPr/>
        </p:nvSpPr>
        <p:spPr>
          <a:xfrm>
            <a:off x="685800" y="1143000"/>
            <a:ext cx="356616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Rule 1:  n &gt; 30</a:t>
            </a:r>
            <a:endParaRPr lang="en-US" sz="1600" dirty="0"/>
          </a:p>
        </p:txBody>
      </p:sp>
      <p:sp>
        <p:nvSpPr>
          <p:cNvPr id="8" name="Text 6"/>
          <p:cNvSpPr/>
          <p:nvPr/>
        </p:nvSpPr>
        <p:spPr>
          <a:xfrm>
            <a:off x="731520" y="1691640"/>
            <a:ext cx="3474720" cy="9144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If the sample size is greater than 30, the sampling distribution of x̄ is approximately normal — regardless of the shape of the original population.</a:t>
            </a:r>
            <a:endParaRPr lang="en-US" sz="1300" dirty="0"/>
          </a:p>
        </p:txBody>
      </p:sp>
      <p:sp>
        <p:nvSpPr>
          <p:cNvPr id="9" name="Text 7"/>
          <p:cNvSpPr/>
          <p:nvPr/>
        </p:nvSpPr>
        <p:spPr>
          <a:xfrm>
            <a:off x="731520" y="2697480"/>
            <a:ext cx="3474720" cy="365760"/>
          </a:xfrm>
          <a:prstGeom prst="rect">
            <a:avLst/>
          </a:prstGeom>
          <a:noFill/>
          <a:ln/>
        </p:spPr>
        <p:txBody>
          <a:bodyPr wrap="square" lIns="0" tIns="0" rIns="0" bIns="0" rtlCol="0" anchor="ctr"/>
          <a:lstStyle/>
          <a:p>
            <a:pPr indent="0" marL="0">
              <a:buNone/>
            </a:pPr>
            <a:r>
              <a:rPr lang="en-US" sz="1200" i="1" dirty="0">
                <a:solidFill>
                  <a:srgbClr val="028090"/>
                </a:solidFill>
                <a:latin typeface="Calibri" pitchFamily="34" charset="0"/>
                <a:ea typeface="Calibri" pitchFamily="34" charset="-122"/>
                <a:cs typeface="Calibri" pitchFamily="34" charset="-120"/>
              </a:rPr>
              <a:t>Works for skewed, uniform, bimodal — any shape!</a:t>
            </a:r>
            <a:endParaRPr lang="en-US" sz="1200" dirty="0"/>
          </a:p>
        </p:txBody>
      </p:sp>
      <p:sp>
        <p:nvSpPr>
          <p:cNvPr id="10" name="Shape 8"/>
          <p:cNvSpPr/>
          <p:nvPr/>
        </p:nvSpPr>
        <p:spPr>
          <a:xfrm>
            <a:off x="4754880" y="1097280"/>
            <a:ext cx="3931920" cy="22860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4754880" y="1097280"/>
            <a:ext cx="3931920" cy="457200"/>
          </a:xfrm>
          <a:prstGeom prst="rect">
            <a:avLst/>
          </a:prstGeom>
          <a:solidFill>
            <a:srgbClr val="065A82"/>
          </a:solidFill>
          <a:ln/>
        </p:spPr>
      </p:sp>
      <p:sp>
        <p:nvSpPr>
          <p:cNvPr id="12" name="Text 10"/>
          <p:cNvSpPr/>
          <p:nvPr/>
        </p:nvSpPr>
        <p:spPr>
          <a:xfrm>
            <a:off x="4892040" y="1143000"/>
            <a:ext cx="3657600" cy="365760"/>
          </a:xfrm>
          <a:prstGeom prst="rect">
            <a:avLst/>
          </a:prstGeom>
          <a:noFill/>
          <a:ln/>
        </p:spPr>
        <p:txBody>
          <a:bodyPr wrap="square" lIns="0" tIns="0" rIns="0" bIns="0" rtlCol="0" anchor="ctr"/>
          <a:lstStyle/>
          <a:p>
            <a:pPr indent="0" marL="0">
              <a:buNone/>
            </a:pPr>
            <a:r>
              <a:rPr lang="en-US" sz="1600" b="1" dirty="0">
                <a:solidFill>
                  <a:srgbClr val="FFFFFF"/>
                </a:solidFill>
                <a:latin typeface="Georgia" pitchFamily="34" charset="0"/>
                <a:ea typeface="Georgia" pitchFamily="34" charset="-122"/>
                <a:cs typeface="Georgia" pitchFamily="34" charset="-120"/>
              </a:rPr>
              <a:t>Rule 2:  Any n</a:t>
            </a:r>
            <a:endParaRPr lang="en-US" sz="1600" dirty="0"/>
          </a:p>
        </p:txBody>
      </p:sp>
      <p:sp>
        <p:nvSpPr>
          <p:cNvPr id="13" name="Text 11"/>
          <p:cNvSpPr/>
          <p:nvPr/>
        </p:nvSpPr>
        <p:spPr>
          <a:xfrm>
            <a:off x="4937760" y="1691640"/>
            <a:ext cx="3566160" cy="9144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If the original population is already normally distributed, then the sampling distribution of x̄ is normal for ANY sample size n — even n = 2.</a:t>
            </a:r>
            <a:endParaRPr lang="en-US" sz="1300" dirty="0"/>
          </a:p>
        </p:txBody>
      </p:sp>
      <p:sp>
        <p:nvSpPr>
          <p:cNvPr id="14" name="Text 12"/>
          <p:cNvSpPr/>
          <p:nvPr/>
        </p:nvSpPr>
        <p:spPr>
          <a:xfrm>
            <a:off x="4937760" y="2697480"/>
            <a:ext cx="3566160" cy="365760"/>
          </a:xfrm>
          <a:prstGeom prst="rect">
            <a:avLst/>
          </a:prstGeom>
          <a:noFill/>
          <a:ln/>
        </p:spPr>
        <p:txBody>
          <a:bodyPr wrap="square" lIns="0" tIns="0" rIns="0" bIns="0" rtlCol="0" anchor="ctr"/>
          <a:lstStyle/>
          <a:p>
            <a:pPr indent="0" marL="0">
              <a:buNone/>
            </a:pPr>
            <a:r>
              <a:rPr lang="en-US" sz="1200" i="1" dirty="0">
                <a:solidFill>
                  <a:srgbClr val="065A82"/>
                </a:solidFill>
                <a:latin typeface="Calibri" pitchFamily="34" charset="0"/>
                <a:ea typeface="Calibri" pitchFamily="34" charset="-122"/>
                <a:cs typeface="Calibri" pitchFamily="34" charset="-120"/>
              </a:rPr>
              <a:t>Normal population → normal x̄ always</a:t>
            </a:r>
            <a:endParaRPr lang="en-US" sz="1200" dirty="0"/>
          </a:p>
        </p:txBody>
      </p:sp>
      <p:sp>
        <p:nvSpPr>
          <p:cNvPr id="15" name="Shape 13"/>
          <p:cNvSpPr/>
          <p:nvPr/>
        </p:nvSpPr>
        <p:spPr>
          <a:xfrm>
            <a:off x="548640" y="3657600"/>
            <a:ext cx="8046720" cy="118872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16" name="Text 14"/>
          <p:cNvSpPr/>
          <p:nvPr/>
        </p:nvSpPr>
        <p:spPr>
          <a:xfrm>
            <a:off x="777240" y="3749040"/>
            <a:ext cx="2743200" cy="274320"/>
          </a:xfrm>
          <a:prstGeom prst="rect">
            <a:avLst/>
          </a:prstGeom>
          <a:noFill/>
          <a:ln/>
        </p:spPr>
        <p:txBody>
          <a:bodyPr wrap="square" lIns="0" tIns="0" rIns="0" bIns="0" rtlCol="0" anchor="ctr"/>
          <a:lstStyle/>
          <a:p>
            <a:pPr indent="0" marL="0">
              <a:buNone/>
            </a:pPr>
            <a:r>
              <a:rPr lang="en-US" sz="1300" b="1" dirty="0">
                <a:solidFill>
                  <a:srgbClr val="028090"/>
                </a:solidFill>
                <a:latin typeface="Georgia" pitchFamily="34" charset="0"/>
                <a:ea typeface="Georgia" pitchFamily="34" charset="-122"/>
                <a:cs typeface="Georgia" pitchFamily="34" charset="-120"/>
              </a:rPr>
              <a:t>Quick Decision Guide:</a:t>
            </a:r>
            <a:endParaRPr lang="en-US" sz="1300" dirty="0"/>
          </a:p>
        </p:txBody>
      </p:sp>
      <p:sp>
        <p:nvSpPr>
          <p:cNvPr id="17" name="Text 15"/>
          <p:cNvSpPr/>
          <p:nvPr/>
        </p:nvSpPr>
        <p:spPr>
          <a:xfrm>
            <a:off x="777240" y="4069080"/>
            <a:ext cx="7589520" cy="68580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Is the population normal?  →  Yes: Use CLT with any n</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Is the population NOT normal (or unknown)?  →  Is n &gt; 30? Yes: Use CLT</a:t>
            </a:r>
            <a:endParaRPr lang="en-US" sz="1200" dirty="0"/>
          </a:p>
          <a:p>
            <a:pPr indent="0" marL="0">
              <a:buNone/>
            </a:pPr>
            <a:r>
              <a:rPr lang="en-US" sz="1200" dirty="0">
                <a:solidFill>
                  <a:srgbClr val="E53E3E"/>
                </a:solidFill>
                <a:latin typeface="Calibri" pitchFamily="34" charset="0"/>
                <a:ea typeface="Calibri" pitchFamily="34" charset="-122"/>
                <a:cs typeface="Calibri" pitchFamily="34" charset="-120"/>
              </a:rPr>
              <a:t>Population not normal AND n ≤ 30?  →  Cannot use CLT (need other methods)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Individual vs. Sample Mean: Key Difference</a:t>
            </a:r>
            <a:endParaRPr lang="en-US" sz="2600" dirty="0"/>
          </a:p>
        </p:txBody>
      </p:sp>
      <p:sp>
        <p:nvSpPr>
          <p:cNvPr id="5" name="Shape 3"/>
          <p:cNvSpPr/>
          <p:nvPr/>
        </p:nvSpPr>
        <p:spPr>
          <a:xfrm>
            <a:off x="548640" y="1097280"/>
            <a:ext cx="3840480" cy="2834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3840480" cy="411480"/>
          </a:xfrm>
          <a:prstGeom prst="rect">
            <a:avLst/>
          </a:prstGeom>
          <a:solidFill>
            <a:srgbClr val="E53E3E"/>
          </a:solidFill>
          <a:ln/>
        </p:spPr>
      </p:sp>
      <p:sp>
        <p:nvSpPr>
          <p:cNvPr id="7" name="Text 5"/>
          <p:cNvSpPr/>
          <p:nvPr/>
        </p:nvSpPr>
        <p:spPr>
          <a:xfrm>
            <a:off x="685800" y="1133856"/>
            <a:ext cx="3566160" cy="329184"/>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One Individual (x)</a:t>
            </a:r>
            <a:endParaRPr lang="en-US" sz="1500" dirty="0"/>
          </a:p>
        </p:txBody>
      </p:sp>
      <p:sp>
        <p:nvSpPr>
          <p:cNvPr id="8" name="Text 6"/>
          <p:cNvSpPr/>
          <p:nvPr/>
        </p:nvSpPr>
        <p:spPr>
          <a:xfrm>
            <a:off x="777240" y="1600200"/>
            <a:ext cx="3383280" cy="21031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"If one man is randomly selected..."</a:t>
            </a:r>
            <a:endParaRPr lang="en-US" sz="1200" dirty="0"/>
          </a:p>
          <a:p>
            <a:pPr indent="0" marL="0">
              <a:buNone/>
            </a:pPr>
            <a:endParaRPr lang="en-US" sz="1200" dirty="0"/>
          </a:p>
          <a:p>
            <a:pPr indent="0" marL="0">
              <a:buNone/>
            </a:pPr>
            <a:r>
              <a:rPr lang="en-US" sz="1600" b="1" dirty="0">
                <a:solidFill>
                  <a:srgbClr val="1E2761"/>
                </a:solidFill>
                <a:latin typeface="Georgia" pitchFamily="34" charset="0"/>
                <a:ea typeface="Georgia" pitchFamily="34" charset="-122"/>
                <a:cs typeface="Georgia" pitchFamily="34" charset="-120"/>
              </a:rPr>
              <a:t>z  =  (x − μ) / σ</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Use the full standard deviation σ</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Wider spread → higher probability of</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extreme values</a:t>
            </a:r>
            <a:endParaRPr lang="en-US" sz="1200" dirty="0"/>
          </a:p>
        </p:txBody>
      </p:sp>
      <p:sp>
        <p:nvSpPr>
          <p:cNvPr id="9" name="Shape 7"/>
          <p:cNvSpPr/>
          <p:nvPr/>
        </p:nvSpPr>
        <p:spPr>
          <a:xfrm>
            <a:off x="4754880" y="1097280"/>
            <a:ext cx="3931920" cy="28346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0" name="Shape 8"/>
          <p:cNvSpPr/>
          <p:nvPr/>
        </p:nvSpPr>
        <p:spPr>
          <a:xfrm>
            <a:off x="4754880" y="1097280"/>
            <a:ext cx="3931920" cy="411480"/>
          </a:xfrm>
          <a:prstGeom prst="rect">
            <a:avLst/>
          </a:prstGeom>
          <a:solidFill>
            <a:srgbClr val="028090"/>
          </a:solidFill>
          <a:ln/>
        </p:spPr>
      </p:sp>
      <p:sp>
        <p:nvSpPr>
          <p:cNvPr id="11" name="Text 9"/>
          <p:cNvSpPr/>
          <p:nvPr/>
        </p:nvSpPr>
        <p:spPr>
          <a:xfrm>
            <a:off x="4892040" y="1133856"/>
            <a:ext cx="3657600" cy="329184"/>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Sample Mean (x̄)</a:t>
            </a:r>
            <a:endParaRPr lang="en-US" sz="1500" dirty="0"/>
          </a:p>
        </p:txBody>
      </p:sp>
      <p:sp>
        <p:nvSpPr>
          <p:cNvPr id="12" name="Text 10"/>
          <p:cNvSpPr/>
          <p:nvPr/>
        </p:nvSpPr>
        <p:spPr>
          <a:xfrm>
            <a:off x="4983480" y="1600200"/>
            <a:ext cx="3474720" cy="2103120"/>
          </a:xfrm>
          <a:prstGeom prst="rect">
            <a:avLst/>
          </a:prstGeom>
          <a:noFill/>
          <a:ln/>
        </p:spPr>
        <p:txBody>
          <a:bodyPr wrap="square" lIns="0" tIns="0" rIns="0" bIns="0" rtlCol="0" anchor="ctr"/>
          <a:lstStyle/>
          <a:p>
            <a:pPr indent="0" marL="0">
              <a:buNone/>
            </a:pPr>
            <a:r>
              <a:rPr lang="en-US" sz="1200" i="1" dirty="0">
                <a:solidFill>
                  <a:srgbClr val="718096"/>
                </a:solidFill>
                <a:latin typeface="Calibri" pitchFamily="34" charset="0"/>
                <a:ea typeface="Calibri" pitchFamily="34" charset="-122"/>
                <a:cs typeface="Calibri" pitchFamily="34" charset="-120"/>
              </a:rPr>
              <a:t>"If 20 men are randomly selected..."</a:t>
            </a:r>
            <a:endParaRPr lang="en-US" sz="1200" dirty="0"/>
          </a:p>
          <a:p>
            <a:pPr indent="0" marL="0">
              <a:buNone/>
            </a:pPr>
            <a:endParaRPr lang="en-US" sz="1200" dirty="0"/>
          </a:p>
          <a:p>
            <a:pPr indent="0" marL="0">
              <a:buNone/>
            </a:pPr>
            <a:r>
              <a:rPr lang="en-US" sz="1600" b="1" dirty="0">
                <a:solidFill>
                  <a:srgbClr val="1E2761"/>
                </a:solidFill>
                <a:latin typeface="Georgia" pitchFamily="34" charset="0"/>
                <a:ea typeface="Georgia" pitchFamily="34" charset="-122"/>
                <a:cs typeface="Georgia" pitchFamily="34" charset="-120"/>
              </a:rPr>
              <a:t>z  =  (x̄ − μ) / (σ/√n)</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Use the standard error σ/√n</a:t>
            </a:r>
            <a:endParaRPr lang="en-US" sz="1200" dirty="0"/>
          </a:p>
          <a:p>
            <a:pPr indent="0" marL="0">
              <a:buNone/>
            </a:pP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Narrower spread → extreme averages</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are rare</a:t>
            </a:r>
            <a:endParaRPr lang="en-US" sz="1200" dirty="0"/>
          </a:p>
        </p:txBody>
      </p:sp>
      <p:sp>
        <p:nvSpPr>
          <p:cNvPr id="13" name="Shape 11"/>
          <p:cNvSpPr/>
          <p:nvPr/>
        </p:nvSpPr>
        <p:spPr>
          <a:xfrm>
            <a:off x="548640" y="4160520"/>
            <a:ext cx="8046720" cy="685800"/>
          </a:xfrm>
          <a:prstGeom prst="rect">
            <a:avLst/>
          </a:prstGeom>
          <a:solidFill>
            <a:srgbClr val="E6FFFA"/>
          </a:solidFill>
          <a:ln/>
          <a:effectLst>
            <a:outerShdw sx="100000" sy="100000" kx="0" ky="0" algn="bl" rotWithShape="0" blurRad="76200" dist="25400" dir="8100000">
              <a:srgbClr val="000000">
                <a:alpha val="15000"/>
              </a:srgbClr>
            </a:outerShdw>
          </a:effectLst>
        </p:spPr>
      </p:sp>
      <p:pic>
        <p:nvPicPr>
          <p:cNvPr id="14" name="Image 0" descr="preencoded.png">    </p:cNvPr>
          <p:cNvPicPr>
            <a:picLocks noChangeAspect="1"/>
          </p:cNvPicPr>
          <p:nvPr/>
        </p:nvPicPr>
        <p:blipFill>
          <a:blip r:embed="rId1"/>
          <a:stretch>
            <a:fillRect/>
          </a:stretch>
        </p:blipFill>
        <p:spPr>
          <a:xfrm>
            <a:off x="731520" y="4251960"/>
            <a:ext cx="274320" cy="274320"/>
          </a:xfrm>
          <a:prstGeom prst="rect">
            <a:avLst/>
          </a:prstGeom>
        </p:spPr>
      </p:pic>
      <p:sp>
        <p:nvSpPr>
          <p:cNvPr id="15" name="Text 12"/>
          <p:cNvSpPr/>
          <p:nvPr/>
        </p:nvSpPr>
        <p:spPr>
          <a:xfrm>
            <a:off x="1188720" y="4206240"/>
            <a:ext cx="7223760" cy="5486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The ONLY difference is the denominator: σ for individuals, σ/√n for sample means. On exams, read carefully: is the question about ONE value or an AVERAGE of n values?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CLT Example: One Individual</a:t>
            </a:r>
            <a:endParaRPr lang="en-US" sz="2600" dirty="0"/>
          </a:p>
        </p:txBody>
      </p:sp>
      <p:sp>
        <p:nvSpPr>
          <p:cNvPr id="5" name="Shape 3"/>
          <p:cNvSpPr/>
          <p:nvPr/>
        </p:nvSpPr>
        <p:spPr>
          <a:xfrm>
            <a:off x="548640" y="1051560"/>
            <a:ext cx="8046720" cy="59436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45720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Men's weights: μ = 172 lb, σ = 29 lb (normally distributed). If one man is randomly selected, find P(x &gt; 175).</a:t>
            </a:r>
            <a:endParaRPr lang="en-US" sz="1300" dirty="0"/>
          </a:p>
        </p:txBody>
      </p:sp>
      <p:pic>
        <p:nvPicPr>
          <p:cNvPr id="7" name="Image 0" descr="preencoded.png">    </p:cNvPr>
          <p:cNvPicPr>
            <a:picLocks noChangeAspect="1"/>
          </p:cNvPicPr>
          <p:nvPr/>
        </p:nvPicPr>
        <p:blipFill>
          <a:blip r:embed="rId1"/>
          <a:stretch>
            <a:fillRect/>
          </a:stretch>
        </p:blipFill>
        <p:spPr>
          <a:xfrm>
            <a:off x="5029200" y="1737360"/>
            <a:ext cx="3657600" cy="1828800"/>
          </a:xfrm>
          <a:prstGeom prst="rect">
            <a:avLst/>
          </a:prstGeom>
        </p:spPr>
      </p:pic>
      <p:sp>
        <p:nvSpPr>
          <p:cNvPr id="8" name="Shape 5"/>
          <p:cNvSpPr/>
          <p:nvPr/>
        </p:nvSpPr>
        <p:spPr>
          <a:xfrm>
            <a:off x="548640" y="1828800"/>
            <a:ext cx="429768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6"/>
          <p:cNvSpPr/>
          <p:nvPr/>
        </p:nvSpPr>
        <p:spPr>
          <a:xfrm>
            <a:off x="685800" y="1965960"/>
            <a:ext cx="320040" cy="320040"/>
          </a:xfrm>
          <a:prstGeom prst="ellipse">
            <a:avLst/>
          </a:prstGeom>
          <a:solidFill>
            <a:srgbClr val="028090"/>
          </a:solidFill>
          <a:ln/>
        </p:spPr>
      </p:sp>
      <p:sp>
        <p:nvSpPr>
          <p:cNvPr id="10" name="Text 7"/>
          <p:cNvSpPr/>
          <p:nvPr/>
        </p:nvSpPr>
        <p:spPr>
          <a:xfrm>
            <a:off x="685800" y="19659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143000" y="1920240"/>
            <a:ext cx="356616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This is about ONE individual → use σ (not σ/√n)</a:t>
            </a:r>
            <a:endParaRPr lang="en-US" sz="1300" dirty="0"/>
          </a:p>
        </p:txBody>
      </p:sp>
      <p:sp>
        <p:nvSpPr>
          <p:cNvPr id="12" name="Shape 9"/>
          <p:cNvSpPr/>
          <p:nvPr/>
        </p:nvSpPr>
        <p:spPr>
          <a:xfrm>
            <a:off x="548640" y="2423160"/>
            <a:ext cx="429768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0"/>
          <p:cNvSpPr/>
          <p:nvPr/>
        </p:nvSpPr>
        <p:spPr>
          <a:xfrm>
            <a:off x="685800" y="2560320"/>
            <a:ext cx="320040" cy="320040"/>
          </a:xfrm>
          <a:prstGeom prst="ellipse">
            <a:avLst/>
          </a:prstGeom>
          <a:solidFill>
            <a:srgbClr val="028090"/>
          </a:solidFill>
          <a:ln/>
        </p:spPr>
      </p:sp>
      <p:sp>
        <p:nvSpPr>
          <p:cNvPr id="14" name="Text 11"/>
          <p:cNvSpPr/>
          <p:nvPr/>
        </p:nvSpPr>
        <p:spPr>
          <a:xfrm>
            <a:off x="685800" y="256032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143000" y="2514600"/>
            <a:ext cx="356616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z = (175 − 172) / 29 = 3/29 = 0.10</a:t>
            </a:r>
            <a:endParaRPr lang="en-US" sz="1300" dirty="0"/>
          </a:p>
        </p:txBody>
      </p:sp>
      <p:sp>
        <p:nvSpPr>
          <p:cNvPr id="16" name="Shape 13"/>
          <p:cNvSpPr/>
          <p:nvPr/>
        </p:nvSpPr>
        <p:spPr>
          <a:xfrm>
            <a:off x="548640" y="3017520"/>
            <a:ext cx="429768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4"/>
          <p:cNvSpPr/>
          <p:nvPr/>
        </p:nvSpPr>
        <p:spPr>
          <a:xfrm>
            <a:off x="685800" y="3154680"/>
            <a:ext cx="320040" cy="320040"/>
          </a:xfrm>
          <a:prstGeom prst="ellipse">
            <a:avLst/>
          </a:prstGeom>
          <a:solidFill>
            <a:srgbClr val="028090"/>
          </a:solidFill>
          <a:ln/>
        </p:spPr>
      </p:sp>
      <p:sp>
        <p:nvSpPr>
          <p:cNvPr id="18" name="Text 15"/>
          <p:cNvSpPr/>
          <p:nvPr/>
        </p:nvSpPr>
        <p:spPr>
          <a:xfrm>
            <a:off x="685800" y="31546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143000" y="3108960"/>
            <a:ext cx="356616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P(z &gt; 0.10) = 1 − P(z &lt; 0.10) = 1 − 0.5398 = 0.4602</a:t>
            </a:r>
            <a:endParaRPr lang="en-US" sz="1300" dirty="0"/>
          </a:p>
        </p:txBody>
      </p:sp>
      <p:sp>
        <p:nvSpPr>
          <p:cNvPr id="20" name="Shape 17"/>
          <p:cNvSpPr/>
          <p:nvPr/>
        </p:nvSpPr>
        <p:spPr>
          <a:xfrm>
            <a:off x="548640" y="3749040"/>
            <a:ext cx="8046720" cy="68580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1" name="Text 18"/>
          <p:cNvSpPr/>
          <p:nvPr/>
        </p:nvSpPr>
        <p:spPr>
          <a:xfrm>
            <a:off x="777240" y="3794760"/>
            <a:ext cx="3657600" cy="2743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P(x &gt; 175) = 0.4602</a:t>
            </a:r>
            <a:endParaRPr lang="en-US" sz="1500" dirty="0"/>
          </a:p>
        </p:txBody>
      </p:sp>
      <p:sp>
        <p:nvSpPr>
          <p:cNvPr id="22" name="Text 19"/>
          <p:cNvSpPr/>
          <p:nvPr/>
        </p:nvSpPr>
        <p:spPr>
          <a:xfrm>
            <a:off x="777240" y="4087368"/>
            <a:ext cx="7589520" cy="27432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About 46% of individual men weigh more than 175 lb. This is close to 50% because 175 is barely above the mean.</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CLT Example: Sample of 20</a:t>
            </a:r>
            <a:endParaRPr lang="en-US" sz="2600" dirty="0"/>
          </a:p>
        </p:txBody>
      </p:sp>
      <p:sp>
        <p:nvSpPr>
          <p:cNvPr id="5" name="Shape 3"/>
          <p:cNvSpPr/>
          <p:nvPr/>
        </p:nvSpPr>
        <p:spPr>
          <a:xfrm>
            <a:off x="548640" y="1051560"/>
            <a:ext cx="8046720" cy="59436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45720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Same population: μ = 172, σ = 29. Now 20 men are selected. Find P(x̄ &gt; 175).</a:t>
            </a:r>
            <a:endParaRPr lang="en-US" sz="1300" dirty="0"/>
          </a:p>
        </p:txBody>
      </p:sp>
      <p:pic>
        <p:nvPicPr>
          <p:cNvPr id="7" name="Image 0" descr="preencoded.png">    </p:cNvPr>
          <p:cNvPicPr>
            <a:picLocks noChangeAspect="1"/>
          </p:cNvPicPr>
          <p:nvPr/>
        </p:nvPicPr>
        <p:blipFill>
          <a:blip r:embed="rId1"/>
          <a:stretch>
            <a:fillRect/>
          </a:stretch>
        </p:blipFill>
        <p:spPr>
          <a:xfrm>
            <a:off x="5029200" y="1737360"/>
            <a:ext cx="3657600" cy="1828800"/>
          </a:xfrm>
          <a:prstGeom prst="rect">
            <a:avLst/>
          </a:prstGeom>
        </p:spPr>
      </p:pic>
      <p:sp>
        <p:nvSpPr>
          <p:cNvPr id="8" name="Shape 5"/>
          <p:cNvSpPr/>
          <p:nvPr/>
        </p:nvSpPr>
        <p:spPr>
          <a:xfrm>
            <a:off x="548640" y="1828800"/>
            <a:ext cx="429768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9" name="Shape 6"/>
          <p:cNvSpPr/>
          <p:nvPr/>
        </p:nvSpPr>
        <p:spPr>
          <a:xfrm>
            <a:off x="685800" y="1965960"/>
            <a:ext cx="320040" cy="320040"/>
          </a:xfrm>
          <a:prstGeom prst="ellipse">
            <a:avLst/>
          </a:prstGeom>
          <a:solidFill>
            <a:srgbClr val="028090"/>
          </a:solidFill>
          <a:ln/>
        </p:spPr>
      </p:sp>
      <p:sp>
        <p:nvSpPr>
          <p:cNvPr id="10" name="Text 7"/>
          <p:cNvSpPr/>
          <p:nvPr/>
        </p:nvSpPr>
        <p:spPr>
          <a:xfrm>
            <a:off x="685800" y="19659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8"/>
          <p:cNvSpPr/>
          <p:nvPr/>
        </p:nvSpPr>
        <p:spPr>
          <a:xfrm>
            <a:off x="1143000" y="1920240"/>
            <a:ext cx="356616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This is about a SAMPLE MEAN → use σ/√n</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σ_x̄ = 29/√20 = 29/4.47 = 6.49</a:t>
            </a:r>
            <a:endParaRPr lang="en-US" sz="1300" dirty="0"/>
          </a:p>
        </p:txBody>
      </p:sp>
      <p:sp>
        <p:nvSpPr>
          <p:cNvPr id="12" name="Shape 9"/>
          <p:cNvSpPr/>
          <p:nvPr/>
        </p:nvSpPr>
        <p:spPr>
          <a:xfrm>
            <a:off x="548640" y="2560320"/>
            <a:ext cx="429768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3" name="Shape 10"/>
          <p:cNvSpPr/>
          <p:nvPr/>
        </p:nvSpPr>
        <p:spPr>
          <a:xfrm>
            <a:off x="685800" y="2697480"/>
            <a:ext cx="320040" cy="320040"/>
          </a:xfrm>
          <a:prstGeom prst="ellipse">
            <a:avLst/>
          </a:prstGeom>
          <a:solidFill>
            <a:srgbClr val="028090"/>
          </a:solidFill>
          <a:ln/>
        </p:spPr>
      </p:sp>
      <p:sp>
        <p:nvSpPr>
          <p:cNvPr id="14" name="Text 11"/>
          <p:cNvSpPr/>
          <p:nvPr/>
        </p:nvSpPr>
        <p:spPr>
          <a:xfrm>
            <a:off x="685800" y="269748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2"/>
          <p:cNvSpPr/>
          <p:nvPr/>
        </p:nvSpPr>
        <p:spPr>
          <a:xfrm>
            <a:off x="1143000" y="2651760"/>
            <a:ext cx="356616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z = (175 − 172) / 6.49 = 3/6.49 = 0.46</a:t>
            </a:r>
            <a:endParaRPr lang="en-US" sz="1300" dirty="0"/>
          </a:p>
        </p:txBody>
      </p:sp>
      <p:sp>
        <p:nvSpPr>
          <p:cNvPr id="16" name="Shape 13"/>
          <p:cNvSpPr/>
          <p:nvPr/>
        </p:nvSpPr>
        <p:spPr>
          <a:xfrm>
            <a:off x="548640" y="3154680"/>
            <a:ext cx="429768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4"/>
          <p:cNvSpPr/>
          <p:nvPr/>
        </p:nvSpPr>
        <p:spPr>
          <a:xfrm>
            <a:off x="685800" y="3291840"/>
            <a:ext cx="320040" cy="320040"/>
          </a:xfrm>
          <a:prstGeom prst="ellipse">
            <a:avLst/>
          </a:prstGeom>
          <a:solidFill>
            <a:srgbClr val="028090"/>
          </a:solidFill>
          <a:ln/>
        </p:spPr>
      </p:sp>
      <p:sp>
        <p:nvSpPr>
          <p:cNvPr id="18" name="Text 15"/>
          <p:cNvSpPr/>
          <p:nvPr/>
        </p:nvSpPr>
        <p:spPr>
          <a:xfrm>
            <a:off x="685800" y="32918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6"/>
          <p:cNvSpPr/>
          <p:nvPr/>
        </p:nvSpPr>
        <p:spPr>
          <a:xfrm>
            <a:off x="1143000" y="3246120"/>
            <a:ext cx="356616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P(z &gt; 0.46) = 1 − P(z &lt; 0.46) = 1 − 0.6772 = 0.3228</a:t>
            </a:r>
            <a:endParaRPr lang="en-US" sz="1300" dirty="0"/>
          </a:p>
        </p:txBody>
      </p:sp>
      <p:sp>
        <p:nvSpPr>
          <p:cNvPr id="20" name="Shape 17"/>
          <p:cNvSpPr/>
          <p:nvPr/>
        </p:nvSpPr>
        <p:spPr>
          <a:xfrm>
            <a:off x="548640" y="3840480"/>
            <a:ext cx="8046720" cy="100584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1" name="Text 18"/>
          <p:cNvSpPr/>
          <p:nvPr/>
        </p:nvSpPr>
        <p:spPr>
          <a:xfrm>
            <a:off x="777240" y="3886200"/>
            <a:ext cx="3657600" cy="2743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P(x̄ &gt; 175) = 0.3228</a:t>
            </a:r>
            <a:endParaRPr lang="en-US" sz="1500" dirty="0"/>
          </a:p>
        </p:txBody>
      </p:sp>
      <p:sp>
        <p:nvSpPr>
          <p:cNvPr id="22" name="Text 19"/>
          <p:cNvSpPr/>
          <p:nvPr/>
        </p:nvSpPr>
        <p:spPr>
          <a:xfrm>
            <a:off x="777240" y="4206240"/>
            <a:ext cx="7589520" cy="548640"/>
          </a:xfrm>
          <a:prstGeom prst="rect">
            <a:avLst/>
          </a:prstGeom>
          <a:noFill/>
          <a:ln/>
        </p:spPr>
        <p:txBody>
          <a:bodyPr wrap="square" lIns="0" tIns="0" rIns="0" bIns="0"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Compare: Individual P(x &gt; 175) = 0.4602  vs.  Sample Mean P(x̄ &gt; 175) = 0.3228</a:t>
            </a:r>
            <a:endParaRPr lang="en-US" sz="1300" dirty="0"/>
          </a:p>
          <a:p>
            <a:pPr indent="0" marL="0">
              <a:buNone/>
            </a:pPr>
            <a:r>
              <a:rPr lang="en-US" sz="1200" dirty="0">
                <a:solidFill>
                  <a:srgbClr val="2D3748"/>
                </a:solidFill>
                <a:latin typeface="Calibri" pitchFamily="34" charset="0"/>
                <a:ea typeface="Calibri" pitchFamily="34" charset="-122"/>
                <a:cs typeface="Calibri" pitchFamily="34" charset="-120"/>
              </a:rPr>
              <a:t>It's easier for one person to be above 175 than for a group's average to be above 175.</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CLT Applied: Fill Volumes</a:t>
            </a:r>
            <a:endParaRPr lang="en-US" sz="2600" dirty="0"/>
          </a:p>
        </p:txBody>
      </p:sp>
      <p:sp>
        <p:nvSpPr>
          <p:cNvPr id="5" name="Shape 3"/>
          <p:cNvSpPr/>
          <p:nvPr/>
        </p:nvSpPr>
        <p:spPr>
          <a:xfrm>
            <a:off x="548640" y="1051560"/>
            <a:ext cx="8046720" cy="77724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64008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A bottling machine fills soda cans with μ = 12.0 oz and σ = 0.5 oz. A quality inspector tests a random sample of 36 cans. What is the probability that the sample mean is less than 11.8 oz?</a:t>
            </a:r>
            <a:endParaRPr lang="en-US" sz="1300" dirty="0"/>
          </a:p>
        </p:txBody>
      </p:sp>
      <p:sp>
        <p:nvSpPr>
          <p:cNvPr id="7" name="Shape 5"/>
          <p:cNvSpPr/>
          <p:nvPr/>
        </p:nvSpPr>
        <p:spPr>
          <a:xfrm>
            <a:off x="548640" y="201168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Shape 6"/>
          <p:cNvSpPr/>
          <p:nvPr/>
        </p:nvSpPr>
        <p:spPr>
          <a:xfrm>
            <a:off x="685800" y="2148840"/>
            <a:ext cx="320040" cy="320040"/>
          </a:xfrm>
          <a:prstGeom prst="ellipse">
            <a:avLst/>
          </a:prstGeom>
          <a:solidFill>
            <a:srgbClr val="028090"/>
          </a:solidFill>
          <a:ln/>
        </p:spPr>
      </p:sp>
      <p:sp>
        <p:nvSpPr>
          <p:cNvPr id="9" name="Text 7"/>
          <p:cNvSpPr/>
          <p:nvPr/>
        </p:nvSpPr>
        <p:spPr>
          <a:xfrm>
            <a:off x="685800" y="214884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1143000" y="2103120"/>
            <a:ext cx="731520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Identify: sample of n = 36 → use σ/√n</a:t>
            </a:r>
            <a:endParaRPr lang="en-US" sz="1300" dirty="0"/>
          </a:p>
          <a:p>
            <a:pPr indent="0" marL="0">
              <a:buNone/>
            </a:pPr>
            <a:r>
              <a:rPr lang="en-US" sz="1300" dirty="0">
                <a:solidFill>
                  <a:srgbClr val="2D3748"/>
                </a:solidFill>
                <a:latin typeface="Calibri" pitchFamily="34" charset="0"/>
                <a:ea typeface="Calibri" pitchFamily="34" charset="-122"/>
                <a:cs typeface="Calibri" pitchFamily="34" charset="-120"/>
              </a:rPr>
              <a:t>σ_x̄ = 0.5/√36 = 0.5/6 = 0.0833</a:t>
            </a:r>
            <a:endParaRPr lang="en-US" sz="1300" dirty="0"/>
          </a:p>
        </p:txBody>
      </p:sp>
      <p:sp>
        <p:nvSpPr>
          <p:cNvPr id="11" name="Shape 9"/>
          <p:cNvSpPr/>
          <p:nvPr/>
        </p:nvSpPr>
        <p:spPr>
          <a:xfrm>
            <a:off x="548640" y="2743200"/>
            <a:ext cx="804672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Shape 10"/>
          <p:cNvSpPr/>
          <p:nvPr/>
        </p:nvSpPr>
        <p:spPr>
          <a:xfrm>
            <a:off x="685800" y="2880360"/>
            <a:ext cx="320040" cy="320040"/>
          </a:xfrm>
          <a:prstGeom prst="ellipse">
            <a:avLst/>
          </a:prstGeom>
          <a:solidFill>
            <a:srgbClr val="028090"/>
          </a:solidFill>
          <a:ln/>
        </p:spPr>
      </p:sp>
      <p:sp>
        <p:nvSpPr>
          <p:cNvPr id="13" name="Text 11"/>
          <p:cNvSpPr/>
          <p:nvPr/>
        </p:nvSpPr>
        <p:spPr>
          <a:xfrm>
            <a:off x="685800" y="288036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1143000" y="2834640"/>
            <a:ext cx="73152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z = (11.8 − 12.0) / 0.0833 = −0.2/0.0833 = −2.40</a:t>
            </a:r>
            <a:endParaRPr lang="en-US" sz="1300" dirty="0"/>
          </a:p>
        </p:txBody>
      </p:sp>
      <p:sp>
        <p:nvSpPr>
          <p:cNvPr id="15" name="Shape 13"/>
          <p:cNvSpPr/>
          <p:nvPr/>
        </p:nvSpPr>
        <p:spPr>
          <a:xfrm>
            <a:off x="548640" y="3337560"/>
            <a:ext cx="8046720" cy="5029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685800" y="3474720"/>
            <a:ext cx="320040" cy="320040"/>
          </a:xfrm>
          <a:prstGeom prst="ellipse">
            <a:avLst/>
          </a:prstGeom>
          <a:solidFill>
            <a:srgbClr val="028090"/>
          </a:solidFill>
          <a:ln/>
        </p:spPr>
      </p:sp>
      <p:sp>
        <p:nvSpPr>
          <p:cNvPr id="17" name="Text 15"/>
          <p:cNvSpPr/>
          <p:nvPr/>
        </p:nvSpPr>
        <p:spPr>
          <a:xfrm>
            <a:off x="685800" y="3474720"/>
            <a:ext cx="320040" cy="32004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143000" y="3429000"/>
            <a:ext cx="7315200" cy="32004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P(z &lt; −2.40) = 0.0082</a:t>
            </a:r>
            <a:endParaRPr lang="en-US" sz="1300" dirty="0"/>
          </a:p>
        </p:txBody>
      </p:sp>
      <p:sp>
        <p:nvSpPr>
          <p:cNvPr id="19" name="Shape 17"/>
          <p:cNvSpPr/>
          <p:nvPr/>
        </p:nvSpPr>
        <p:spPr>
          <a:xfrm>
            <a:off x="548640" y="4023360"/>
            <a:ext cx="8046720" cy="77724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20" name="Text 18"/>
          <p:cNvSpPr/>
          <p:nvPr/>
        </p:nvSpPr>
        <p:spPr>
          <a:xfrm>
            <a:off x="777240" y="4069080"/>
            <a:ext cx="4572000" cy="274320"/>
          </a:xfrm>
          <a:prstGeom prst="rect">
            <a:avLst/>
          </a:prstGeom>
          <a:noFill/>
          <a:ln/>
        </p:spPr>
        <p:txBody>
          <a:bodyPr wrap="square" lIns="0" tIns="0" rIns="0" bIns="0" rtlCol="0" anchor="ctr"/>
          <a:lstStyle/>
          <a:p>
            <a:pPr indent="0" marL="0">
              <a:buNone/>
            </a:pPr>
            <a:r>
              <a:rPr lang="en-US" sz="1500" b="1" dirty="0">
                <a:solidFill>
                  <a:srgbClr val="1E2761"/>
                </a:solidFill>
                <a:latin typeface="Georgia" pitchFamily="34" charset="0"/>
                <a:ea typeface="Georgia" pitchFamily="34" charset="-122"/>
                <a:cs typeface="Georgia" pitchFamily="34" charset="-120"/>
              </a:rPr>
              <a:t>P(x̄ &lt; 11.8) = 0.0082  (less than 1%)</a:t>
            </a:r>
            <a:endParaRPr lang="en-US" sz="1500" dirty="0"/>
          </a:p>
        </p:txBody>
      </p:sp>
      <p:sp>
        <p:nvSpPr>
          <p:cNvPr id="21" name="Text 19"/>
          <p:cNvSpPr/>
          <p:nvPr/>
        </p:nvSpPr>
        <p:spPr>
          <a:xfrm>
            <a:off x="777240" y="4370832"/>
            <a:ext cx="7589520" cy="3657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Interpretation: If the machine is working correctly, there's less than 1% chance of getting a sample mean below 11.8 oz. If the inspector does get x̄ &lt; 11.8, the machine is probably malfunctioning.</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PART 3: CENTRAL LIMIT THEOREM</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Practice: Central Limit Theorem</a:t>
            </a:r>
            <a:endParaRPr lang="en-US" sz="2600" dirty="0"/>
          </a:p>
        </p:txBody>
      </p:sp>
      <p:sp>
        <p:nvSpPr>
          <p:cNvPr id="5" name="Shape 3"/>
          <p:cNvSpPr/>
          <p:nvPr/>
        </p:nvSpPr>
        <p:spPr>
          <a:xfrm>
            <a:off x="548640" y="1051560"/>
            <a:ext cx="804672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731520" y="1234440"/>
            <a:ext cx="347472" cy="347472"/>
          </a:xfrm>
          <a:prstGeom prst="ellipse">
            <a:avLst/>
          </a:prstGeom>
          <a:solidFill>
            <a:srgbClr val="028090"/>
          </a:solidFill>
          <a:ln/>
        </p:spPr>
      </p:sp>
      <p:sp>
        <p:nvSpPr>
          <p:cNvPr id="7" name="Text 5"/>
          <p:cNvSpPr/>
          <p:nvPr/>
        </p:nvSpPr>
        <p:spPr>
          <a:xfrm>
            <a:off x="731520" y="12344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1280160" y="1097280"/>
            <a:ext cx="5486400" cy="45720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Heights: μ = 64 in, σ = 3 in. One woman selected.</a:t>
            </a:r>
            <a:endParaRPr lang="en-US" sz="1300" dirty="0"/>
          </a:p>
          <a:p>
            <a:pPr indent="0" marL="0">
              <a:buNone/>
            </a:pPr>
            <a:r>
              <a:rPr lang="en-US" sz="1300" b="1" dirty="0">
                <a:solidFill>
                  <a:srgbClr val="1E2761"/>
                </a:solidFill>
                <a:latin typeface="Georgia" pitchFamily="34" charset="0"/>
                <a:ea typeface="Georgia" pitchFamily="34" charset="-122"/>
                <a:cs typeface="Georgia" pitchFamily="34" charset="-120"/>
              </a:rPr>
              <a:t>Find P(x &gt; 66).</a:t>
            </a:r>
            <a:endParaRPr lang="en-US" sz="1300" dirty="0"/>
          </a:p>
        </p:txBody>
      </p:sp>
      <p:sp>
        <p:nvSpPr>
          <p:cNvPr id="9" name="Text 7"/>
          <p:cNvSpPr/>
          <p:nvPr/>
        </p:nvSpPr>
        <p:spPr>
          <a:xfrm>
            <a:off x="1280160" y="1554480"/>
            <a:ext cx="4572000" cy="1828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Individual → use σ</a:t>
            </a:r>
            <a:endParaRPr lang="en-US" sz="1000" dirty="0"/>
          </a:p>
        </p:txBody>
      </p:sp>
      <p:sp>
        <p:nvSpPr>
          <p:cNvPr id="10" name="Shape 8"/>
          <p:cNvSpPr/>
          <p:nvPr/>
        </p:nvSpPr>
        <p:spPr>
          <a:xfrm>
            <a:off x="548640" y="1965960"/>
            <a:ext cx="804672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1" name="Shape 9"/>
          <p:cNvSpPr/>
          <p:nvPr/>
        </p:nvSpPr>
        <p:spPr>
          <a:xfrm>
            <a:off x="731520" y="2148840"/>
            <a:ext cx="347472" cy="347472"/>
          </a:xfrm>
          <a:prstGeom prst="ellipse">
            <a:avLst/>
          </a:prstGeom>
          <a:solidFill>
            <a:srgbClr val="028090"/>
          </a:solidFill>
          <a:ln/>
        </p:spPr>
      </p:sp>
      <p:sp>
        <p:nvSpPr>
          <p:cNvPr id="12" name="Text 10"/>
          <p:cNvSpPr/>
          <p:nvPr/>
        </p:nvSpPr>
        <p:spPr>
          <a:xfrm>
            <a:off x="731520" y="21488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p:nvPr/>
        </p:nvSpPr>
        <p:spPr>
          <a:xfrm>
            <a:off x="1280160" y="2011680"/>
            <a:ext cx="5486400" cy="45720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Same population. Sample of 25 women.</a:t>
            </a:r>
            <a:endParaRPr lang="en-US" sz="1300" dirty="0"/>
          </a:p>
          <a:p>
            <a:pPr indent="0" marL="0">
              <a:buNone/>
            </a:pPr>
            <a:r>
              <a:rPr lang="en-US" sz="1300" b="1" dirty="0">
                <a:solidFill>
                  <a:srgbClr val="1E2761"/>
                </a:solidFill>
                <a:latin typeface="Georgia" pitchFamily="34" charset="0"/>
                <a:ea typeface="Georgia" pitchFamily="34" charset="-122"/>
                <a:cs typeface="Georgia" pitchFamily="34" charset="-120"/>
              </a:rPr>
              <a:t>Find P(x̄ &gt; 66).</a:t>
            </a:r>
            <a:endParaRPr lang="en-US" sz="1300" dirty="0"/>
          </a:p>
        </p:txBody>
      </p:sp>
      <p:sp>
        <p:nvSpPr>
          <p:cNvPr id="14" name="Text 12"/>
          <p:cNvSpPr/>
          <p:nvPr/>
        </p:nvSpPr>
        <p:spPr>
          <a:xfrm>
            <a:off x="1280160" y="2468880"/>
            <a:ext cx="4572000" cy="1828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Sample mean → use σ/√n</a:t>
            </a:r>
            <a:endParaRPr lang="en-US" sz="1000" dirty="0"/>
          </a:p>
        </p:txBody>
      </p:sp>
      <p:sp>
        <p:nvSpPr>
          <p:cNvPr id="15" name="Shape 13"/>
          <p:cNvSpPr/>
          <p:nvPr/>
        </p:nvSpPr>
        <p:spPr>
          <a:xfrm>
            <a:off x="548640" y="2880360"/>
            <a:ext cx="804672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6" name="Shape 14"/>
          <p:cNvSpPr/>
          <p:nvPr/>
        </p:nvSpPr>
        <p:spPr>
          <a:xfrm>
            <a:off x="731520" y="3063240"/>
            <a:ext cx="347472" cy="347472"/>
          </a:xfrm>
          <a:prstGeom prst="ellipse">
            <a:avLst/>
          </a:prstGeom>
          <a:solidFill>
            <a:srgbClr val="028090"/>
          </a:solidFill>
          <a:ln/>
        </p:spPr>
      </p:sp>
      <p:sp>
        <p:nvSpPr>
          <p:cNvPr id="17" name="Text 15"/>
          <p:cNvSpPr/>
          <p:nvPr/>
        </p:nvSpPr>
        <p:spPr>
          <a:xfrm>
            <a:off x="731520" y="30632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1280160" y="2926080"/>
            <a:ext cx="5486400" cy="45720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Package weights: μ = 50 lb, σ = 8 lb. Sample of 40.</a:t>
            </a:r>
            <a:endParaRPr lang="en-US" sz="1300" dirty="0"/>
          </a:p>
          <a:p>
            <a:pPr indent="0" marL="0">
              <a:buNone/>
            </a:pPr>
            <a:r>
              <a:rPr lang="en-US" sz="1300" b="1" dirty="0">
                <a:solidFill>
                  <a:srgbClr val="1E2761"/>
                </a:solidFill>
                <a:latin typeface="Georgia" pitchFamily="34" charset="0"/>
                <a:ea typeface="Georgia" pitchFamily="34" charset="-122"/>
                <a:cs typeface="Georgia" pitchFamily="34" charset="-120"/>
              </a:rPr>
              <a:t>Find P(x̄ &lt; 48).</a:t>
            </a:r>
            <a:endParaRPr lang="en-US" sz="1300" dirty="0"/>
          </a:p>
        </p:txBody>
      </p:sp>
      <p:sp>
        <p:nvSpPr>
          <p:cNvPr id="19" name="Text 17"/>
          <p:cNvSpPr/>
          <p:nvPr/>
        </p:nvSpPr>
        <p:spPr>
          <a:xfrm>
            <a:off x="1280160" y="3383280"/>
            <a:ext cx="4572000" cy="1828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CLT applies (n &gt; 30)</a:t>
            </a:r>
            <a:endParaRPr lang="en-US" sz="1000" dirty="0"/>
          </a:p>
        </p:txBody>
      </p:sp>
      <p:sp>
        <p:nvSpPr>
          <p:cNvPr id="20" name="Shape 18"/>
          <p:cNvSpPr/>
          <p:nvPr/>
        </p:nvSpPr>
        <p:spPr>
          <a:xfrm>
            <a:off x="548640" y="3794760"/>
            <a:ext cx="8046720" cy="7315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Shape 19"/>
          <p:cNvSpPr/>
          <p:nvPr/>
        </p:nvSpPr>
        <p:spPr>
          <a:xfrm>
            <a:off x="731520" y="3977640"/>
            <a:ext cx="347472" cy="347472"/>
          </a:xfrm>
          <a:prstGeom prst="ellipse">
            <a:avLst/>
          </a:prstGeom>
          <a:solidFill>
            <a:srgbClr val="028090"/>
          </a:solidFill>
          <a:ln/>
        </p:spPr>
      </p:sp>
      <p:sp>
        <p:nvSpPr>
          <p:cNvPr id="22" name="Text 20"/>
          <p:cNvSpPr/>
          <p:nvPr/>
        </p:nvSpPr>
        <p:spPr>
          <a:xfrm>
            <a:off x="731520" y="3977640"/>
            <a:ext cx="347472" cy="347472"/>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3" name="Text 21"/>
          <p:cNvSpPr/>
          <p:nvPr/>
        </p:nvSpPr>
        <p:spPr>
          <a:xfrm>
            <a:off x="1280160" y="3840480"/>
            <a:ext cx="5486400" cy="45720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A non-normal population has μ = 100, σ = 15.</a:t>
            </a:r>
            <a:endParaRPr lang="en-US" sz="1300" dirty="0"/>
          </a:p>
          <a:p>
            <a:pPr indent="0" marL="0">
              <a:buNone/>
            </a:pPr>
            <a:r>
              <a:rPr lang="en-US" sz="1300" b="1" dirty="0">
                <a:solidFill>
                  <a:srgbClr val="1E2761"/>
                </a:solidFill>
                <a:latin typeface="Georgia" pitchFamily="34" charset="0"/>
                <a:ea typeface="Georgia" pitchFamily="34" charset="-122"/>
                <a:cs typeface="Georgia" pitchFamily="34" charset="-120"/>
              </a:rPr>
              <a:t>Can we use CLT with n = 10? With n = 50?</a:t>
            </a:r>
            <a:endParaRPr lang="en-US" sz="1300" dirty="0"/>
          </a:p>
        </p:txBody>
      </p:sp>
      <p:sp>
        <p:nvSpPr>
          <p:cNvPr id="24" name="Text 22"/>
          <p:cNvSpPr/>
          <p:nvPr/>
        </p:nvSpPr>
        <p:spPr>
          <a:xfrm>
            <a:off x="1280160" y="4297680"/>
            <a:ext cx="4572000" cy="182880"/>
          </a:xfrm>
          <a:prstGeom prst="rect">
            <a:avLst/>
          </a:prstGeom>
          <a:noFill/>
          <a:ln/>
        </p:spPr>
        <p:txBody>
          <a:bodyPr wrap="square" lIns="0" tIns="0" rIns="0" bIns="0" rtlCol="0" anchor="ctr"/>
          <a:lstStyle/>
          <a:p>
            <a:pPr indent="0" marL="0">
              <a:buNone/>
            </a:pPr>
            <a:r>
              <a:rPr lang="en-US" sz="1000" i="1" dirty="0">
                <a:solidFill>
                  <a:srgbClr val="718096"/>
                </a:solidFill>
                <a:latin typeface="Calibri" pitchFamily="34" charset="0"/>
                <a:ea typeface="Calibri" pitchFamily="34" charset="-122"/>
                <a:cs typeface="Calibri" pitchFamily="34" charset="-120"/>
              </a:rPr>
              <a:t>Check the rules!</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HW CONNECTION</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Review: Binomial Distribution (Ch. 6)</a:t>
            </a:r>
            <a:endParaRPr lang="en-US" sz="2600" dirty="0"/>
          </a:p>
        </p:txBody>
      </p:sp>
      <p:sp>
        <p:nvSpPr>
          <p:cNvPr id="5" name="Shape 3"/>
          <p:cNvSpPr/>
          <p:nvPr/>
        </p:nvSpPr>
        <p:spPr>
          <a:xfrm>
            <a:off x="548640" y="1051560"/>
            <a:ext cx="8046720" cy="594360"/>
          </a:xfrm>
          <a:prstGeom prst="rect">
            <a:avLst/>
          </a:prstGeom>
          <a:solidFill>
            <a:srgbClr val="F7FAFC"/>
          </a:solidFill>
          <a:ln/>
          <a:effectLst>
            <a:outerShdw sx="100000" sy="100000" kx="0" ky="0" algn="bl" rotWithShape="0" blurRad="76200" dist="25400" dir="8100000">
              <a:srgbClr val="000000">
                <a:alpha val="15000"/>
              </a:srgbClr>
            </a:outerShdw>
          </a:effectLst>
        </p:spPr>
      </p:sp>
      <p:sp>
        <p:nvSpPr>
          <p:cNvPr id="6" name="Text 4"/>
          <p:cNvSpPr/>
          <p:nvPr/>
        </p:nvSpPr>
        <p:spPr>
          <a:xfrm>
            <a:off x="777240" y="1097280"/>
            <a:ext cx="7589520" cy="457200"/>
          </a:xfrm>
          <a:prstGeom prst="rect">
            <a:avLst/>
          </a:prstGeom>
          <a:noFill/>
          <a:ln/>
        </p:spPr>
        <p:txBody>
          <a:bodyPr wrap="square" lIns="0" tIns="0" rIns="0" bIns="0" rtlCol="0" anchor="ctr"/>
          <a:lstStyle/>
          <a:p>
            <a:pPr indent="0" marL="0">
              <a:buNone/>
            </a:pPr>
            <a:r>
              <a:rPr lang="en-US" sz="1300" dirty="0">
                <a:solidFill>
                  <a:srgbClr val="2D3748"/>
                </a:solidFill>
                <a:latin typeface="Calibri" pitchFamily="34" charset="0"/>
                <a:ea typeface="Calibri" pitchFamily="34" charset="-122"/>
                <a:cs typeface="Calibri" pitchFamily="34" charset="-120"/>
              </a:rPr>
              <a:t>Your homework includes Chapter 6 review problems on binomial distributions. Here's a quick refresher.</a:t>
            </a:r>
            <a:endParaRPr lang="en-US" sz="1300" dirty="0"/>
          </a:p>
        </p:txBody>
      </p:sp>
      <p:sp>
        <p:nvSpPr>
          <p:cNvPr id="7" name="Shape 5"/>
          <p:cNvSpPr/>
          <p:nvPr/>
        </p:nvSpPr>
        <p:spPr>
          <a:xfrm>
            <a:off x="548640" y="1828800"/>
            <a:ext cx="3840480" cy="1463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8" name="Shape 6"/>
          <p:cNvSpPr/>
          <p:nvPr/>
        </p:nvSpPr>
        <p:spPr>
          <a:xfrm>
            <a:off x="548640" y="1828800"/>
            <a:ext cx="73152" cy="1463040"/>
          </a:xfrm>
          <a:prstGeom prst="rect">
            <a:avLst/>
          </a:prstGeom>
          <a:solidFill>
            <a:srgbClr val="028090"/>
          </a:solidFill>
          <a:ln/>
        </p:spPr>
      </p:sp>
      <p:sp>
        <p:nvSpPr>
          <p:cNvPr id="9" name="Text 7"/>
          <p:cNvSpPr/>
          <p:nvPr/>
        </p:nvSpPr>
        <p:spPr>
          <a:xfrm>
            <a:off x="777240" y="1920240"/>
            <a:ext cx="2743200" cy="274320"/>
          </a:xfrm>
          <a:prstGeom prst="rect">
            <a:avLst/>
          </a:prstGeom>
          <a:noFill/>
          <a:ln/>
        </p:spPr>
        <p:txBody>
          <a:bodyPr wrap="square" lIns="0" tIns="0" rIns="0" bIns="0" rtlCol="0" anchor="ctr"/>
          <a:lstStyle/>
          <a:p>
            <a:pPr indent="0" marL="0">
              <a:buNone/>
            </a:pPr>
            <a:r>
              <a:rPr lang="en-US" sz="1400" b="1" dirty="0">
                <a:solidFill>
                  <a:srgbClr val="028090"/>
                </a:solidFill>
                <a:latin typeface="Georgia" pitchFamily="34" charset="0"/>
                <a:ea typeface="Georgia" pitchFamily="34" charset="-122"/>
                <a:cs typeface="Georgia" pitchFamily="34" charset="-120"/>
              </a:rPr>
              <a:t>Key Formulas</a:t>
            </a:r>
            <a:endParaRPr lang="en-US" sz="1400" dirty="0"/>
          </a:p>
        </p:txBody>
      </p:sp>
      <p:sp>
        <p:nvSpPr>
          <p:cNvPr id="10" name="Shape 8"/>
          <p:cNvSpPr/>
          <p:nvPr/>
        </p:nvSpPr>
        <p:spPr>
          <a:xfrm>
            <a:off x="822960" y="2286000"/>
            <a:ext cx="3291840" cy="411480"/>
          </a:xfrm>
          <a:prstGeom prst="rect">
            <a:avLst/>
          </a:prstGeom>
          <a:solidFill>
            <a:srgbClr val="1E2761"/>
          </a:solidFill>
          <a:ln/>
        </p:spPr>
      </p:sp>
      <p:sp>
        <p:nvSpPr>
          <p:cNvPr id="11" name="Text 9"/>
          <p:cNvSpPr/>
          <p:nvPr/>
        </p:nvSpPr>
        <p:spPr>
          <a:xfrm>
            <a:off x="822960" y="2286000"/>
            <a:ext cx="329184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μ = np        σ = √(npq)</a:t>
            </a:r>
            <a:endParaRPr lang="en-US" sz="1800" dirty="0"/>
          </a:p>
        </p:txBody>
      </p:sp>
      <p:sp>
        <p:nvSpPr>
          <p:cNvPr id="12" name="Text 10"/>
          <p:cNvSpPr/>
          <p:nvPr/>
        </p:nvSpPr>
        <p:spPr>
          <a:xfrm>
            <a:off x="777240" y="2788920"/>
            <a:ext cx="3474720" cy="27432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where  n = trials,  p = P(success),  q = 1 − p</a:t>
            </a:r>
            <a:endParaRPr lang="en-US" sz="1100" dirty="0"/>
          </a:p>
        </p:txBody>
      </p:sp>
      <p:sp>
        <p:nvSpPr>
          <p:cNvPr id="13" name="Shape 11"/>
          <p:cNvSpPr/>
          <p:nvPr/>
        </p:nvSpPr>
        <p:spPr>
          <a:xfrm>
            <a:off x="4754880" y="1828800"/>
            <a:ext cx="3931920" cy="14630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4" name="Shape 12"/>
          <p:cNvSpPr/>
          <p:nvPr/>
        </p:nvSpPr>
        <p:spPr>
          <a:xfrm>
            <a:off x="4754880" y="1828800"/>
            <a:ext cx="73152" cy="1463040"/>
          </a:xfrm>
          <a:prstGeom prst="rect">
            <a:avLst/>
          </a:prstGeom>
          <a:solidFill>
            <a:srgbClr val="E53E3E"/>
          </a:solidFill>
          <a:ln/>
        </p:spPr>
      </p:sp>
      <p:sp>
        <p:nvSpPr>
          <p:cNvPr id="15" name="Text 13"/>
          <p:cNvSpPr/>
          <p:nvPr/>
        </p:nvSpPr>
        <p:spPr>
          <a:xfrm>
            <a:off x="4983480" y="1920240"/>
            <a:ext cx="3474720" cy="274320"/>
          </a:xfrm>
          <a:prstGeom prst="rect">
            <a:avLst/>
          </a:prstGeom>
          <a:noFill/>
          <a:ln/>
        </p:spPr>
        <p:txBody>
          <a:bodyPr wrap="square" lIns="0" tIns="0" rIns="0" bIns="0" rtlCol="0" anchor="ctr"/>
          <a:lstStyle/>
          <a:p>
            <a:pPr indent="0" marL="0">
              <a:buNone/>
            </a:pPr>
            <a:r>
              <a:rPr lang="en-US" sz="1400" b="1" dirty="0">
                <a:solidFill>
                  <a:srgbClr val="E53E3E"/>
                </a:solidFill>
                <a:latin typeface="Georgia" pitchFamily="34" charset="0"/>
                <a:ea typeface="Georgia" pitchFamily="34" charset="-122"/>
                <a:cs typeface="Georgia" pitchFamily="34" charset="-120"/>
              </a:rPr>
              <a:t>When Is a Result "Unusual"?</a:t>
            </a:r>
            <a:endParaRPr lang="en-US" sz="1400" dirty="0"/>
          </a:p>
        </p:txBody>
      </p:sp>
      <p:sp>
        <p:nvSpPr>
          <p:cNvPr id="16" name="Text 14"/>
          <p:cNvSpPr/>
          <p:nvPr/>
        </p:nvSpPr>
        <p:spPr>
          <a:xfrm>
            <a:off x="4983480" y="2240280"/>
            <a:ext cx="3474720" cy="27432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A result is unusual if it falls outside:</a:t>
            </a:r>
            <a:endParaRPr lang="en-US" sz="1200" dirty="0"/>
          </a:p>
        </p:txBody>
      </p:sp>
      <p:sp>
        <p:nvSpPr>
          <p:cNvPr id="17" name="Shape 15"/>
          <p:cNvSpPr/>
          <p:nvPr/>
        </p:nvSpPr>
        <p:spPr>
          <a:xfrm>
            <a:off x="5029200" y="2560320"/>
            <a:ext cx="3383280" cy="411480"/>
          </a:xfrm>
          <a:prstGeom prst="rect">
            <a:avLst/>
          </a:prstGeom>
          <a:solidFill>
            <a:srgbClr val="1E2761"/>
          </a:solidFill>
          <a:ln/>
        </p:spPr>
      </p:sp>
      <p:sp>
        <p:nvSpPr>
          <p:cNvPr id="18" name="Text 16"/>
          <p:cNvSpPr/>
          <p:nvPr/>
        </p:nvSpPr>
        <p:spPr>
          <a:xfrm>
            <a:off x="5029200" y="2560320"/>
            <a:ext cx="3383280" cy="411480"/>
          </a:xfrm>
          <a:prstGeom prst="rect">
            <a:avLst/>
          </a:prstGeom>
          <a:noFill/>
          <a:ln/>
        </p:spPr>
        <p:txBody>
          <a:bodyPr wrap="square" rtlCol="0" anchor="ctr"/>
          <a:lstStyle/>
          <a:p>
            <a:pPr algn="ctr" indent="0" marL="0">
              <a:buNone/>
            </a:pPr>
            <a:r>
              <a:rPr lang="en-US" sz="1800" b="1" dirty="0">
                <a:solidFill>
                  <a:srgbClr val="FFFFFF"/>
                </a:solidFill>
                <a:latin typeface="Georgia" pitchFamily="34" charset="0"/>
                <a:ea typeface="Georgia" pitchFamily="34" charset="-122"/>
                <a:cs typeface="Georgia" pitchFamily="34" charset="-120"/>
              </a:rPr>
              <a:t>μ − 2.5σ   to   μ + 2.5σ</a:t>
            </a:r>
            <a:endParaRPr lang="en-US" sz="1800" dirty="0"/>
          </a:p>
        </p:txBody>
      </p:sp>
      <p:sp>
        <p:nvSpPr>
          <p:cNvPr id="19" name="Text 17"/>
          <p:cNvSpPr/>
          <p:nvPr/>
        </p:nvSpPr>
        <p:spPr>
          <a:xfrm>
            <a:off x="4983480" y="3017520"/>
            <a:ext cx="3474720" cy="36576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If the observed value is outside this range,</a:t>
            </a:r>
            <a:endParaRPr lang="en-US" sz="1100" dirty="0"/>
          </a:p>
          <a:p>
            <a:pPr indent="0" marL="0">
              <a:buNone/>
            </a:pPr>
            <a:r>
              <a:rPr lang="en-US" sz="1100" dirty="0">
                <a:solidFill>
                  <a:srgbClr val="718096"/>
                </a:solidFill>
                <a:latin typeface="Calibri" pitchFamily="34" charset="0"/>
                <a:ea typeface="Calibri" pitchFamily="34" charset="-122"/>
                <a:cs typeface="Calibri" pitchFamily="34" charset="-120"/>
              </a:rPr>
              <a:t>it's considered unusual.</a:t>
            </a:r>
            <a:endParaRPr lang="en-US" sz="1100" dirty="0"/>
          </a:p>
        </p:txBody>
      </p:sp>
      <p:sp>
        <p:nvSpPr>
          <p:cNvPr id="20" name="Shape 18"/>
          <p:cNvSpPr/>
          <p:nvPr/>
        </p:nvSpPr>
        <p:spPr>
          <a:xfrm>
            <a:off x="548640" y="3520440"/>
            <a:ext cx="8046720" cy="14173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1" name="Text 19"/>
          <p:cNvSpPr/>
          <p:nvPr/>
        </p:nvSpPr>
        <p:spPr>
          <a:xfrm>
            <a:off x="777240" y="3566160"/>
            <a:ext cx="2743200" cy="228600"/>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Example (HW #7 format):</a:t>
            </a:r>
            <a:endParaRPr lang="en-US" sz="1100" dirty="0"/>
          </a:p>
        </p:txBody>
      </p:sp>
      <p:sp>
        <p:nvSpPr>
          <p:cNvPr id="22" name="Text 20"/>
          <p:cNvSpPr/>
          <p:nvPr/>
        </p:nvSpPr>
        <p:spPr>
          <a:xfrm>
            <a:off x="777240" y="3794760"/>
            <a:ext cx="7589520" cy="274320"/>
          </a:xfrm>
          <a:prstGeom prst="rect">
            <a:avLst/>
          </a:prstGeom>
          <a:noFill/>
          <a:ln/>
        </p:spPr>
        <p:txBody>
          <a:bodyPr wrap="square" lIns="0" tIns="0" rIns="0" bIns="0" rtlCol="0" anchor="ctr"/>
          <a:lstStyle/>
          <a:p>
            <a:pPr indent="0" marL="0">
              <a:buNone/>
            </a:pPr>
            <a:r>
              <a:rPr lang="en-US" sz="1300" b="1" dirty="0">
                <a:solidFill>
                  <a:srgbClr val="1E2761"/>
                </a:solidFill>
                <a:latin typeface="Georgia" pitchFamily="34" charset="0"/>
                <a:ea typeface="Georgia" pitchFamily="34" charset="-122"/>
                <a:cs typeface="Georgia" pitchFamily="34" charset="-120"/>
              </a:rPr>
              <a:t>Binomial: n = 10 trials, p = 0.2. Is more than 5 successes unusual?</a:t>
            </a:r>
            <a:endParaRPr lang="en-US" sz="1300" dirty="0"/>
          </a:p>
        </p:txBody>
      </p:sp>
      <p:sp>
        <p:nvSpPr>
          <p:cNvPr id="23" name="Text 21"/>
          <p:cNvSpPr/>
          <p:nvPr/>
        </p:nvSpPr>
        <p:spPr>
          <a:xfrm>
            <a:off x="777240" y="4114800"/>
            <a:ext cx="7589520" cy="77724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μ = np = 10(0.2) = 2</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σ = √(npq) = √(10 × 0.2 × 0.8) = √1.6 = 1.265</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Upper boundary: μ + 2.5σ = 2 + 2.5(1.265) = 2 + 3.16 = 5.16</a:t>
            </a:r>
            <a:endParaRPr lang="en-US" sz="1200" dirty="0"/>
          </a:p>
          <a:p>
            <a:pPr indent="0" marL="0">
              <a:buNone/>
            </a:pPr>
            <a:r>
              <a:rPr lang="en-US" sz="1200" b="1" dirty="0">
                <a:solidFill>
                  <a:srgbClr val="028090"/>
                </a:solidFill>
                <a:latin typeface="Calibri" pitchFamily="34" charset="0"/>
                <a:ea typeface="Calibri" pitchFamily="34" charset="-122"/>
                <a:cs typeface="Calibri" pitchFamily="34" charset="-120"/>
              </a:rPr>
              <a:t>Since 5 &lt; 5.16, five successes is NOT unusual. But more than 5 WOULD be unusual.</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Key Formulas: Complete Reference</a:t>
            </a:r>
            <a:endParaRPr lang="en-US" sz="2600" dirty="0"/>
          </a:p>
        </p:txBody>
      </p:sp>
      <p:sp>
        <p:nvSpPr>
          <p:cNvPr id="5" name="Shape 3"/>
          <p:cNvSpPr/>
          <p:nvPr/>
        </p:nvSpPr>
        <p:spPr>
          <a:xfrm>
            <a:off x="548640" y="1097280"/>
            <a:ext cx="8046720" cy="7772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6" name="Shape 4"/>
          <p:cNvSpPr/>
          <p:nvPr/>
        </p:nvSpPr>
        <p:spPr>
          <a:xfrm>
            <a:off x="548640" y="1097280"/>
            <a:ext cx="73152" cy="777240"/>
          </a:xfrm>
          <a:prstGeom prst="rect">
            <a:avLst/>
          </a:prstGeom>
          <a:solidFill>
            <a:srgbClr val="1E2761"/>
          </a:solidFill>
          <a:ln/>
        </p:spPr>
      </p:sp>
      <p:sp>
        <p:nvSpPr>
          <p:cNvPr id="7" name="Text 5"/>
          <p:cNvSpPr/>
          <p:nvPr/>
        </p:nvSpPr>
        <p:spPr>
          <a:xfrm>
            <a:off x="777240" y="1143000"/>
            <a:ext cx="2743200" cy="274320"/>
          </a:xfrm>
          <a:prstGeom prst="rect">
            <a:avLst/>
          </a:prstGeom>
          <a:noFill/>
          <a:ln/>
        </p:spPr>
        <p:txBody>
          <a:bodyPr wrap="square" lIns="0" tIns="0" rIns="0" bIns="0"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Z-Score (individual)</a:t>
            </a:r>
            <a:endParaRPr lang="en-US" sz="1200" dirty="0"/>
          </a:p>
        </p:txBody>
      </p:sp>
      <p:sp>
        <p:nvSpPr>
          <p:cNvPr id="8" name="Shape 6"/>
          <p:cNvSpPr/>
          <p:nvPr/>
        </p:nvSpPr>
        <p:spPr>
          <a:xfrm>
            <a:off x="3840480" y="1207008"/>
            <a:ext cx="2743200" cy="457200"/>
          </a:xfrm>
          <a:prstGeom prst="rect">
            <a:avLst/>
          </a:prstGeom>
          <a:solidFill>
            <a:srgbClr val="1E2761"/>
          </a:solidFill>
          <a:ln/>
        </p:spPr>
      </p:sp>
      <p:sp>
        <p:nvSpPr>
          <p:cNvPr id="9" name="Text 7"/>
          <p:cNvSpPr/>
          <p:nvPr/>
        </p:nvSpPr>
        <p:spPr>
          <a:xfrm>
            <a:off x="3840480" y="1207008"/>
            <a:ext cx="2743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z = (x − μ) / σ</a:t>
            </a:r>
            <a:endParaRPr lang="en-US" sz="1600" dirty="0"/>
          </a:p>
        </p:txBody>
      </p:sp>
      <p:sp>
        <p:nvSpPr>
          <p:cNvPr id="10" name="Text 8"/>
          <p:cNvSpPr/>
          <p:nvPr/>
        </p:nvSpPr>
        <p:spPr>
          <a:xfrm>
            <a:off x="777240" y="1600200"/>
            <a:ext cx="7315200" cy="22860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Finding probability for ONE value from the population</a:t>
            </a:r>
            <a:endParaRPr lang="en-US" sz="1100" dirty="0"/>
          </a:p>
        </p:txBody>
      </p:sp>
      <p:sp>
        <p:nvSpPr>
          <p:cNvPr id="11" name="Shape 9"/>
          <p:cNvSpPr/>
          <p:nvPr/>
        </p:nvSpPr>
        <p:spPr>
          <a:xfrm>
            <a:off x="548640" y="2057400"/>
            <a:ext cx="8046720" cy="7772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2" name="Shape 10"/>
          <p:cNvSpPr/>
          <p:nvPr/>
        </p:nvSpPr>
        <p:spPr>
          <a:xfrm>
            <a:off x="548640" y="2057400"/>
            <a:ext cx="73152" cy="777240"/>
          </a:xfrm>
          <a:prstGeom prst="rect">
            <a:avLst/>
          </a:prstGeom>
          <a:solidFill>
            <a:srgbClr val="065A82"/>
          </a:solidFill>
          <a:ln/>
        </p:spPr>
      </p:sp>
      <p:sp>
        <p:nvSpPr>
          <p:cNvPr id="13" name="Text 11"/>
          <p:cNvSpPr/>
          <p:nvPr/>
        </p:nvSpPr>
        <p:spPr>
          <a:xfrm>
            <a:off x="777240" y="2103120"/>
            <a:ext cx="2743200" cy="274320"/>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Inverse Normal</a:t>
            </a:r>
            <a:endParaRPr lang="en-US" sz="1200" dirty="0"/>
          </a:p>
        </p:txBody>
      </p:sp>
      <p:sp>
        <p:nvSpPr>
          <p:cNvPr id="14" name="Shape 12"/>
          <p:cNvSpPr/>
          <p:nvPr/>
        </p:nvSpPr>
        <p:spPr>
          <a:xfrm>
            <a:off x="3840480" y="2167128"/>
            <a:ext cx="2743200" cy="457200"/>
          </a:xfrm>
          <a:prstGeom prst="rect">
            <a:avLst/>
          </a:prstGeom>
          <a:solidFill>
            <a:srgbClr val="1E2761"/>
          </a:solidFill>
          <a:ln/>
        </p:spPr>
      </p:sp>
      <p:sp>
        <p:nvSpPr>
          <p:cNvPr id="15" name="Text 13"/>
          <p:cNvSpPr/>
          <p:nvPr/>
        </p:nvSpPr>
        <p:spPr>
          <a:xfrm>
            <a:off x="3840480" y="2167128"/>
            <a:ext cx="2743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x = z · σ + μ</a:t>
            </a:r>
            <a:endParaRPr lang="en-US" sz="1600" dirty="0"/>
          </a:p>
        </p:txBody>
      </p:sp>
      <p:sp>
        <p:nvSpPr>
          <p:cNvPr id="16" name="Text 14"/>
          <p:cNvSpPr/>
          <p:nvPr/>
        </p:nvSpPr>
        <p:spPr>
          <a:xfrm>
            <a:off x="777240" y="2560320"/>
            <a:ext cx="7315200" cy="22860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Finding the x-value that corresponds to a given probability</a:t>
            </a:r>
            <a:endParaRPr lang="en-US" sz="1100" dirty="0"/>
          </a:p>
        </p:txBody>
      </p:sp>
      <p:sp>
        <p:nvSpPr>
          <p:cNvPr id="17" name="Shape 15"/>
          <p:cNvSpPr/>
          <p:nvPr/>
        </p:nvSpPr>
        <p:spPr>
          <a:xfrm>
            <a:off x="548640" y="3017520"/>
            <a:ext cx="8046720" cy="7772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8" name="Shape 16"/>
          <p:cNvSpPr/>
          <p:nvPr/>
        </p:nvSpPr>
        <p:spPr>
          <a:xfrm>
            <a:off x="548640" y="3017520"/>
            <a:ext cx="73152" cy="777240"/>
          </a:xfrm>
          <a:prstGeom prst="rect">
            <a:avLst/>
          </a:prstGeom>
          <a:solidFill>
            <a:srgbClr val="028090"/>
          </a:solidFill>
          <a:ln/>
        </p:spPr>
      </p:sp>
      <p:sp>
        <p:nvSpPr>
          <p:cNvPr id="19" name="Text 17"/>
          <p:cNvSpPr/>
          <p:nvPr/>
        </p:nvSpPr>
        <p:spPr>
          <a:xfrm>
            <a:off x="777240" y="3063240"/>
            <a:ext cx="2743200" cy="2743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Standard Error</a:t>
            </a:r>
            <a:endParaRPr lang="en-US" sz="1200" dirty="0"/>
          </a:p>
        </p:txBody>
      </p:sp>
      <p:sp>
        <p:nvSpPr>
          <p:cNvPr id="20" name="Shape 18"/>
          <p:cNvSpPr/>
          <p:nvPr/>
        </p:nvSpPr>
        <p:spPr>
          <a:xfrm>
            <a:off x="3840480" y="3127248"/>
            <a:ext cx="2743200" cy="457200"/>
          </a:xfrm>
          <a:prstGeom prst="rect">
            <a:avLst/>
          </a:prstGeom>
          <a:solidFill>
            <a:srgbClr val="1E2761"/>
          </a:solidFill>
          <a:ln/>
        </p:spPr>
      </p:sp>
      <p:sp>
        <p:nvSpPr>
          <p:cNvPr id="21" name="Text 19"/>
          <p:cNvSpPr/>
          <p:nvPr/>
        </p:nvSpPr>
        <p:spPr>
          <a:xfrm>
            <a:off x="3840480" y="3127248"/>
            <a:ext cx="2743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σ_x̄ = σ / √n</a:t>
            </a:r>
            <a:endParaRPr lang="en-US" sz="1600" dirty="0"/>
          </a:p>
        </p:txBody>
      </p:sp>
      <p:sp>
        <p:nvSpPr>
          <p:cNvPr id="22" name="Text 20"/>
          <p:cNvSpPr/>
          <p:nvPr/>
        </p:nvSpPr>
        <p:spPr>
          <a:xfrm>
            <a:off x="777240" y="3520440"/>
            <a:ext cx="7315200" cy="22860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Working with sample means instead of individuals</a:t>
            </a:r>
            <a:endParaRPr lang="en-US" sz="1100" dirty="0"/>
          </a:p>
        </p:txBody>
      </p:sp>
      <p:sp>
        <p:nvSpPr>
          <p:cNvPr id="23" name="Shape 21"/>
          <p:cNvSpPr/>
          <p:nvPr/>
        </p:nvSpPr>
        <p:spPr>
          <a:xfrm>
            <a:off x="548640" y="3977640"/>
            <a:ext cx="8046720" cy="77724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4" name="Shape 22"/>
          <p:cNvSpPr/>
          <p:nvPr/>
        </p:nvSpPr>
        <p:spPr>
          <a:xfrm>
            <a:off x="548640" y="3977640"/>
            <a:ext cx="73152" cy="777240"/>
          </a:xfrm>
          <a:prstGeom prst="rect">
            <a:avLst/>
          </a:prstGeom>
          <a:solidFill>
            <a:srgbClr val="00A896"/>
          </a:solidFill>
          <a:ln/>
        </p:spPr>
      </p:sp>
      <p:sp>
        <p:nvSpPr>
          <p:cNvPr id="25" name="Text 23"/>
          <p:cNvSpPr/>
          <p:nvPr/>
        </p:nvSpPr>
        <p:spPr>
          <a:xfrm>
            <a:off x="777240" y="4023360"/>
            <a:ext cx="274320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Z-Score (sample mean)</a:t>
            </a:r>
            <a:endParaRPr lang="en-US" sz="1200" dirty="0"/>
          </a:p>
        </p:txBody>
      </p:sp>
      <p:sp>
        <p:nvSpPr>
          <p:cNvPr id="26" name="Shape 24"/>
          <p:cNvSpPr/>
          <p:nvPr/>
        </p:nvSpPr>
        <p:spPr>
          <a:xfrm>
            <a:off x="3840480" y="4087368"/>
            <a:ext cx="2743200" cy="457200"/>
          </a:xfrm>
          <a:prstGeom prst="rect">
            <a:avLst/>
          </a:prstGeom>
          <a:solidFill>
            <a:srgbClr val="1E2761"/>
          </a:solidFill>
          <a:ln/>
        </p:spPr>
      </p:sp>
      <p:sp>
        <p:nvSpPr>
          <p:cNvPr id="27" name="Text 25"/>
          <p:cNvSpPr/>
          <p:nvPr/>
        </p:nvSpPr>
        <p:spPr>
          <a:xfrm>
            <a:off x="3840480" y="4087368"/>
            <a:ext cx="274320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z = (x̄ − μ) / (σ/√n)</a:t>
            </a:r>
            <a:endParaRPr lang="en-US" sz="1600" dirty="0"/>
          </a:p>
        </p:txBody>
      </p:sp>
      <p:sp>
        <p:nvSpPr>
          <p:cNvPr id="28" name="Text 26"/>
          <p:cNvSpPr/>
          <p:nvPr/>
        </p:nvSpPr>
        <p:spPr>
          <a:xfrm>
            <a:off x="777240" y="4480560"/>
            <a:ext cx="7315200" cy="228600"/>
          </a:xfrm>
          <a:prstGeom prst="rect">
            <a:avLst/>
          </a:prstGeom>
          <a:noFill/>
          <a:ln/>
        </p:spPr>
        <p:txBody>
          <a:bodyPr wrap="square" lIns="0" tIns="0" rIns="0" bIns="0" rtlCol="0" anchor="ctr"/>
          <a:lstStyle/>
          <a:p>
            <a:pPr indent="0" marL="0">
              <a:buNone/>
            </a:pPr>
            <a:r>
              <a:rPr lang="en-US" sz="1100" dirty="0">
                <a:solidFill>
                  <a:srgbClr val="718096"/>
                </a:solidFill>
                <a:latin typeface="Calibri" pitchFamily="34" charset="0"/>
                <a:ea typeface="Calibri" pitchFamily="34" charset="-122"/>
                <a:cs typeface="Calibri" pitchFamily="34" charset="-120"/>
              </a:rPr>
              <a:t>Finding probability for a sample mean</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DECISION GUIDE</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Which Formula Do I Use?</a:t>
            </a:r>
            <a:endParaRPr lang="en-US" sz="2600" dirty="0"/>
          </a:p>
        </p:txBody>
      </p:sp>
      <p:sp>
        <p:nvSpPr>
          <p:cNvPr id="5" name="Shape 3"/>
          <p:cNvSpPr/>
          <p:nvPr/>
        </p:nvSpPr>
        <p:spPr>
          <a:xfrm>
            <a:off x="2286000" y="1051560"/>
            <a:ext cx="4572000" cy="457200"/>
          </a:xfrm>
          <a:prstGeom prst="rect">
            <a:avLst/>
          </a:prstGeom>
          <a:solidFill>
            <a:srgbClr val="1E2761"/>
          </a:solidFill>
          <a:ln/>
        </p:spPr>
      </p:sp>
      <p:sp>
        <p:nvSpPr>
          <p:cNvPr id="6" name="Text 4"/>
          <p:cNvSpPr/>
          <p:nvPr/>
        </p:nvSpPr>
        <p:spPr>
          <a:xfrm>
            <a:off x="2286000" y="1051560"/>
            <a:ext cx="4572000" cy="45720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What does the problem ask for?</a:t>
            </a:r>
            <a:endParaRPr lang="en-US" sz="1400" dirty="0"/>
          </a:p>
        </p:txBody>
      </p:sp>
      <p:sp>
        <p:nvSpPr>
          <p:cNvPr id="7" name="Shape 5"/>
          <p:cNvSpPr/>
          <p:nvPr/>
        </p:nvSpPr>
        <p:spPr>
          <a:xfrm>
            <a:off x="365760" y="1783080"/>
            <a:ext cx="3931920" cy="411480"/>
          </a:xfrm>
          <a:prstGeom prst="rect">
            <a:avLst/>
          </a:prstGeom>
          <a:solidFill>
            <a:srgbClr val="028090"/>
          </a:solidFill>
          <a:ln/>
        </p:spPr>
      </p:sp>
      <p:sp>
        <p:nvSpPr>
          <p:cNvPr id="8" name="Text 6"/>
          <p:cNvSpPr/>
          <p:nvPr/>
        </p:nvSpPr>
        <p:spPr>
          <a:xfrm>
            <a:off x="365760" y="1783080"/>
            <a:ext cx="39319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Given x (or x̄) → Find probability</a:t>
            </a:r>
            <a:endParaRPr lang="en-US" sz="1200" dirty="0"/>
          </a:p>
        </p:txBody>
      </p:sp>
      <p:sp>
        <p:nvSpPr>
          <p:cNvPr id="9" name="Shape 7"/>
          <p:cNvSpPr/>
          <p:nvPr/>
        </p:nvSpPr>
        <p:spPr>
          <a:xfrm>
            <a:off x="4846320" y="1783080"/>
            <a:ext cx="3931920" cy="411480"/>
          </a:xfrm>
          <a:prstGeom prst="rect">
            <a:avLst/>
          </a:prstGeom>
          <a:solidFill>
            <a:srgbClr val="065A82"/>
          </a:solidFill>
          <a:ln/>
        </p:spPr>
      </p:sp>
      <p:sp>
        <p:nvSpPr>
          <p:cNvPr id="10" name="Text 8"/>
          <p:cNvSpPr/>
          <p:nvPr/>
        </p:nvSpPr>
        <p:spPr>
          <a:xfrm>
            <a:off x="4846320" y="1783080"/>
            <a:ext cx="3931920" cy="4114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Given probability → Find x</a:t>
            </a:r>
            <a:endParaRPr lang="en-US" sz="1200" dirty="0"/>
          </a:p>
        </p:txBody>
      </p:sp>
      <p:sp>
        <p:nvSpPr>
          <p:cNvPr id="11" name="Text 9"/>
          <p:cNvSpPr/>
          <p:nvPr/>
        </p:nvSpPr>
        <p:spPr>
          <a:xfrm>
            <a:off x="2103120" y="1444752"/>
            <a:ext cx="457200" cy="365760"/>
          </a:xfrm>
          <a:prstGeom prst="rect">
            <a:avLst/>
          </a:prstGeom>
          <a:noFill/>
          <a:ln/>
        </p:spPr>
        <p:txBody>
          <a:bodyPr wrap="square" rtlCol="0" anchor="ctr"/>
          <a:lstStyle/>
          <a:p>
            <a:pPr algn="ctr" indent="0" marL="0">
              <a:buNone/>
            </a:pPr>
            <a:r>
              <a:rPr lang="en-US" sz="2000" dirty="0">
                <a:solidFill>
                  <a:srgbClr val="1E2761"/>
                </a:solidFill>
              </a:rPr>
              <a:t>↓</a:t>
            </a:r>
            <a:endParaRPr lang="en-US" sz="2000" dirty="0"/>
          </a:p>
        </p:txBody>
      </p:sp>
      <p:sp>
        <p:nvSpPr>
          <p:cNvPr id="12" name="Text 10"/>
          <p:cNvSpPr/>
          <p:nvPr/>
        </p:nvSpPr>
        <p:spPr>
          <a:xfrm>
            <a:off x="6583680" y="1444752"/>
            <a:ext cx="457200" cy="365760"/>
          </a:xfrm>
          <a:prstGeom prst="rect">
            <a:avLst/>
          </a:prstGeom>
          <a:noFill/>
          <a:ln/>
        </p:spPr>
        <p:txBody>
          <a:bodyPr wrap="square" rtlCol="0" anchor="ctr"/>
          <a:lstStyle/>
          <a:p>
            <a:pPr algn="ctr" indent="0" marL="0">
              <a:buNone/>
            </a:pPr>
            <a:r>
              <a:rPr lang="en-US" sz="2000" dirty="0">
                <a:solidFill>
                  <a:srgbClr val="1E2761"/>
                </a:solidFill>
              </a:rPr>
              <a:t>↓</a:t>
            </a:r>
            <a:endParaRPr lang="en-US" sz="2000" dirty="0"/>
          </a:p>
        </p:txBody>
      </p:sp>
      <p:sp>
        <p:nvSpPr>
          <p:cNvPr id="13" name="Shape 11"/>
          <p:cNvSpPr/>
          <p:nvPr/>
        </p:nvSpPr>
        <p:spPr>
          <a:xfrm>
            <a:off x="365760" y="2423160"/>
            <a:ext cx="3931920" cy="365760"/>
          </a:xfrm>
          <a:prstGeom prst="rect">
            <a:avLst/>
          </a:prstGeom>
          <a:solidFill>
            <a:srgbClr val="F7FAFC"/>
          </a:solidFill>
          <a:ln/>
        </p:spPr>
      </p:sp>
      <p:sp>
        <p:nvSpPr>
          <p:cNvPr id="14" name="Text 12"/>
          <p:cNvSpPr/>
          <p:nvPr/>
        </p:nvSpPr>
        <p:spPr>
          <a:xfrm>
            <a:off x="365760" y="2423160"/>
            <a:ext cx="3931920" cy="365760"/>
          </a:xfrm>
          <a:prstGeom prst="rect">
            <a:avLst/>
          </a:prstGeom>
          <a:noFill/>
          <a:ln/>
        </p:spPr>
        <p:txBody>
          <a:bodyPr wrap="square"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Is it about ONE value or a SAMPLE MEAN?</a:t>
            </a:r>
            <a:endParaRPr lang="en-US" sz="1100" dirty="0"/>
          </a:p>
        </p:txBody>
      </p:sp>
      <p:sp>
        <p:nvSpPr>
          <p:cNvPr id="15" name="Text 13"/>
          <p:cNvSpPr/>
          <p:nvPr/>
        </p:nvSpPr>
        <p:spPr>
          <a:xfrm>
            <a:off x="2103120" y="2724912"/>
            <a:ext cx="457200" cy="320040"/>
          </a:xfrm>
          <a:prstGeom prst="rect">
            <a:avLst/>
          </a:prstGeom>
          <a:noFill/>
          <a:ln/>
        </p:spPr>
        <p:txBody>
          <a:bodyPr wrap="square" rtlCol="0" anchor="ctr"/>
          <a:lstStyle/>
          <a:p>
            <a:pPr algn="ctr" indent="0" marL="0">
              <a:buNone/>
            </a:pPr>
            <a:r>
              <a:rPr lang="en-US" sz="1800" dirty="0">
                <a:solidFill>
                  <a:srgbClr val="028090"/>
                </a:solidFill>
              </a:rPr>
              <a:t>↓</a:t>
            </a:r>
            <a:endParaRPr lang="en-US" sz="1800" dirty="0"/>
          </a:p>
        </p:txBody>
      </p:sp>
      <p:sp>
        <p:nvSpPr>
          <p:cNvPr id="16" name="Shape 14"/>
          <p:cNvSpPr/>
          <p:nvPr/>
        </p:nvSpPr>
        <p:spPr>
          <a:xfrm>
            <a:off x="365760" y="3063240"/>
            <a:ext cx="18288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17" name="Shape 15"/>
          <p:cNvSpPr/>
          <p:nvPr/>
        </p:nvSpPr>
        <p:spPr>
          <a:xfrm>
            <a:off x="365760" y="3063240"/>
            <a:ext cx="1828800" cy="320040"/>
          </a:xfrm>
          <a:prstGeom prst="rect">
            <a:avLst/>
          </a:prstGeom>
          <a:solidFill>
            <a:srgbClr val="E53E3E"/>
          </a:solidFill>
          <a:ln/>
        </p:spPr>
      </p:sp>
      <p:sp>
        <p:nvSpPr>
          <p:cNvPr id="18" name="Text 16"/>
          <p:cNvSpPr/>
          <p:nvPr/>
        </p:nvSpPr>
        <p:spPr>
          <a:xfrm>
            <a:off x="365760" y="3063240"/>
            <a:ext cx="1828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ONE value</a:t>
            </a:r>
            <a:endParaRPr lang="en-US" sz="1100" dirty="0"/>
          </a:p>
        </p:txBody>
      </p:sp>
      <p:sp>
        <p:nvSpPr>
          <p:cNvPr id="19" name="Text 17"/>
          <p:cNvSpPr/>
          <p:nvPr/>
        </p:nvSpPr>
        <p:spPr>
          <a:xfrm>
            <a:off x="457200" y="3474720"/>
            <a:ext cx="1645920" cy="320040"/>
          </a:xfrm>
          <a:prstGeom prst="rect">
            <a:avLst/>
          </a:prstGeom>
          <a:noFill/>
          <a:ln/>
        </p:spPr>
        <p:txBody>
          <a:bodyPr wrap="square" lIns="0" tIns="0" rIns="0" bIns="0" rtlCol="0" anchor="ctr"/>
          <a:lstStyle/>
          <a:p>
            <a:pPr algn="ctr" indent="0" marL="0">
              <a:buNone/>
            </a:pPr>
            <a:r>
              <a:rPr lang="en-US" sz="1400" b="1" dirty="0">
                <a:solidFill>
                  <a:srgbClr val="1E2761"/>
                </a:solidFill>
                <a:latin typeface="Georgia" pitchFamily="34" charset="0"/>
                <a:ea typeface="Georgia" pitchFamily="34" charset="-122"/>
                <a:cs typeface="Georgia" pitchFamily="34" charset="-120"/>
              </a:rPr>
              <a:t>z = (x − μ) / σ</a:t>
            </a:r>
            <a:endParaRPr lang="en-US" sz="1400" dirty="0"/>
          </a:p>
        </p:txBody>
      </p:sp>
      <p:sp>
        <p:nvSpPr>
          <p:cNvPr id="20" name="Text 18"/>
          <p:cNvSpPr/>
          <p:nvPr/>
        </p:nvSpPr>
        <p:spPr>
          <a:xfrm>
            <a:off x="457200" y="3794760"/>
            <a:ext cx="1645920" cy="228600"/>
          </a:xfrm>
          <a:prstGeom prst="rect">
            <a:avLst/>
          </a:prstGeom>
          <a:noFill/>
          <a:ln/>
        </p:spPr>
        <p:txBody>
          <a:bodyPr wrap="square" lIns="0" tIns="0" rIns="0" bIns="0"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Use σ</a:t>
            </a:r>
            <a:endParaRPr lang="en-US" sz="1100" dirty="0"/>
          </a:p>
        </p:txBody>
      </p:sp>
      <p:sp>
        <p:nvSpPr>
          <p:cNvPr id="21" name="Shape 19"/>
          <p:cNvSpPr/>
          <p:nvPr/>
        </p:nvSpPr>
        <p:spPr>
          <a:xfrm>
            <a:off x="2468880" y="3063240"/>
            <a:ext cx="1828800" cy="118872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2" name="Shape 20"/>
          <p:cNvSpPr/>
          <p:nvPr/>
        </p:nvSpPr>
        <p:spPr>
          <a:xfrm>
            <a:off x="2468880" y="3063240"/>
            <a:ext cx="1828800" cy="320040"/>
          </a:xfrm>
          <a:prstGeom prst="rect">
            <a:avLst/>
          </a:prstGeom>
          <a:solidFill>
            <a:srgbClr val="028090"/>
          </a:solidFill>
          <a:ln/>
        </p:spPr>
      </p:sp>
      <p:sp>
        <p:nvSpPr>
          <p:cNvPr id="23" name="Text 21"/>
          <p:cNvSpPr/>
          <p:nvPr/>
        </p:nvSpPr>
        <p:spPr>
          <a:xfrm>
            <a:off x="2468880" y="3063240"/>
            <a:ext cx="1828800" cy="32004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SAMPLE MEAN</a:t>
            </a:r>
            <a:endParaRPr lang="en-US" sz="1100" dirty="0"/>
          </a:p>
        </p:txBody>
      </p:sp>
      <p:sp>
        <p:nvSpPr>
          <p:cNvPr id="24" name="Text 22"/>
          <p:cNvSpPr/>
          <p:nvPr/>
        </p:nvSpPr>
        <p:spPr>
          <a:xfrm>
            <a:off x="2560320" y="3474720"/>
            <a:ext cx="1645920" cy="320040"/>
          </a:xfrm>
          <a:prstGeom prst="rect">
            <a:avLst/>
          </a:prstGeom>
          <a:noFill/>
          <a:ln/>
        </p:spPr>
        <p:txBody>
          <a:bodyPr wrap="square" lIns="0" tIns="0" rIns="0" bIns="0" rtlCol="0" anchor="ctr"/>
          <a:lstStyle/>
          <a:p>
            <a:pPr algn="ctr" indent="0" marL="0">
              <a:buNone/>
            </a:pPr>
            <a:r>
              <a:rPr lang="en-US" sz="1300" b="1" dirty="0">
                <a:solidFill>
                  <a:srgbClr val="1E2761"/>
                </a:solidFill>
                <a:latin typeface="Georgia" pitchFamily="34" charset="0"/>
                <a:ea typeface="Georgia" pitchFamily="34" charset="-122"/>
                <a:cs typeface="Georgia" pitchFamily="34" charset="-120"/>
              </a:rPr>
              <a:t>z = (x̄ − μ) / (σ/√n)</a:t>
            </a:r>
            <a:endParaRPr lang="en-US" sz="1300" dirty="0"/>
          </a:p>
        </p:txBody>
      </p:sp>
      <p:sp>
        <p:nvSpPr>
          <p:cNvPr id="25" name="Text 23"/>
          <p:cNvSpPr/>
          <p:nvPr/>
        </p:nvSpPr>
        <p:spPr>
          <a:xfrm>
            <a:off x="2560320" y="3794760"/>
            <a:ext cx="1645920" cy="228600"/>
          </a:xfrm>
          <a:prstGeom prst="rect">
            <a:avLst/>
          </a:prstGeom>
          <a:noFill/>
          <a:ln/>
        </p:spPr>
        <p:txBody>
          <a:bodyPr wrap="square" lIns="0" tIns="0" rIns="0" bIns="0" rtlCol="0" anchor="ctr"/>
          <a:lstStyle/>
          <a:p>
            <a:pPr algn="ctr" indent="0" marL="0">
              <a:buNone/>
            </a:pPr>
            <a:r>
              <a:rPr lang="en-US" sz="1100" dirty="0">
                <a:solidFill>
                  <a:srgbClr val="718096"/>
                </a:solidFill>
                <a:latin typeface="Calibri" pitchFamily="34" charset="0"/>
                <a:ea typeface="Calibri" pitchFamily="34" charset="-122"/>
                <a:cs typeface="Calibri" pitchFamily="34" charset="-120"/>
              </a:rPr>
              <a:t>Use σ/√n</a:t>
            </a:r>
            <a:endParaRPr lang="en-US" sz="1100" dirty="0"/>
          </a:p>
        </p:txBody>
      </p:sp>
      <p:sp>
        <p:nvSpPr>
          <p:cNvPr id="26" name="Shape 24"/>
          <p:cNvSpPr/>
          <p:nvPr/>
        </p:nvSpPr>
        <p:spPr>
          <a:xfrm>
            <a:off x="4846320" y="2423160"/>
            <a:ext cx="3931920" cy="1828800"/>
          </a:xfrm>
          <a:prstGeom prst="rect">
            <a:avLst/>
          </a:prstGeom>
          <a:solidFill>
            <a:srgbClr val="FFFFFF"/>
          </a:solidFill>
          <a:ln/>
          <a:effectLst>
            <a:outerShdw sx="100000" sy="100000" kx="0" ky="0" algn="bl" rotWithShape="0" blurRad="76200" dist="25400" dir="8100000">
              <a:srgbClr val="000000">
                <a:alpha val="15000"/>
              </a:srgbClr>
            </a:outerShdw>
          </a:effectLst>
        </p:spPr>
      </p:sp>
      <p:sp>
        <p:nvSpPr>
          <p:cNvPr id="27" name="Shape 25"/>
          <p:cNvSpPr/>
          <p:nvPr/>
        </p:nvSpPr>
        <p:spPr>
          <a:xfrm>
            <a:off x="4846320" y="2423160"/>
            <a:ext cx="73152" cy="1828800"/>
          </a:xfrm>
          <a:prstGeom prst="rect">
            <a:avLst/>
          </a:prstGeom>
          <a:solidFill>
            <a:srgbClr val="065A82"/>
          </a:solidFill>
          <a:ln/>
        </p:spPr>
      </p:sp>
      <p:sp>
        <p:nvSpPr>
          <p:cNvPr id="28" name="Text 26"/>
          <p:cNvSpPr/>
          <p:nvPr/>
        </p:nvSpPr>
        <p:spPr>
          <a:xfrm>
            <a:off x="5074920" y="2514600"/>
            <a:ext cx="3474720" cy="274320"/>
          </a:xfrm>
          <a:prstGeom prst="rect">
            <a:avLst/>
          </a:prstGeom>
          <a:noFill/>
          <a:ln/>
        </p:spPr>
        <p:txBody>
          <a:bodyPr wrap="square" lIns="0" tIns="0" rIns="0" bIns="0" rtlCol="0" anchor="ctr"/>
          <a:lstStyle/>
          <a:p>
            <a:pPr indent="0" marL="0">
              <a:buNone/>
            </a:pPr>
            <a:r>
              <a:rPr lang="en-US" sz="1300" b="1" dirty="0">
                <a:solidFill>
                  <a:srgbClr val="065A82"/>
                </a:solidFill>
                <a:latin typeface="Georgia" pitchFamily="34" charset="0"/>
                <a:ea typeface="Georgia" pitchFamily="34" charset="-122"/>
                <a:cs typeface="Georgia" pitchFamily="34" charset="-120"/>
              </a:rPr>
              <a:t>Inverse Normal</a:t>
            </a:r>
            <a:endParaRPr lang="en-US" sz="1300" dirty="0"/>
          </a:p>
        </p:txBody>
      </p:sp>
      <p:sp>
        <p:nvSpPr>
          <p:cNvPr id="29" name="Text 27"/>
          <p:cNvSpPr/>
          <p:nvPr/>
        </p:nvSpPr>
        <p:spPr>
          <a:xfrm>
            <a:off x="5074920" y="2834640"/>
            <a:ext cx="3474720" cy="82296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1. Convert to left-tail area</a:t>
            </a:r>
            <a:endParaRPr lang="en-US" sz="1200" dirty="0"/>
          </a:p>
          <a:p>
            <a:pPr indent="0" marL="0">
              <a:buNone/>
            </a:pPr>
            <a:r>
              <a:rPr lang="en-US" sz="1200" dirty="0">
                <a:solidFill>
                  <a:srgbClr val="2D3748"/>
                </a:solidFill>
                <a:latin typeface="Calibri" pitchFamily="34" charset="0"/>
                <a:ea typeface="Calibri" pitchFamily="34" charset="-122"/>
                <a:cs typeface="Calibri" pitchFamily="34" charset="-120"/>
              </a:rPr>
              <a:t>2. Look up area in body of Table 5 → find z</a:t>
            </a:r>
            <a:endParaRPr lang="en-US" sz="1200" dirty="0"/>
          </a:p>
          <a:p>
            <a:pPr indent="0" marL="0">
              <a:buNone/>
            </a:pPr>
            <a:r>
              <a:rPr lang="en-US" sz="1400" b="1" dirty="0">
                <a:solidFill>
                  <a:srgbClr val="1E2761"/>
                </a:solidFill>
                <a:latin typeface="Georgia" pitchFamily="34" charset="0"/>
                <a:ea typeface="Georgia" pitchFamily="34" charset="-122"/>
                <a:cs typeface="Georgia" pitchFamily="34" charset="-120"/>
              </a:rPr>
              <a:t>3. Solve:  x = z · σ + μ</a:t>
            </a:r>
            <a:endParaRPr lang="en-US" sz="1200" dirty="0"/>
          </a:p>
        </p:txBody>
      </p:sp>
      <p:sp>
        <p:nvSpPr>
          <p:cNvPr id="30" name="Text 28"/>
          <p:cNvSpPr/>
          <p:nvPr/>
        </p:nvSpPr>
        <p:spPr>
          <a:xfrm>
            <a:off x="5074920" y="3657600"/>
            <a:ext cx="3474720" cy="365760"/>
          </a:xfrm>
          <a:prstGeom prst="rect">
            <a:avLst/>
          </a:prstGeom>
          <a:noFill/>
          <a:ln/>
        </p:spPr>
        <p:txBody>
          <a:bodyPr wrap="square" lIns="0" tIns="0" rIns="0" bIns="0" rtlCol="0" anchor="ctr"/>
          <a:lstStyle/>
          <a:p>
            <a:pPr indent="0" marL="0">
              <a:buNone/>
            </a:pPr>
            <a:r>
              <a:rPr lang="en-US" sz="1100" i="1" dirty="0">
                <a:solidFill>
                  <a:srgbClr val="718096"/>
                </a:solidFill>
                <a:latin typeface="Calibri" pitchFamily="34" charset="0"/>
                <a:ea typeface="Calibri" pitchFamily="34" charset="-122"/>
                <a:cs typeface="Calibri" pitchFamily="34" charset="-120"/>
              </a:rPr>
              <a:t>Guarantee problems, percentile</a:t>
            </a:r>
            <a:endParaRPr lang="en-US" sz="1100" dirty="0"/>
          </a:p>
          <a:p>
            <a:pPr indent="0" marL="0">
              <a:buNone/>
            </a:pPr>
            <a:r>
              <a:rPr lang="en-US" sz="1100" i="1" dirty="0">
                <a:solidFill>
                  <a:srgbClr val="718096"/>
                </a:solidFill>
                <a:latin typeface="Calibri" pitchFamily="34" charset="0"/>
                <a:ea typeface="Calibri" pitchFamily="34" charset="-122"/>
                <a:cs typeface="Calibri" pitchFamily="34" charset="-120"/>
              </a:rPr>
              <a:t>problems, cutoff problems</a:t>
            </a:r>
            <a:endParaRPr lang="en-US" sz="1100" dirty="0"/>
          </a:p>
        </p:txBody>
      </p:sp>
      <p:sp>
        <p:nvSpPr>
          <p:cNvPr id="31" name="Shape 29"/>
          <p:cNvSpPr/>
          <p:nvPr/>
        </p:nvSpPr>
        <p:spPr>
          <a:xfrm>
            <a:off x="548640" y="4480560"/>
            <a:ext cx="8046720" cy="457200"/>
          </a:xfrm>
          <a:prstGeom prst="rect">
            <a:avLst/>
          </a:prstGeom>
          <a:solidFill>
            <a:srgbClr val="E6FFFA"/>
          </a:solidFill>
          <a:ln/>
          <a:effectLst>
            <a:outerShdw sx="100000" sy="100000" kx="0" ky="0" algn="bl" rotWithShape="0" blurRad="76200" dist="25400" dir="8100000">
              <a:srgbClr val="000000">
                <a:alpha val="15000"/>
              </a:srgbClr>
            </a:outerShdw>
          </a:effectLst>
        </p:spPr>
      </p:sp>
      <p:sp>
        <p:nvSpPr>
          <p:cNvPr id="32" name="Text 30"/>
          <p:cNvSpPr/>
          <p:nvPr/>
        </p:nvSpPr>
        <p:spPr>
          <a:xfrm>
            <a:off x="777240" y="4498848"/>
            <a:ext cx="7589520" cy="411480"/>
          </a:xfrm>
          <a:prstGeom prst="rect">
            <a:avLst/>
          </a:prstGeom>
          <a:noFill/>
          <a:ln/>
        </p:spPr>
        <p:txBody>
          <a:bodyPr wrap="square" lIns="0" tIns="0" rIns="0" bIns="0" rtlCol="0" anchor="ctr"/>
          <a:lstStyle/>
          <a:p>
            <a:pPr indent="0" marL="0">
              <a:buNone/>
            </a:pPr>
            <a:r>
              <a:rPr lang="en-US" sz="1200" dirty="0">
                <a:solidFill>
                  <a:srgbClr val="2D3748"/>
                </a:solidFill>
                <a:latin typeface="Calibri" pitchFamily="34" charset="0"/>
                <a:ea typeface="Calibri" pitchFamily="34" charset="-122"/>
                <a:cs typeface="Calibri" pitchFamily="34" charset="-120"/>
              </a:rPr>
              <a:t>Exam tip: Read the problem and circle the key words — "one person" → use σ,  "sample of 30" → use σ/√n,  "what value" → inverse</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Common Mistakes to Avoid</a:t>
            </a:r>
            <a:endParaRPr lang="en-US" sz="2600" dirty="0"/>
          </a:p>
        </p:txBody>
      </p:sp>
      <p:sp>
        <p:nvSpPr>
          <p:cNvPr id="5" name="Shape 3"/>
          <p:cNvSpPr/>
          <p:nvPr/>
        </p:nvSpPr>
        <p:spPr>
          <a:xfrm>
            <a:off x="548640" y="109728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6" name="Image 0" descr="preencoded.png">    </p:cNvPr>
          <p:cNvPicPr>
            <a:picLocks noChangeAspect="1"/>
          </p:cNvPicPr>
          <p:nvPr/>
        </p:nvPicPr>
        <p:blipFill>
          <a:blip r:embed="rId1"/>
          <a:stretch>
            <a:fillRect/>
          </a:stretch>
        </p:blipFill>
        <p:spPr>
          <a:xfrm>
            <a:off x="685800" y="1170432"/>
            <a:ext cx="228600" cy="228600"/>
          </a:xfrm>
          <a:prstGeom prst="rect">
            <a:avLst/>
          </a:prstGeom>
        </p:spPr>
      </p:pic>
      <p:sp>
        <p:nvSpPr>
          <p:cNvPr id="7" name="Text 4"/>
          <p:cNvSpPr/>
          <p:nvPr/>
        </p:nvSpPr>
        <p:spPr>
          <a:xfrm>
            <a:off x="1051560" y="1143000"/>
            <a:ext cx="3200400" cy="274320"/>
          </a:xfrm>
          <a:prstGeom prst="rect">
            <a:avLst/>
          </a:prstGeom>
          <a:noFill/>
          <a:ln/>
        </p:spPr>
        <p:txBody>
          <a:bodyPr wrap="square" lIns="0" tIns="0" rIns="0" bIns="0" rtlCol="0" anchor="ctr"/>
          <a:lstStyle/>
          <a:p>
            <a:pPr indent="0" marL="0">
              <a:buNone/>
            </a:pPr>
            <a:r>
              <a:rPr lang="en-US" sz="1200" b="1" dirty="0">
                <a:solidFill>
                  <a:srgbClr val="E53E3E"/>
                </a:solidFill>
                <a:latin typeface="Georgia" pitchFamily="34" charset="0"/>
                <a:ea typeface="Georgia" pitchFamily="34" charset="-122"/>
                <a:cs typeface="Georgia" pitchFamily="34" charset="-120"/>
              </a:rPr>
              <a:t>Confusing z-scores and areas</a:t>
            </a:r>
            <a:endParaRPr lang="en-US" sz="1200" dirty="0"/>
          </a:p>
        </p:txBody>
      </p:sp>
      <p:sp>
        <p:nvSpPr>
          <p:cNvPr id="8" name="Text 5"/>
          <p:cNvSpPr/>
          <p:nvPr/>
        </p:nvSpPr>
        <p:spPr>
          <a:xfrm>
            <a:off x="4206240" y="114300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Z-scores are positions on the x-axis. Areas are probabilities (regions under the curve). The table converts between them.</a:t>
            </a:r>
            <a:endParaRPr lang="en-US" sz="1100" dirty="0"/>
          </a:p>
        </p:txBody>
      </p:sp>
      <p:sp>
        <p:nvSpPr>
          <p:cNvPr id="9" name="Shape 6"/>
          <p:cNvSpPr/>
          <p:nvPr/>
        </p:nvSpPr>
        <p:spPr>
          <a:xfrm>
            <a:off x="548640" y="187452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10" name="Image 1" descr="preencoded.png">    </p:cNvPr>
          <p:cNvPicPr>
            <a:picLocks noChangeAspect="1"/>
          </p:cNvPicPr>
          <p:nvPr/>
        </p:nvPicPr>
        <p:blipFill>
          <a:blip r:embed="rId2"/>
          <a:stretch>
            <a:fillRect/>
          </a:stretch>
        </p:blipFill>
        <p:spPr>
          <a:xfrm>
            <a:off x="685800" y="1947672"/>
            <a:ext cx="228600" cy="228600"/>
          </a:xfrm>
          <a:prstGeom prst="rect">
            <a:avLst/>
          </a:prstGeom>
        </p:spPr>
      </p:pic>
      <p:sp>
        <p:nvSpPr>
          <p:cNvPr id="11" name="Text 7"/>
          <p:cNvSpPr/>
          <p:nvPr/>
        </p:nvSpPr>
        <p:spPr>
          <a:xfrm>
            <a:off x="1051560" y="1920240"/>
            <a:ext cx="3200400" cy="274320"/>
          </a:xfrm>
          <a:prstGeom prst="rect">
            <a:avLst/>
          </a:prstGeom>
          <a:noFill/>
          <a:ln/>
        </p:spPr>
        <p:txBody>
          <a:bodyPr wrap="square" lIns="0" tIns="0" rIns="0" bIns="0" rtlCol="0" anchor="ctr"/>
          <a:lstStyle/>
          <a:p>
            <a:pPr indent="0" marL="0">
              <a:buNone/>
            </a:pPr>
            <a:r>
              <a:rPr lang="en-US" sz="1200" b="1" dirty="0">
                <a:solidFill>
                  <a:srgbClr val="E53E3E"/>
                </a:solidFill>
                <a:latin typeface="Georgia" pitchFamily="34" charset="0"/>
                <a:ea typeface="Georgia" pitchFamily="34" charset="-122"/>
                <a:cs typeface="Georgia" pitchFamily="34" charset="-120"/>
              </a:rPr>
              <a:t>Forgetting to subtract from 1 for right-tail</a:t>
            </a:r>
            <a:endParaRPr lang="en-US" sz="1200" dirty="0"/>
          </a:p>
        </p:txBody>
      </p:sp>
      <p:sp>
        <p:nvSpPr>
          <p:cNvPr id="12" name="Text 8"/>
          <p:cNvSpPr/>
          <p:nvPr/>
        </p:nvSpPr>
        <p:spPr>
          <a:xfrm>
            <a:off x="4206240" y="192024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Table gives LEFT-tail area. For P(z &gt; a), always compute 1 − P(z &lt; a).</a:t>
            </a:r>
            <a:endParaRPr lang="en-US" sz="1100" dirty="0"/>
          </a:p>
        </p:txBody>
      </p:sp>
      <p:sp>
        <p:nvSpPr>
          <p:cNvPr id="13" name="Shape 9"/>
          <p:cNvSpPr/>
          <p:nvPr/>
        </p:nvSpPr>
        <p:spPr>
          <a:xfrm>
            <a:off x="548640" y="265176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14" name="Image 2" descr="preencoded.png">    </p:cNvPr>
          <p:cNvPicPr>
            <a:picLocks noChangeAspect="1"/>
          </p:cNvPicPr>
          <p:nvPr/>
        </p:nvPicPr>
        <p:blipFill>
          <a:blip r:embed="rId3"/>
          <a:stretch>
            <a:fillRect/>
          </a:stretch>
        </p:blipFill>
        <p:spPr>
          <a:xfrm>
            <a:off x="685800" y="2724912"/>
            <a:ext cx="228600" cy="228600"/>
          </a:xfrm>
          <a:prstGeom prst="rect">
            <a:avLst/>
          </a:prstGeom>
        </p:spPr>
      </p:pic>
      <p:sp>
        <p:nvSpPr>
          <p:cNvPr id="15" name="Text 10"/>
          <p:cNvSpPr/>
          <p:nvPr/>
        </p:nvSpPr>
        <p:spPr>
          <a:xfrm>
            <a:off x="1051560" y="2697480"/>
            <a:ext cx="3200400" cy="274320"/>
          </a:xfrm>
          <a:prstGeom prst="rect">
            <a:avLst/>
          </a:prstGeom>
          <a:noFill/>
          <a:ln/>
        </p:spPr>
        <p:txBody>
          <a:bodyPr wrap="square" lIns="0" tIns="0" rIns="0" bIns="0" rtlCol="0" anchor="ctr"/>
          <a:lstStyle/>
          <a:p>
            <a:pPr indent="0" marL="0">
              <a:buNone/>
            </a:pPr>
            <a:r>
              <a:rPr lang="en-US" sz="1200" b="1" dirty="0">
                <a:solidFill>
                  <a:srgbClr val="E53E3E"/>
                </a:solidFill>
                <a:latin typeface="Georgia" pitchFamily="34" charset="0"/>
                <a:ea typeface="Georgia" pitchFamily="34" charset="-122"/>
                <a:cs typeface="Georgia" pitchFamily="34" charset="-120"/>
              </a:rPr>
              <a:t>Using σ instead of σ/√n for sample means</a:t>
            </a:r>
            <a:endParaRPr lang="en-US" sz="1200" dirty="0"/>
          </a:p>
        </p:txBody>
      </p:sp>
      <p:sp>
        <p:nvSpPr>
          <p:cNvPr id="16" name="Text 11"/>
          <p:cNvSpPr/>
          <p:nvPr/>
        </p:nvSpPr>
        <p:spPr>
          <a:xfrm>
            <a:off x="4206240" y="269748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Read the problem: if it mentions a sample of n, use σ/√n as the denominator.</a:t>
            </a:r>
            <a:endParaRPr lang="en-US" sz="1100" dirty="0"/>
          </a:p>
        </p:txBody>
      </p:sp>
      <p:sp>
        <p:nvSpPr>
          <p:cNvPr id="17" name="Shape 12"/>
          <p:cNvSpPr/>
          <p:nvPr/>
        </p:nvSpPr>
        <p:spPr>
          <a:xfrm>
            <a:off x="548640" y="342900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18" name="Image 3" descr="preencoded.png">    </p:cNvPr>
          <p:cNvPicPr>
            <a:picLocks noChangeAspect="1"/>
          </p:cNvPicPr>
          <p:nvPr/>
        </p:nvPicPr>
        <p:blipFill>
          <a:blip r:embed="rId4"/>
          <a:stretch>
            <a:fillRect/>
          </a:stretch>
        </p:blipFill>
        <p:spPr>
          <a:xfrm>
            <a:off x="685800" y="3502152"/>
            <a:ext cx="228600" cy="228600"/>
          </a:xfrm>
          <a:prstGeom prst="rect">
            <a:avLst/>
          </a:prstGeom>
        </p:spPr>
      </p:pic>
      <p:sp>
        <p:nvSpPr>
          <p:cNvPr id="19" name="Text 13"/>
          <p:cNvSpPr/>
          <p:nvPr/>
        </p:nvSpPr>
        <p:spPr>
          <a:xfrm>
            <a:off x="1051560" y="3474720"/>
            <a:ext cx="3200400" cy="274320"/>
          </a:xfrm>
          <a:prstGeom prst="rect">
            <a:avLst/>
          </a:prstGeom>
          <a:noFill/>
          <a:ln/>
        </p:spPr>
        <p:txBody>
          <a:bodyPr wrap="square" lIns="0" tIns="0" rIns="0" bIns="0" rtlCol="0" anchor="ctr"/>
          <a:lstStyle/>
          <a:p>
            <a:pPr indent="0" marL="0">
              <a:buNone/>
            </a:pPr>
            <a:r>
              <a:rPr lang="en-US" sz="1200" b="1" dirty="0">
                <a:solidFill>
                  <a:srgbClr val="E53E3E"/>
                </a:solidFill>
                <a:latin typeface="Georgia" pitchFamily="34" charset="0"/>
                <a:ea typeface="Georgia" pitchFamily="34" charset="-122"/>
                <a:cs typeface="Georgia" pitchFamily="34" charset="-120"/>
              </a:rPr>
              <a:t>Dropping negative signs on z</a:t>
            </a:r>
            <a:endParaRPr lang="en-US" sz="1200" dirty="0"/>
          </a:p>
        </p:txBody>
      </p:sp>
      <p:sp>
        <p:nvSpPr>
          <p:cNvPr id="20" name="Text 14"/>
          <p:cNvSpPr/>
          <p:nvPr/>
        </p:nvSpPr>
        <p:spPr>
          <a:xfrm>
            <a:off x="4206240" y="347472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If x &lt; μ, then z MUST be negative. If your z is positive but x is below the mean, you made a sign error.</a:t>
            </a:r>
            <a:endParaRPr lang="en-US" sz="1100" dirty="0"/>
          </a:p>
        </p:txBody>
      </p:sp>
      <p:sp>
        <p:nvSpPr>
          <p:cNvPr id="21" name="Shape 15"/>
          <p:cNvSpPr/>
          <p:nvPr/>
        </p:nvSpPr>
        <p:spPr>
          <a:xfrm>
            <a:off x="548640" y="420624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22" name="Image 4" descr="preencoded.png">    </p:cNvPr>
          <p:cNvPicPr>
            <a:picLocks noChangeAspect="1"/>
          </p:cNvPicPr>
          <p:nvPr/>
        </p:nvPicPr>
        <p:blipFill>
          <a:blip r:embed="rId5"/>
          <a:stretch>
            <a:fillRect/>
          </a:stretch>
        </p:blipFill>
        <p:spPr>
          <a:xfrm>
            <a:off x="685800" y="4279392"/>
            <a:ext cx="228600" cy="228600"/>
          </a:xfrm>
          <a:prstGeom prst="rect">
            <a:avLst/>
          </a:prstGeom>
        </p:spPr>
      </p:pic>
      <p:sp>
        <p:nvSpPr>
          <p:cNvPr id="23" name="Text 16"/>
          <p:cNvSpPr/>
          <p:nvPr/>
        </p:nvSpPr>
        <p:spPr>
          <a:xfrm>
            <a:off x="1051560" y="4251960"/>
            <a:ext cx="3200400" cy="274320"/>
          </a:xfrm>
          <a:prstGeom prst="rect">
            <a:avLst/>
          </a:prstGeom>
          <a:noFill/>
          <a:ln/>
        </p:spPr>
        <p:txBody>
          <a:bodyPr wrap="square" lIns="0" tIns="0" rIns="0" bIns="0" rtlCol="0" anchor="ctr"/>
          <a:lstStyle/>
          <a:p>
            <a:pPr indent="0" marL="0">
              <a:buNone/>
            </a:pPr>
            <a:r>
              <a:rPr lang="en-US" sz="1200" b="1" dirty="0">
                <a:solidFill>
                  <a:srgbClr val="E53E3E"/>
                </a:solidFill>
                <a:latin typeface="Georgia" pitchFamily="34" charset="0"/>
                <a:ea typeface="Georgia" pitchFamily="34" charset="-122"/>
                <a:cs typeface="Georgia" pitchFamily="34" charset="-120"/>
              </a:rPr>
              <a:t>Reading the z-table wrong direction for inverse</a:t>
            </a:r>
            <a:endParaRPr lang="en-US" sz="1200" dirty="0"/>
          </a:p>
        </p:txBody>
      </p:sp>
      <p:sp>
        <p:nvSpPr>
          <p:cNvPr id="24" name="Text 17"/>
          <p:cNvSpPr/>
          <p:nvPr/>
        </p:nvSpPr>
        <p:spPr>
          <a:xfrm>
            <a:off x="4206240" y="425196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Forward: find z in margins → read area in body. Inverse: find area in body → read z in margins.</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FF4F9"/>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28090"/>
          </a:solidFill>
          <a:ln/>
        </p:spPr>
      </p:sp>
      <p:sp>
        <p:nvSpPr>
          <p:cNvPr id="3" name="Text 1"/>
          <p:cNvSpPr/>
          <p:nvPr/>
        </p:nvSpPr>
        <p:spPr>
          <a:xfrm>
            <a:off x="548640" y="228600"/>
            <a:ext cx="3657600" cy="274320"/>
          </a:xfrm>
          <a:prstGeom prst="rect">
            <a:avLst/>
          </a:prstGeom>
          <a:noFill/>
          <a:ln/>
        </p:spPr>
        <p:txBody>
          <a:bodyPr wrap="square" lIns="0" tIns="0" rIns="0" bIns="0" rtlCol="0" anchor="ctr"/>
          <a:lstStyle/>
          <a:p>
            <a:pPr indent="0" marL="0">
              <a:buNone/>
            </a:pPr>
            <a:r>
              <a:rPr lang="en-US" sz="1000" b="1" spc="300" kern="0" dirty="0">
                <a:solidFill>
                  <a:srgbClr val="028090"/>
                </a:solidFill>
                <a:latin typeface="Calibri" pitchFamily="34" charset="0"/>
                <a:ea typeface="Calibri" pitchFamily="34" charset="-122"/>
                <a:cs typeface="Calibri" pitchFamily="34" charset="-120"/>
              </a:rPr>
              <a:t>SUMMARY</a:t>
            </a:r>
            <a:endParaRPr lang="en-US" sz="1000" dirty="0"/>
          </a:p>
        </p:txBody>
      </p:sp>
      <p:sp>
        <p:nvSpPr>
          <p:cNvPr id="4" name="Text 2"/>
          <p:cNvSpPr/>
          <p:nvPr/>
        </p:nvSpPr>
        <p:spPr>
          <a:xfrm>
            <a:off x="548640" y="457200"/>
            <a:ext cx="8046720" cy="502920"/>
          </a:xfrm>
          <a:prstGeom prst="rect">
            <a:avLst/>
          </a:prstGeom>
          <a:noFill/>
          <a:ln/>
        </p:spPr>
        <p:txBody>
          <a:bodyPr wrap="square" lIns="0" tIns="0" rIns="0" bIns="0" rtlCol="0" anchor="ctr"/>
          <a:lstStyle/>
          <a:p>
            <a:pPr indent="0" marL="0">
              <a:buNone/>
            </a:pPr>
            <a:r>
              <a:rPr lang="en-US" sz="2600" b="1" dirty="0">
                <a:solidFill>
                  <a:srgbClr val="1E2761"/>
                </a:solidFill>
                <a:latin typeface="Georgia" pitchFamily="34" charset="0"/>
                <a:ea typeface="Georgia" pitchFamily="34" charset="-122"/>
                <a:cs typeface="Georgia" pitchFamily="34" charset="-120"/>
              </a:rPr>
              <a:t>Sanity Checks: Catch Your Own Errors</a:t>
            </a:r>
            <a:endParaRPr lang="en-US" sz="2600" dirty="0"/>
          </a:p>
        </p:txBody>
      </p:sp>
      <p:sp>
        <p:nvSpPr>
          <p:cNvPr id="5" name="Shape 3"/>
          <p:cNvSpPr/>
          <p:nvPr/>
        </p:nvSpPr>
        <p:spPr>
          <a:xfrm>
            <a:off x="548640" y="105156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6" name="Image 0" descr="preencoded.png">    </p:cNvPr>
          <p:cNvPicPr>
            <a:picLocks noChangeAspect="1"/>
          </p:cNvPicPr>
          <p:nvPr/>
        </p:nvPicPr>
        <p:blipFill>
          <a:blip r:embed="rId1"/>
          <a:stretch>
            <a:fillRect/>
          </a:stretch>
        </p:blipFill>
        <p:spPr>
          <a:xfrm>
            <a:off x="685800" y="1124712"/>
            <a:ext cx="228600" cy="228600"/>
          </a:xfrm>
          <a:prstGeom prst="rect">
            <a:avLst/>
          </a:prstGeom>
        </p:spPr>
      </p:pic>
      <p:sp>
        <p:nvSpPr>
          <p:cNvPr id="7" name="Text 4"/>
          <p:cNvSpPr/>
          <p:nvPr/>
        </p:nvSpPr>
        <p:spPr>
          <a:xfrm>
            <a:off x="1051560" y="1097280"/>
            <a:ext cx="310896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If x &gt; μ, then z must be positive</a:t>
            </a:r>
            <a:endParaRPr lang="en-US" sz="1200" dirty="0"/>
          </a:p>
        </p:txBody>
      </p:sp>
      <p:sp>
        <p:nvSpPr>
          <p:cNvPr id="8" name="Text 5"/>
          <p:cNvSpPr/>
          <p:nvPr/>
        </p:nvSpPr>
        <p:spPr>
          <a:xfrm>
            <a:off x="4206240" y="109728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A value above the mean is always a positive z-score. If your z is negative but x &gt; μ, you subtracted in the wrong order.</a:t>
            </a:r>
            <a:endParaRPr lang="en-US" sz="1100" dirty="0"/>
          </a:p>
        </p:txBody>
      </p:sp>
      <p:sp>
        <p:nvSpPr>
          <p:cNvPr id="9" name="Shape 6"/>
          <p:cNvSpPr/>
          <p:nvPr/>
        </p:nvSpPr>
        <p:spPr>
          <a:xfrm>
            <a:off x="548640" y="182880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10" name="Image 1" descr="preencoded.png">    </p:cNvPr>
          <p:cNvPicPr>
            <a:picLocks noChangeAspect="1"/>
          </p:cNvPicPr>
          <p:nvPr/>
        </p:nvPicPr>
        <p:blipFill>
          <a:blip r:embed="rId2"/>
          <a:stretch>
            <a:fillRect/>
          </a:stretch>
        </p:blipFill>
        <p:spPr>
          <a:xfrm>
            <a:off x="685800" y="1901952"/>
            <a:ext cx="228600" cy="228600"/>
          </a:xfrm>
          <a:prstGeom prst="rect">
            <a:avLst/>
          </a:prstGeom>
        </p:spPr>
      </p:pic>
      <p:sp>
        <p:nvSpPr>
          <p:cNvPr id="11" name="Text 7"/>
          <p:cNvSpPr/>
          <p:nvPr/>
        </p:nvSpPr>
        <p:spPr>
          <a:xfrm>
            <a:off x="1051560" y="1874520"/>
            <a:ext cx="310896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If x &lt; μ, then z must be negative</a:t>
            </a:r>
            <a:endParaRPr lang="en-US" sz="1200" dirty="0"/>
          </a:p>
        </p:txBody>
      </p:sp>
      <p:sp>
        <p:nvSpPr>
          <p:cNvPr id="12" name="Text 8"/>
          <p:cNvSpPr/>
          <p:nvPr/>
        </p:nvSpPr>
        <p:spPr>
          <a:xfrm>
            <a:off x="4206240" y="187452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Same logic in reverse. Below the mean = negative z. Always.</a:t>
            </a:r>
            <a:endParaRPr lang="en-US" sz="1100" dirty="0"/>
          </a:p>
        </p:txBody>
      </p:sp>
      <p:sp>
        <p:nvSpPr>
          <p:cNvPr id="13" name="Shape 9"/>
          <p:cNvSpPr/>
          <p:nvPr/>
        </p:nvSpPr>
        <p:spPr>
          <a:xfrm>
            <a:off x="548640" y="260604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14" name="Image 2" descr="preencoded.png">    </p:cNvPr>
          <p:cNvPicPr>
            <a:picLocks noChangeAspect="1"/>
          </p:cNvPicPr>
          <p:nvPr/>
        </p:nvPicPr>
        <p:blipFill>
          <a:blip r:embed="rId3"/>
          <a:stretch>
            <a:fillRect/>
          </a:stretch>
        </p:blipFill>
        <p:spPr>
          <a:xfrm>
            <a:off x="685800" y="2679192"/>
            <a:ext cx="228600" cy="228600"/>
          </a:xfrm>
          <a:prstGeom prst="rect">
            <a:avLst/>
          </a:prstGeom>
        </p:spPr>
      </p:pic>
      <p:sp>
        <p:nvSpPr>
          <p:cNvPr id="15" name="Text 10"/>
          <p:cNvSpPr/>
          <p:nvPr/>
        </p:nvSpPr>
        <p:spPr>
          <a:xfrm>
            <a:off x="1051560" y="2651760"/>
            <a:ext cx="310896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Probabilities are always between 0 and 1</a:t>
            </a:r>
            <a:endParaRPr lang="en-US" sz="1200" dirty="0"/>
          </a:p>
        </p:txBody>
      </p:sp>
      <p:sp>
        <p:nvSpPr>
          <p:cNvPr id="16" name="Text 11"/>
          <p:cNvSpPr/>
          <p:nvPr/>
        </p:nvSpPr>
        <p:spPr>
          <a:xfrm>
            <a:off x="4206240" y="265176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If you get a negative probability or something greater than 1, you made an arithmetic or table-reading error.</a:t>
            </a:r>
            <a:endParaRPr lang="en-US" sz="1100" dirty="0"/>
          </a:p>
        </p:txBody>
      </p:sp>
      <p:sp>
        <p:nvSpPr>
          <p:cNvPr id="17" name="Shape 12"/>
          <p:cNvSpPr/>
          <p:nvPr/>
        </p:nvSpPr>
        <p:spPr>
          <a:xfrm>
            <a:off x="548640" y="338328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18" name="Image 3" descr="preencoded.png">    </p:cNvPr>
          <p:cNvPicPr>
            <a:picLocks noChangeAspect="1"/>
          </p:cNvPicPr>
          <p:nvPr/>
        </p:nvPicPr>
        <p:blipFill>
          <a:blip r:embed="rId4"/>
          <a:stretch>
            <a:fillRect/>
          </a:stretch>
        </p:blipFill>
        <p:spPr>
          <a:xfrm>
            <a:off x="685800" y="3456432"/>
            <a:ext cx="228600" cy="228600"/>
          </a:xfrm>
          <a:prstGeom prst="rect">
            <a:avLst/>
          </a:prstGeom>
        </p:spPr>
      </p:pic>
      <p:sp>
        <p:nvSpPr>
          <p:cNvPr id="19" name="Text 13"/>
          <p:cNvSpPr/>
          <p:nvPr/>
        </p:nvSpPr>
        <p:spPr>
          <a:xfrm>
            <a:off x="1051560" y="3429000"/>
            <a:ext cx="310896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Areas near the center ≈ 0.5, tails &lt; 0.5</a:t>
            </a:r>
            <a:endParaRPr lang="en-US" sz="1200" dirty="0"/>
          </a:p>
        </p:txBody>
      </p:sp>
      <p:sp>
        <p:nvSpPr>
          <p:cNvPr id="20" name="Text 14"/>
          <p:cNvSpPr/>
          <p:nvPr/>
        </p:nvSpPr>
        <p:spPr>
          <a:xfrm>
            <a:off x="4206240" y="342900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If a value is close to the mean, P(x &lt; value) should be near 0.5. A value far from μ should give a very small or very large area.</a:t>
            </a:r>
            <a:endParaRPr lang="en-US" sz="1100" dirty="0"/>
          </a:p>
        </p:txBody>
      </p:sp>
      <p:sp>
        <p:nvSpPr>
          <p:cNvPr id="21" name="Shape 15"/>
          <p:cNvSpPr/>
          <p:nvPr/>
        </p:nvSpPr>
        <p:spPr>
          <a:xfrm>
            <a:off x="548640" y="4160520"/>
            <a:ext cx="8046720" cy="640080"/>
          </a:xfrm>
          <a:prstGeom prst="rect">
            <a:avLst/>
          </a:prstGeom>
          <a:solidFill>
            <a:srgbClr val="FFFFFF"/>
          </a:solidFill>
          <a:ln/>
          <a:effectLst>
            <a:outerShdw sx="100000" sy="100000" kx="0" ky="0" algn="bl" rotWithShape="0" blurRad="76200" dist="25400" dir="8100000">
              <a:srgbClr val="000000">
                <a:alpha val="15000"/>
              </a:srgbClr>
            </a:outerShdw>
          </a:effectLst>
        </p:spPr>
      </p:sp>
      <p:pic>
        <p:nvPicPr>
          <p:cNvPr id="22" name="Image 4" descr="preencoded.png">    </p:cNvPr>
          <p:cNvPicPr>
            <a:picLocks noChangeAspect="1"/>
          </p:cNvPicPr>
          <p:nvPr/>
        </p:nvPicPr>
        <p:blipFill>
          <a:blip r:embed="rId5"/>
          <a:stretch>
            <a:fillRect/>
          </a:stretch>
        </p:blipFill>
        <p:spPr>
          <a:xfrm>
            <a:off x="685800" y="4233672"/>
            <a:ext cx="228600" cy="228600"/>
          </a:xfrm>
          <a:prstGeom prst="rect">
            <a:avLst/>
          </a:prstGeom>
        </p:spPr>
      </p:pic>
      <p:sp>
        <p:nvSpPr>
          <p:cNvPr id="23" name="Text 16"/>
          <p:cNvSpPr/>
          <p:nvPr/>
        </p:nvSpPr>
        <p:spPr>
          <a:xfrm>
            <a:off x="1051560" y="4206240"/>
            <a:ext cx="3108960" cy="274320"/>
          </a:xfrm>
          <a:prstGeom prst="rect">
            <a:avLst/>
          </a:prstGeom>
          <a:noFill/>
          <a:ln/>
        </p:spPr>
        <p:txBody>
          <a:bodyPr wrap="square" lIns="0" tIns="0" rIns="0" bIns="0" rtlCol="0" anchor="ctr"/>
          <a:lstStyle/>
          <a:p>
            <a:pPr indent="0" marL="0">
              <a:buNone/>
            </a:pPr>
            <a:r>
              <a:rPr lang="en-US" sz="1200" b="1" dirty="0">
                <a:solidFill>
                  <a:srgbClr val="1E2761"/>
                </a:solidFill>
                <a:latin typeface="Georgia" pitchFamily="34" charset="0"/>
                <a:ea typeface="Georgia" pitchFamily="34" charset="-122"/>
                <a:cs typeface="Georgia" pitchFamily="34" charset="-120"/>
              </a:rPr>
              <a:t>Sample mean probabilities are more extreme</a:t>
            </a:r>
            <a:endParaRPr lang="en-US" sz="1200" dirty="0"/>
          </a:p>
        </p:txBody>
      </p:sp>
      <p:sp>
        <p:nvSpPr>
          <p:cNvPr id="24" name="Text 17"/>
          <p:cNvSpPr/>
          <p:nvPr/>
        </p:nvSpPr>
        <p:spPr>
          <a:xfrm>
            <a:off x="4206240" y="4206240"/>
            <a:ext cx="4206240" cy="548640"/>
          </a:xfrm>
          <a:prstGeom prst="rect">
            <a:avLst/>
          </a:prstGeom>
          <a:noFill/>
          <a:ln/>
        </p:spPr>
        <p:txBody>
          <a:bodyPr wrap="square" lIns="0" tIns="0" rIns="0" bIns="0" rtlCol="0" anchor="ctr"/>
          <a:lstStyle/>
          <a:p>
            <a:pPr indent="0" marL="0">
              <a:buNone/>
            </a:pPr>
            <a:r>
              <a:rPr lang="en-US" sz="1100" dirty="0">
                <a:solidFill>
                  <a:srgbClr val="2D3748"/>
                </a:solidFill>
                <a:latin typeface="Calibri" pitchFamily="34" charset="0"/>
                <a:ea typeface="Calibri" pitchFamily="34" charset="-122"/>
                <a:cs typeface="Calibri" pitchFamily="34" charset="-120"/>
              </a:rPr>
              <a:t>For the same cutoff, P(x̄ &gt; value) should be further from 0.5 than P(x &gt; value). If your CLT answer is LESS extreme, check your denominator — you may have used σ instead of σ/√n.</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2286000"/>
            <a:ext cx="9144000" cy="54864"/>
          </a:xfrm>
          <a:prstGeom prst="rect">
            <a:avLst/>
          </a:prstGeom>
          <a:solidFill>
            <a:srgbClr val="028090"/>
          </a:solidFill>
          <a:ln/>
        </p:spPr>
      </p:sp>
      <p:sp>
        <p:nvSpPr>
          <p:cNvPr id="3" name="Text 1"/>
          <p:cNvSpPr/>
          <p:nvPr/>
        </p:nvSpPr>
        <p:spPr>
          <a:xfrm>
            <a:off x="731520" y="1097280"/>
            <a:ext cx="7680960" cy="54864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What's Next?</a:t>
            </a:r>
            <a:endParaRPr lang="en-US" sz="3600" dirty="0"/>
          </a:p>
        </p:txBody>
      </p:sp>
      <p:sp>
        <p:nvSpPr>
          <p:cNvPr id="4" name="Text 2"/>
          <p:cNvSpPr/>
          <p:nvPr/>
        </p:nvSpPr>
        <p:spPr>
          <a:xfrm>
            <a:off x="731520" y="1691640"/>
            <a:ext cx="7680960" cy="365760"/>
          </a:xfrm>
          <a:prstGeom prst="rect">
            <a:avLst/>
          </a:prstGeom>
          <a:noFill/>
          <a:ln/>
        </p:spPr>
        <p:txBody>
          <a:bodyPr wrap="square" lIns="0" tIns="0" rIns="0" bIns="0" rtlCol="0" anchor="ctr"/>
          <a:lstStyle/>
          <a:p>
            <a:pPr indent="0" marL="0">
              <a:buNone/>
            </a:pPr>
            <a:r>
              <a:rPr lang="en-US" sz="1600" dirty="0">
                <a:solidFill>
                  <a:srgbClr val="CADCFC"/>
                </a:solidFill>
                <a:latin typeface="Calibri" pitchFamily="34" charset="0"/>
                <a:ea typeface="Calibri" pitchFamily="34" charset="-122"/>
                <a:cs typeface="Calibri" pitchFamily="34" charset="-120"/>
              </a:rPr>
              <a:t>These concepts are the foundation for:</a:t>
            </a:r>
            <a:endParaRPr lang="en-US" sz="1600" dirty="0"/>
          </a:p>
        </p:txBody>
      </p:sp>
      <p:pic>
        <p:nvPicPr>
          <p:cNvPr id="5" name="Image 0" descr="preencoded.png">    </p:cNvPr>
          <p:cNvPicPr>
            <a:picLocks noChangeAspect="1"/>
          </p:cNvPicPr>
          <p:nvPr/>
        </p:nvPicPr>
        <p:blipFill>
          <a:blip r:embed="rId1"/>
          <a:stretch>
            <a:fillRect/>
          </a:stretch>
        </p:blipFill>
        <p:spPr>
          <a:xfrm>
            <a:off x="914400" y="2560320"/>
            <a:ext cx="274320" cy="274320"/>
          </a:xfrm>
          <a:prstGeom prst="rect">
            <a:avLst/>
          </a:prstGeom>
        </p:spPr>
      </p:pic>
      <p:sp>
        <p:nvSpPr>
          <p:cNvPr id="6" name="Text 3"/>
          <p:cNvSpPr/>
          <p:nvPr/>
        </p:nvSpPr>
        <p:spPr>
          <a:xfrm>
            <a:off x="1371600" y="2514600"/>
            <a:ext cx="68580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Confidence Intervals — using sample means to estimate population parameters</a:t>
            </a:r>
            <a:endParaRPr lang="en-US" sz="1400" dirty="0"/>
          </a:p>
        </p:txBody>
      </p:sp>
      <p:pic>
        <p:nvPicPr>
          <p:cNvPr id="7" name="Image 1" descr="preencoded.png">    </p:cNvPr>
          <p:cNvPicPr>
            <a:picLocks noChangeAspect="1"/>
          </p:cNvPicPr>
          <p:nvPr/>
        </p:nvPicPr>
        <p:blipFill>
          <a:blip r:embed="rId2"/>
          <a:stretch>
            <a:fillRect/>
          </a:stretch>
        </p:blipFill>
        <p:spPr>
          <a:xfrm>
            <a:off x="914400" y="3063240"/>
            <a:ext cx="274320" cy="274320"/>
          </a:xfrm>
          <a:prstGeom prst="rect">
            <a:avLst/>
          </a:prstGeom>
        </p:spPr>
      </p:pic>
      <p:sp>
        <p:nvSpPr>
          <p:cNvPr id="8" name="Text 4"/>
          <p:cNvSpPr/>
          <p:nvPr/>
        </p:nvSpPr>
        <p:spPr>
          <a:xfrm>
            <a:off x="1371600" y="3017520"/>
            <a:ext cx="68580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Hypothesis Testing — deciding if sample evidence supports a claim</a:t>
            </a:r>
            <a:endParaRPr lang="en-US" sz="1400" dirty="0"/>
          </a:p>
        </p:txBody>
      </p:sp>
      <p:pic>
        <p:nvPicPr>
          <p:cNvPr id="9" name="Image 2" descr="preencoded.png">    </p:cNvPr>
          <p:cNvPicPr>
            <a:picLocks noChangeAspect="1"/>
          </p:cNvPicPr>
          <p:nvPr/>
        </p:nvPicPr>
        <p:blipFill>
          <a:blip r:embed="rId3"/>
          <a:stretch>
            <a:fillRect/>
          </a:stretch>
        </p:blipFill>
        <p:spPr>
          <a:xfrm>
            <a:off x="914400" y="3566160"/>
            <a:ext cx="274320" cy="274320"/>
          </a:xfrm>
          <a:prstGeom prst="rect">
            <a:avLst/>
          </a:prstGeom>
        </p:spPr>
      </p:pic>
      <p:sp>
        <p:nvSpPr>
          <p:cNvPr id="10" name="Text 5"/>
          <p:cNvSpPr/>
          <p:nvPr/>
        </p:nvSpPr>
        <p:spPr>
          <a:xfrm>
            <a:off x="1371600" y="3520440"/>
            <a:ext cx="68580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Both rely on normal distributions and the Central Limit Theorem</a:t>
            </a:r>
            <a:endParaRPr lang="en-US" sz="1400" dirty="0"/>
          </a:p>
        </p:txBody>
      </p:sp>
      <p:sp>
        <p:nvSpPr>
          <p:cNvPr id="11" name="Text 6"/>
          <p:cNvSpPr/>
          <p:nvPr/>
        </p:nvSpPr>
        <p:spPr>
          <a:xfrm>
            <a:off x="731520" y="4114800"/>
            <a:ext cx="7680960" cy="548640"/>
          </a:xfrm>
          <a:prstGeom prst="rect">
            <a:avLst/>
          </a:prstGeom>
          <a:noFill/>
          <a:ln/>
        </p:spPr>
        <p:txBody>
          <a:bodyPr wrap="square" lIns="0" tIns="0" rIns="0" bIns="0" rtlCol="0" anchor="ctr"/>
          <a:lstStyle/>
          <a:p>
            <a:pPr indent="0" marL="0">
              <a:buNone/>
            </a:pPr>
            <a:r>
              <a:rPr lang="en-US" sz="1400" i="1" dirty="0">
                <a:solidFill>
                  <a:srgbClr val="CADCFC"/>
                </a:solidFill>
                <a:latin typeface="Calibri" pitchFamily="34" charset="0"/>
                <a:ea typeface="Calibri" pitchFamily="34" charset="-122"/>
                <a:cs typeface="Calibri" pitchFamily="34" charset="-120"/>
              </a:rPr>
              <a:t>Make sure you're solid on z-scores, conversions, and σ/√n</a:t>
            </a:r>
            <a:endParaRPr lang="en-US" sz="1400" dirty="0"/>
          </a:p>
          <a:p>
            <a:pPr indent="0" marL="0">
              <a:buNone/>
            </a:pPr>
            <a:r>
              <a:rPr lang="en-US" sz="1400" i="1" dirty="0">
                <a:solidFill>
                  <a:srgbClr val="CADCFC"/>
                </a:solidFill>
                <a:latin typeface="Calibri" pitchFamily="34" charset="0"/>
                <a:ea typeface="Calibri" pitchFamily="34" charset="-122"/>
                <a:cs typeface="Calibri" pitchFamily="34" charset="-120"/>
              </a:rPr>
              <a:t>before moving on!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Normal Distributions &amp; the Central Limit Theorem — MA235</dc:title>
  <dc:subject>PptxGenJS Presentation</dc:subject>
  <dc:creator>Rhys</dc:creator>
  <cp:lastModifiedBy>Rhys</cp:lastModifiedBy>
  <cp:revision>1</cp:revision>
  <dcterms:created xsi:type="dcterms:W3CDTF">2026-03-04T01:33:50Z</dcterms:created>
  <dcterms:modified xsi:type="dcterms:W3CDTF">2026-03-04T01:33:50Z</dcterms:modified>
</cp:coreProperties>
</file>